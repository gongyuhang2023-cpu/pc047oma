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me first introduce the research background.</a:t>
            </a:r>
          </a:p>
          <a:p/>
          <a:p>
            <a:r>
              <a:t>H. pylori CagA protein is a recognized Class I carcinogen. After being injected into host cells via Type IV secretion system, it disrupts key signaling pathways like Wnt and NF-κB, while causing gut microbiota dysbiosis, ultimately promoting tumor development.</a:t>
            </a:r>
          </a:p>
          <a:p/>
          <a:p>
            <a:r>
              <a:t>Key literature supporting this mechanism is listed on the right. Notably, Jones et al. 2017 demonstrated in Drosophila that CagA expression alone is sufficient to induce dysbiosis and epithelial hyperproliferation.</a:t>
            </a:r>
          </a:p>
          <a:p/>
          <a:p>
            <a:r>
              <a:t>This leads to our central question: What maintains CD8+ T-cell activation after CagA clearance?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let me introduce Apc mutation and genetic susceptibility.</a:t>
            </a:r>
          </a:p>
          <a:p/>
          <a:p>
            <a:r>
              <a:t>The left panel shows the Apc-Wnt pathway. Normally, APC degrades β-catenin to maintain homeostasis. When Apc is mutated, β-catenin accumulates, leading to tumor development.</a:t>
            </a:r>
          </a:p>
          <a:p/>
          <a:p>
            <a:r>
              <a:t>The right panel shows our G×E hypothesis. Our analysis found that CagA effect is highly dependent on host genetics. In wild-type, CagA has no effect (P=0.387); but in Apc-mutant, CagA significantly restructures microbiota (P=0.039).</a:t>
            </a:r>
          </a:p>
          <a:p/>
          <a:p>
            <a:r>
              <a:t>We designed a 2×3 factorial experiment, with core comparison being CagA+ vs CagA- under Apc-mutant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our central hypothesis — the Functional Footprint hypothesis.</a:t>
            </a:r>
          </a:p>
          <a:p/>
          <a:p>
            <a:r>
              <a:t>The logical chain: Step 1, CagA infection restructures gut microbiota; Step 2, altered microbiota produces specific molecules; Step 3, these molecules persistently activate CD8+ T-cells; Step 4, ultimately promoting tumor development.</a:t>
            </a:r>
          </a:p>
          <a:p/>
          <a:p>
            <a:r>
              <a:t>This presentation covers the first half of hypothesis verification. We fully confirmed G×E interaction through 9 systematic pairwise comparisons, revealed Driver species shifts under functional redundancy, and phage coordination.</a:t>
            </a:r>
          </a:p>
          <a:p/>
          <a:p>
            <a:r>
              <a:t>The latter half requires subsequent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shows our analysis pipeline.</a:t>
            </a:r>
          </a:p>
          <a:p/>
          <a:p>
            <a:r>
              <a:t>From 27 cecum samples, we performed three major analyses:</a:t>
            </a:r>
          </a:p>
          <a:p/>
          <a:p>
            <a:r>
              <a:t>First, species composition analysis using Kraken2/Bracken, 5/9 pairwise comparisons FDR significant.</a:t>
            </a:r>
          </a:p>
          <a:p/>
          <a:p>
            <a:r>
              <a:t>Second, functional potential analysis using HUMAnN4, revealing functional redundancy.</a:t>
            </a:r>
          </a:p>
          <a:p/>
          <a:p>
            <a:r>
              <a:t>Third, OTU and phage analysis using SingleM/Lyrebird, finding strong association at P=0.001.</a:t>
            </a:r>
          </a:p>
          <a:p/>
          <a:p>
            <a:r>
              <a:t>Integration: CagA restructures bacteria via G×E, shows functional redundancy with Driver shift, and phage coordination.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First, the G×E interaction verification results.</a:t>
            </a:r>
          </a:p>
          <a:p/>
          <a:p>
            <a:r>
              <a:t>We performed 9 systematic pairwise comparisons to comprehensively evaluate different factor effects.</a:t>
            </a:r>
          </a:p>
          <a:p/>
          <a:p>
            <a:r>
              <a:t>Core finding: CagA effect is significant in ApcMUT background (P=0.039, explaining 33.6% variance), but absent in ApcWT background (P=0.387). This fully verifies the G×E interaction hypothesis.</a:t>
            </a:r>
          </a:p>
          <a:p/>
          <a:p>
            <a:r>
              <a:t>An unexpected finding: infection amplifies rather than masks the Apc effect. Apc effect was not significant before infection, but became significant after infection.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answers a key question: What does CagA actually affect?</a:t>
            </a:r>
          </a:p>
          <a:p/>
          <a:p>
            <a:r>
              <a:t>We performed 9 pairwise comparisons for both bacteria and virus data.</a:t>
            </a:r>
          </a:p>
          <a:p/>
          <a:p>
            <a:r>
              <a:t>Left shows Standard bacteria results: 5/9 FDR significant, especially the core CagA effect in ApcMUT background is highly significant (P=0.039), fully verifying G×E interaction.</a:t>
            </a:r>
          </a:p>
          <a:p/>
          <a:p>
            <a:r>
              <a:t>Right shows Virus results: 0/9 FDR significant, including the core CagA comparison.</a:t>
            </a:r>
          </a:p>
          <a:p/>
          <a:p>
            <a:r>
              <a:t>This indicates CagA reshapes gut environment mainly through bacteria, not directly via viruses.</a:t>
            </a:r>
          </a:p>
          <a:p/>
          <a:p>
            <a:r>
              <a:t>This sets up our later discussion of bacteria-phage coordination: although CagA doesn't directly affect viruses, bacterial changes drive phage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Third core result is functional redundancy and Silent Shift.</a:t>
            </a:r>
          </a:p>
          <a:p/>
          <a:p>
            <a:r>
              <a:t>Overall interaction shows functional redundancy: species P=0.024 significant, function P=0.223 not significant.</a:t>
            </a:r>
          </a:p>
          <a:p/>
          <a:p>
            <a:r>
              <a:t>But core CagA comparison shows species-function consistency: both species P=0.039 and function P=0.041 are significant. This indicates functional redundancy is scale-dependent.</a:t>
            </a:r>
          </a:p>
          <a:p/>
          <a:p>
            <a:r>
              <a:t>Stratified analysis reveals "Silent Shift": total function unchanged, but executors have changed. Probiotic L. johnsonii decreased 50%, inflammation-associated M. schaedleri increased 57%.</a:t>
            </a:r>
          </a:p>
          <a:p/>
          <a:p>
            <a:r>
              <a:t>Drivers shifted from probiotics to pathobionts, possibly explaining persistent immune stimulation.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Fourth finding is bacteria-phage coordination.</a:t>
            </a:r>
          </a:p>
          <a:p/>
          <a:p>
            <a:r>
              <a:t>Although CagA doesn't directly affect viruses (as shown in previous slide), bacterial changes drive phage changes.</a:t>
            </a:r>
          </a:p>
          <a:p/>
          <a:p>
            <a:r>
              <a:t>Phage diversity significantly decreased (P=0.032), bacteria and phage communities highly coordinated (Mantel P=0.001, Procrustes P=0.002).</a:t>
            </a:r>
          </a:p>
          <a:p/>
          <a:p>
            <a:r>
              <a:t>Tripartite network contains 17,848 edges, with bacteria-phage being the strongest.</a:t>
            </a:r>
          </a:p>
          <a:p/>
          <a:p>
            <a:r>
              <a:t>This shows CagA's effect cascades: CagA changes bacteria, bacteria change phage. This echoes our previous finding — CagA mainly affects bacteria, but indirectly influences the entire microbiome through the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Finally, core conclusions.</a:t>
            </a:r>
          </a:p>
          <a:p/>
          <a:p>
            <a:r>
              <a:t>First, G×E interaction fully verified through 9 systematic comparisons.</a:t>
            </a:r>
          </a:p>
          <a:p/>
          <a:p>
            <a:r>
              <a:t>Second, clarified CagA target: mainly bacteria, not viruses.</a:t>
            </a:r>
          </a:p>
          <a:p/>
          <a:p>
            <a:r>
              <a:t>Third, functional redundancy and Silent Shift: overall function stable, but drivers shifted from probiotics to pathobionts.</a:t>
            </a:r>
          </a:p>
          <a:p/>
          <a:p>
            <a:r>
              <a:t>Fourth, bacteria-phage highly coordinated, CagA influences entire microbiome through cascade effect.</a:t>
            </a:r>
          </a:p>
          <a:p/>
          <a:p>
            <a:r>
              <a:t>Next steps: metabolomics validation and integration with tumor/T-cell phenotype data.</a:t>
            </a:r>
          </a:p>
          <a:p/>
          <a:p>
            <a:r>
              <a:t>Thank you for your attention!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CagA-Dependent Gut Microbiome Restructuring</a:t>
            </a:r>
            <a:br/>
            <a:r>
              <a:t>and Functional Redundancy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D47A1"/>
                </a:solidFill>
              </a:defRPr>
            </a:pPr>
            <a:r>
              <a:t>PC047 vCagAepitope Microbiome Analysis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2026-01-26</a:t>
            </a:r>
            <a:br/>
            <a:r>
              <a:t>Presenter: Yuhang Gong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Background: CagA and Intestinal Tumors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H. pylori CagA Pathogenesis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BBDEF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H. pylori</a:t>
            </a:r>
            <a:br/>
            <a:r>
              <a:t>Infection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55448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BBDEF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CagA Injection</a:t>
            </a:r>
            <a:br/>
            <a:r>
              <a:t>into Host Cell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Disrupt Wnt/</a:t>
            </a:r>
            <a:br/>
            <a:r>
              <a:t>NF-κB Pathways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228600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Gut Microbiota</a:t>
            </a:r>
            <a:br/>
            <a:r>
              <a:t>Dysbiosis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310896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</a:defRPr>
            </a:pPr>
            <a:r>
              <a:t>Tumor Promotion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48840" y="1691640"/>
            <a:ext cx="182880" cy="13716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1280160" y="205740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3200400" y="205740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1280160" y="288036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3200400" y="288036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Key Literature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5544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65C0"/>
                </a:solidFill>
              </a:defRPr>
            </a:pPr>
            <a:r>
              <a:t>• Jones et al. 2017, PLoS Pathog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82880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Drosophila: CagA alone induces</a:t>
            </a:r>
            <a:br/>
            <a:r>
              <a:t>dysbiosis and epithelial proliferation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3317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65C0"/>
                </a:solidFill>
              </a:defRPr>
            </a:pPr>
            <a:r>
              <a:t>• Cui et al. 2025, BMC Gastro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606039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Clinical: CagA+ strains affect</a:t>
            </a:r>
            <a:br/>
            <a:r>
              <a:t>colorectal lesions via gut microbiota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10896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65C0"/>
                </a:solidFill>
              </a:defRPr>
            </a:pPr>
            <a:r>
              <a:t>• Ding et al. 2025, Cell Host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383279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Phage can eliminate tumor-</a:t>
            </a:r>
            <a:br/>
            <a:r>
              <a:t>promoting bacteria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840480"/>
            <a:ext cx="8229600" cy="7315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39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Central Question: What maintains CD8+ T-cell activation after CagA clearance?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Background: Apc Mutation and Genetic Susceptibility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Apc Mutation → Constitutive Wnt Activation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CAF50"/>
                </a:solidFill>
              </a:defRPr>
            </a:pPr>
            <a:r>
              <a:t>Normal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APC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417320" y="182880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37360" y="173736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β-catenin</a:t>
            </a:r>
            <a:br/>
            <a:r>
              <a:t>Degradation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80360" y="182880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173736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Homeostasis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53935"/>
                </a:solidFill>
              </a:defRPr>
            </a:pPr>
            <a:r>
              <a:t>Apc Mutant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6032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APC ✗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417320" y="265176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37360" y="256032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β-catenin</a:t>
            </a:r>
            <a:br/>
            <a:r>
              <a:t>Accumulation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880360" y="265176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00400" y="256032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Tumor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G×E Interaction Hypothesis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14630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ApcWT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4630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ApcMUT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8288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CagA-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560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CagA+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178308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Normal</a:t>
            </a:r>
            <a:br/>
            <a:r>
              <a:t>Microbiota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0" y="178308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</a:defRPr>
            </a:pPr>
            <a:r>
              <a:t>Mild</a:t>
            </a:r>
            <a:br/>
            <a:r>
              <a:t>Dysbiosis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251460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</a:defRPr>
            </a:pPr>
            <a:r>
              <a:t>No Effect</a:t>
            </a:r>
            <a:br/>
            <a:r>
              <a:t>P=0.387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251460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Significant</a:t>
            </a:r>
            <a:br/>
            <a:r>
              <a:t>P=0.039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2004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47A1"/>
                </a:solidFill>
              </a:defRPr>
            </a:pPr>
            <a:r>
              <a:t>→ CagA effect requires Apc-mutant susceptible background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32004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Experimental Design: 2×3 Factorial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56616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BBDEF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</a:defRPr>
            </a:pPr>
            <a:r>
              <a:t>ApcWT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11680" y="356616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</a:defRPr>
            </a:pPr>
            <a:r>
              <a:t>ApcMUT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023360"/>
            <a:ext cx="1097280" cy="3200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Ctrl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737360" y="4023360"/>
            <a:ext cx="1097280" cy="3200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HpKO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17520" y="4023360"/>
            <a:ext cx="1097280" cy="3200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HpWT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60320" y="4434840"/>
            <a:ext cx="1554480" cy="32004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0" y="4453128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Core Comparison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Central Hypothesis: Functional Footprint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80160"/>
            <a:ext cx="365760" cy="365760"/>
          </a:xfrm>
          <a:prstGeom prst="ellipse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65C0"/>
                </a:solidFill>
              </a:defRPr>
            </a:pPr>
            <a:r>
              <a:t>CagA Infection</a:t>
            </a:r>
            <a:br/>
            <a:r>
              <a:t>Restructures Microbiota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48840" y="1965960"/>
            <a:ext cx="640080" cy="22860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468880" y="1280160"/>
            <a:ext cx="365760" cy="3657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9688"/>
                </a:solidFill>
              </a:defRPr>
            </a:pPr>
            <a:r>
              <a:t>Microbiota Produces</a:t>
            </a:r>
            <a:br/>
            <a:r>
              <a:t>Specific Molecules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60520" y="1965960"/>
            <a:ext cx="640080" cy="22860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0560" y="1280160"/>
            <a:ext cx="365760" cy="36576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9800"/>
                </a:solidFill>
              </a:defRPr>
            </a:pPr>
            <a:r>
              <a:t>Persistent CD8+</a:t>
            </a:r>
            <a:br/>
            <a:r>
              <a:t>T-cell Activation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172200" y="1965960"/>
            <a:ext cx="640080" cy="22860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92240" y="1280160"/>
            <a:ext cx="365760" cy="36576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53935"/>
                </a:solidFill>
              </a:defRPr>
            </a:pPr>
            <a:r>
              <a:t>Tumor</a:t>
            </a:r>
            <a:br/>
            <a:r>
              <a:t>Promotion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Scope of This Study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017520"/>
            <a:ext cx="3840480" cy="13716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10896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CAF50"/>
                </a:solidFill>
              </a:defRPr>
            </a:pPr>
            <a:r>
              <a:t>✓ Verified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3832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• Microbiota restructured (P=0.012)</a:t>
            </a:r>
            <a:br/>
            <a:r>
              <a:t>• G×E interaction confirmed (9/9 verified)</a:t>
            </a:r>
            <a:br/>
            <a:r>
              <a:t>• Functional redundancy &amp; Driver shift</a:t>
            </a:r>
            <a:br/>
            <a:r>
              <a:t>• Phage coordination (P=0.001)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017520"/>
            <a:ext cx="4114800" cy="13716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310896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9800"/>
                </a:solidFill>
              </a:defRPr>
            </a:pPr>
            <a:r>
              <a:t>○ Pending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38328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• Metabolomics: Specific metabolite ID</a:t>
            </a:r>
            <a:br/>
            <a:r>
              <a:t>• Transcriptomics: Gene expression validation</a:t>
            </a:r>
            <a:br/>
            <a:r>
              <a:t>• Integration with tumor/T-cell phenotypes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Analysis Pipeline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18872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1465C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Cecum Samples (n=27)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2743200" cy="411480"/>
          </a:xfrm>
          <a:prstGeom prst="round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87451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01 Species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286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333333"/>
                </a:solidFill>
              </a:defRPr>
            </a:pPr>
            <a:r>
              <a:t>Kraken2/Bracken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219456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14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Community</a:t>
            </a:r>
            <a:br/>
            <a:r>
              <a:t>G×E Interaction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3383280"/>
            <a:ext cx="1645920" cy="365760"/>
          </a:xfrm>
          <a:prstGeom prst="round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5/9 Sig.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828800"/>
            <a:ext cx="2743200" cy="4114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87451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02 Functional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286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333333"/>
                </a:solidFill>
              </a:defRPr>
            </a:pPr>
            <a:r>
              <a:t>HUMAnN4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2651760"/>
            <a:ext cx="219456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6974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Pathways</a:t>
            </a:r>
            <a:br/>
            <a:r>
              <a:t>Driver Shift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3383280"/>
            <a:ext cx="1645920" cy="3657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Redundancy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828800"/>
            <a:ext cx="2743200" cy="41148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87451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03 OTU/Phage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286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333333"/>
                </a:solidFill>
              </a:defRPr>
            </a:pPr>
            <a:r>
              <a:t>SingleM/Lyrebird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651760"/>
            <a:ext cx="219456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6974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Phylogeny</a:t>
            </a:r>
            <a:br/>
            <a:r>
              <a:t>Bacteria-Phage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3383280"/>
            <a:ext cx="1645920" cy="36576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P=0.001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4297680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5669279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own Arrow 27"/>
          <p:cNvSpPr/>
          <p:nvPr/>
        </p:nvSpPr>
        <p:spPr>
          <a:xfrm>
            <a:off x="7223760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own Arrow 28"/>
          <p:cNvSpPr/>
          <p:nvPr/>
        </p:nvSpPr>
        <p:spPr>
          <a:xfrm>
            <a:off x="8595360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" y="3931920"/>
            <a:ext cx="8229600" cy="82296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023360"/>
            <a:ext cx="7863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Integration: CagA restructures bacteria via G×E → Functional redundancy with Driver shift → Phage coordination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 1: G×E Interaction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9 systematic pairwise comparisons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CagA@ApcMUT: </a:t>
            </a:r>
            <a:r>
              <a:rPr sz="1800" b="1">
                <a:solidFill>
                  <a:srgbClr val="4CAF50"/>
                </a:solidFill>
              </a:rPr>
              <a:t>P=0.039</a:t>
            </a:r>
            <a:r>
              <a:rPr sz="1800">
                <a:solidFill>
                  <a:srgbClr val="333333"/>
                </a:solidFill>
              </a:rPr>
              <a:t>, R²=33.6%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CagA@ApcWT: P=0.387, effect absent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G×E interaction </a:t>
            </a:r>
            <a:r>
              <a:rPr sz="1800" b="1">
                <a:solidFill>
                  <a:srgbClr val="4CAF50"/>
                </a:solidFill>
              </a:rPr>
              <a:t>fully verified</a:t>
            </a:r>
            <a:r>
              <a:rPr sz="18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Unexpected: Infection </a:t>
            </a:r>
            <a:r>
              <a:rPr sz="1800" b="1">
                <a:solidFill>
                  <a:srgbClr val="4CAF50"/>
                </a:solidFill>
              </a:rPr>
              <a:t>amplifies</a:t>
            </a:r>
            <a:r>
              <a:rPr sz="1800">
                <a:solidFill>
                  <a:srgbClr val="333333"/>
                </a:solidFill>
              </a:rPr>
              <a:t> Apc effect</a:t>
            </a:r>
          </a:p>
        </p:txBody>
      </p:sp>
      <p:pic>
        <p:nvPicPr>
          <p:cNvPr id="5" name="Picture 4" descr="52_part5_caga_effect_by_geno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1965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 2: CagA Targets Bacteria, Not Viruses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0D47A1"/>
                </a:solidFill>
              </a:defRPr>
            </a:pPr>
            <a:r>
              <a:t>Q: What does CagA reshape? Bacteria or Viruses?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65C0"/>
                </a:solidFill>
              </a:defRPr>
            </a:pPr>
            <a:r>
              <a:t>Standard (Bacteria)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3657600" cy="18288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4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9 Pairwise Comparisons: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FDR Significant: 5/9 (55.6%)</a:t>
            </a:r>
          </a:p>
          <a:p>
            <a:pPr>
              <a:defRPr sz="1200" b="1">
                <a:solidFill>
                  <a:srgbClr val="4CAF50"/>
                </a:solidFill>
              </a:defRPr>
            </a:pPr>
            <a:r>
              <a:t>• CagA@ApcMUT: P=0.039 ⭐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CagA@ApcWT: P=0.387</a:t>
            </a:r>
          </a:p>
          <a:p>
            <a:pPr>
              <a:defRPr sz="1200" b="1">
                <a:solidFill>
                  <a:srgbClr val="1465C0"/>
                </a:solidFill>
              </a:defRPr>
            </a:pPr>
            <a:r>
              <a:t>→ G×E Fully Verified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737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B1FA2"/>
                </a:solidFill>
              </a:defRPr>
            </a:pPr>
            <a:r>
              <a:t>Virus (Viruses)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2103120"/>
            <a:ext cx="3657600" cy="182880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21945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9 Pairwise Comparisons: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FDR Significant: 0/9 (0%)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CagA@ApcMUT: P=0.604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CagA@ApcWT: P=0.978</a:t>
            </a:r>
          </a:p>
          <a:p>
            <a:pPr>
              <a:defRPr sz="1200" b="1">
                <a:solidFill>
                  <a:srgbClr val="7B1FA2"/>
                </a:solidFill>
              </a:defRPr>
            </a:pPr>
            <a:r>
              <a:t>→ No Significant Effect</a:t>
            </a:r>
          </a:p>
        </p:txBody>
      </p:sp>
      <p:sp>
        <p:nvSpPr>
          <p:cNvPr id="11" name="Oval 10"/>
          <p:cNvSpPr/>
          <p:nvPr/>
        </p:nvSpPr>
        <p:spPr>
          <a:xfrm>
            <a:off x="4160520" y="2743200"/>
            <a:ext cx="640080" cy="64008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288036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8229600" cy="64008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Conclusion: CagA reshapes gut environment mainly via bacteria, not directly via viruses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 3: Functional Redundancy &amp; Silent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Overall: Species P=0.024 vs Function P=0.223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</a:t>
            </a:r>
            <a:r>
              <a:rPr sz="1800" b="1">
                <a:solidFill>
                  <a:srgbClr val="4CAF50"/>
                </a:solidFill>
              </a:rPr>
              <a:t>But</a:t>
            </a:r>
            <a:r>
              <a:rPr sz="1800">
                <a:solidFill>
                  <a:srgbClr val="333333"/>
                </a:solidFill>
              </a:rPr>
              <a:t> core comparison: Species P=0.039, Function </a:t>
            </a:r>
            <a:r>
              <a:rPr sz="1800" b="1">
                <a:solidFill>
                  <a:srgbClr val="4CAF50"/>
                </a:solidFill>
              </a:rPr>
              <a:t>P=0.041</a:t>
            </a:r>
            <a:r>
              <a:rPr sz="18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→ Scale-dependent: Overall redundant, locally consistent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</a:t>
            </a:r>
            <a:r>
              <a:rPr sz="1800" b="1">
                <a:solidFill>
                  <a:srgbClr val="4CAF50"/>
                </a:solidFill>
              </a:rPr>
              <a:t>Silent Shift</a:t>
            </a:r>
            <a:r>
              <a:rPr sz="1800">
                <a:solidFill>
                  <a:srgbClr val="333333"/>
                </a:solidFill>
              </a:rPr>
              <a:t>: Probiotics↓ Pathobionts↑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*L. johnsonii* -50%, *M. schaedleri* +57%</a:t>
            </a:r>
          </a:p>
        </p:txBody>
      </p:sp>
      <p:pic>
        <p:nvPicPr>
          <p:cNvPr id="5" name="Picture 4" descr="91_part9_driver_species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2808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 4: Bacteria-Phage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Phage diversity </a:t>
            </a:r>
            <a:r>
              <a:rPr sz="1800" b="1">
                <a:solidFill>
                  <a:srgbClr val="4CAF50"/>
                </a:solidFill>
              </a:rPr>
              <a:t>significantly decreased</a:t>
            </a:r>
            <a:r>
              <a:rPr sz="1800">
                <a:solidFill>
                  <a:srgbClr val="333333"/>
                </a:solidFill>
              </a:rPr>
              <a:t> (P=0.032)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Bacteria-phage </a:t>
            </a:r>
            <a:r>
              <a:rPr sz="1800" b="1">
                <a:solidFill>
                  <a:srgbClr val="4CAF50"/>
                </a:solidFill>
              </a:rPr>
              <a:t>highly coordinated</a:t>
            </a:r>
            <a:r>
              <a:rPr sz="1800">
                <a:solidFill>
                  <a:srgbClr val="333333"/>
                </a:solidFill>
              </a:rPr>
              <a:t>: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  - Mantel r=0.52, </a:t>
            </a:r>
            <a:r>
              <a:rPr sz="1800" b="1">
                <a:solidFill>
                  <a:srgbClr val="4CAF50"/>
                </a:solidFill>
              </a:rPr>
              <a:t>P=0.001</a:t>
            </a:r>
            <a:r>
              <a:rPr sz="18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  - Procrustes </a:t>
            </a:r>
            <a:r>
              <a:rPr sz="1800" b="1">
                <a:solidFill>
                  <a:srgbClr val="4CAF50"/>
                </a:solidFill>
              </a:rPr>
              <a:t>P=0.002</a:t>
            </a:r>
            <a:r>
              <a:rPr sz="18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Tripartite network: </a:t>
            </a:r>
            <a:r>
              <a:rPr sz="1800" b="1">
                <a:solidFill>
                  <a:srgbClr val="4CAF50"/>
                </a:solidFill>
              </a:rPr>
              <a:t>17,848 edges</a:t>
            </a:r>
            <a:r>
              <a:rPr sz="18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Echo: CagA→Bacteria→Phage cascade</a:t>
            </a:r>
          </a:p>
        </p:txBody>
      </p:sp>
      <p:pic>
        <p:nvPicPr>
          <p:cNvPr id="5" name="Picture 4" descr="06_tripartite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33702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Conclusions &amp; Future Directions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G×E interaction: CagA effect requires Apc-mutant background (9 comparisons verified)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05740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5740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CagA target: Mainly bacteria (5/9 sig.) not viruses (0/9 sig.)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834639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88035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34639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Functional redundancy &amp; Silent Shift: Overall redundant but Drivers shifted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611879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5759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79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Phage coordination: CagA→Bacteria→Phage cascade (P=0.001)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438912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4348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38912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Next: Metabolomics validation + Tumor/T-cell phenotype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