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首先介绍一下研究背景。</a:t>
            </a:r>
          </a:p>
          <a:p/>
          <a:p>
            <a:r>
              <a:t>幽门螺杆菌的CagA蛋白是公认的I类致癌因子。它通过IV型分泌系统注入宿主细胞后，可以干扰Wnt和NF-κB等关键信号通路，同时导致肠道菌群失调，最终促进肿瘤发生。</a:t>
            </a:r>
          </a:p>
          <a:p/>
          <a:p>
            <a:r>
              <a:t>右侧列出了支持这一机制的关键文献。特别是Jones等人2017年的研究，在果蝇模型中证明CagA单独表达就足以诱导菌群失调和上皮过度增殖。</a:t>
            </a:r>
          </a:p>
          <a:p/>
          <a:p>
            <a:r>
              <a:t>这就引出了我们的核心科学问题：在CagA抗原清除后，肠道内是什么因素维持着CD8+ T细胞的持续激活？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接下来介绍Apc突变与遗传易感性。</a:t>
            </a:r>
          </a:p>
          <a:p/>
          <a:p>
            <a:r>
              <a:t>左侧展示了Apc-Wnt通路的关系。正常情况下，APC蛋白负责降解β-catenin，维持肠道稳态。当Apc发生突变时，β-catenin持续累积，最终导致肿瘤发生。</a:t>
            </a:r>
          </a:p>
          <a:p/>
          <a:p>
            <a:r>
              <a:t>右侧是我们的G×E交互作用假说。我们的分析发现：CagA感染的效应高度依赖宿主遗传背景。在野生型背景下，CagA几乎无效应（P=0.387）；但在Apc突变背景下，CagA显著重塑肠道菌群（P=0.039）。</a:t>
            </a:r>
          </a:p>
          <a:p/>
          <a:p>
            <a:r>
              <a:t>因此我们设计了2×3因子实验，核心比较是Apc突变背景下CagA阳性和CagA阴性感染组。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这是我们的核心假说——Functional Footprint假说。</a:t>
            </a:r>
          </a:p>
          <a:p/>
          <a:p>
            <a:r>
              <a:t>假说的逻辑链条是：第一步，CagA感染重塑肠道菌群；第二步，改变后的菌群产生特异性分子；第三步，这些分子持续激活CD8+ T细胞；第四步，最终促进肿瘤发生。</a:t>
            </a:r>
          </a:p>
          <a:p/>
          <a:p>
            <a:r>
              <a:t>本次汇报涵盖的是假说的前半部分验证。我们通过9个系统性成对比较完全确认了G×E交互作用，发现功能冗余下的Driver物种更替，以及噬菌体的协同变化。</a:t>
            </a:r>
          </a:p>
          <a:p/>
          <a:p>
            <a:r>
              <a:t>假说的后半部分——代谢物鉴定和与肿瘤/T细胞表型的关联——需要后续验证。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这张幻灯片展示了我们的分析流程。</a:t>
            </a:r>
          </a:p>
          <a:p/>
          <a:p>
            <a:r>
              <a:t>从27个盲肠样本出发，我们进行了三大类分析：</a:t>
            </a:r>
          </a:p>
          <a:p/>
          <a:p>
            <a:r>
              <a:t>第一，物种组成分析，使用Kraken2和Bracken，9个成对比较中5个FDR显著。</a:t>
            </a:r>
          </a:p>
          <a:p/>
          <a:p>
            <a:r>
              <a:t>第二，功能潜力分析，使用HUMAnN4，发现功能冗余现象。</a:t>
            </a:r>
          </a:p>
          <a:p/>
          <a:p>
            <a:r>
              <a:t>第三，OTU和噬菌体分析，使用SingleM和Lyrebird，发现P=0.001的强关联。</a:t>
            </a:r>
          </a:p>
          <a:p/>
          <a:p>
            <a:r>
              <a:t>整合结论：CagA通过G×E交互重塑细菌菌群，功能表现冗余但Driver物种发生更替，噬菌体协同变化。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首先展示G×E交互作用的验证结果。</a:t>
            </a:r>
          </a:p>
          <a:p/>
          <a:p>
            <a:r>
              <a:t>我们进行了9个系统性成对比较，全面评估不同因素的效应。</a:t>
            </a:r>
          </a:p>
          <a:p/>
          <a:p>
            <a:r>
              <a:t>核心发现：CagA效应在ApcMUT背景下显著（P=0.039，解释33.6%变异），而在ApcWT背景下效应消失（P=0.387）。这完全验证了G×E交互作用假说。</a:t>
            </a:r>
          </a:p>
          <a:p/>
          <a:p>
            <a:r>
              <a:t>一个意外发现是：感染不是"抹平"而是"放大"了Apc效应。未感染时Apc效应不显著，感染后Apc效应变得显著。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这页回答一个关键问题：CagA到底影响的是什么？</a:t>
            </a:r>
          </a:p>
          <a:p/>
          <a:p>
            <a:r>
              <a:t>我们对细菌和病毒数据分别进行了9个成对比较分析。</a:t>
            </a:r>
          </a:p>
          <a:p/>
          <a:p>
            <a:r>
              <a:t>左侧是Standard细菌的结果：9个比较中5个FDR显著，特别是核心的CagA效应在ApcMUT背景下高度显著（P=0.039），完全验证了G×E交互作用。</a:t>
            </a:r>
          </a:p>
          <a:p/>
          <a:p>
            <a:r>
              <a:t>右侧是Virus病毒的结果：9个比较中0个FDR显著，包括核心CagA比较都不显著。</a:t>
            </a:r>
          </a:p>
          <a:p/>
          <a:p>
            <a:r>
              <a:t>这说明CagA主要通过重塑细菌群落来影响肠道微环境，而不是直接作用于病毒组。</a:t>
            </a:r>
          </a:p>
          <a:p/>
          <a:p>
            <a:r>
              <a:t>这为后面我们讨论细菌-噬菌体协同变化做了铺垫：虽然CagA不直接影响病毒，但细菌的变化会带动噬菌体的改变。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第三个核心结果是功能冗余与静默更替。</a:t>
            </a:r>
          </a:p>
          <a:p/>
          <a:p>
            <a:r>
              <a:t>整体交互显示功能冗余：物种交互P=0.024显著，功能交互P=0.223不显著。</a:t>
            </a:r>
          </a:p>
          <a:p/>
          <a:p>
            <a:r>
              <a:t>但核心CagA比较显示物种-功能一致：物种P=0.039，功能P=0.041，都显著。这说明功能冗余是尺度依赖的——整体看冗余，特定比较看一致。</a:t>
            </a:r>
          </a:p>
          <a:p/>
          <a:p>
            <a:r>
              <a:t>分层分析揭示"静默更替"：功能总量不变，但执行者已换。益生菌L. johnsonii下降50%，炎症相关菌M. schaedleri上升57%。</a:t>
            </a:r>
          </a:p>
          <a:p/>
          <a:p>
            <a:r>
              <a:t>执行者从益生菌转向致病菌，这可能解释持续的免疫刺激。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第四个发现是细菌-噬菌体协同变化。</a:t>
            </a:r>
          </a:p>
          <a:p/>
          <a:p>
            <a:r>
              <a:t>虽然CagA不直接影响病毒组（上一页已展示），但细菌的变化带动了噬菌体的改变。</a:t>
            </a:r>
          </a:p>
          <a:p/>
          <a:p>
            <a:r>
              <a:t>噬菌体多样性显著降低（P=0.032），细菌和噬菌体群落高度协同（Mantel P=0.001, Procrustes P=0.002）。</a:t>
            </a:r>
          </a:p>
          <a:p/>
          <a:p>
            <a:r>
              <a:t>三角互作网络共17,848条边，细菌-噬菌体关联最强。</a:t>
            </a:r>
          </a:p>
          <a:p/>
          <a:p>
            <a:r>
              <a:t>这说明CagA的效应通过级联传递：CagA改变细菌，细菌改变噬菌体。这呼应了我们前面的发现——CagA主要作用于细菌，但通过网络间接影响整个微生物组。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最后总结核心结论。</a:t>
            </a:r>
          </a:p>
          <a:p/>
          <a:p>
            <a:r>
              <a:t>第一，G×E交互作用通过9个系统性成对比较完全验证。</a:t>
            </a:r>
          </a:p>
          <a:p/>
          <a:p>
            <a:r>
              <a:t>第二，明确了CagA的作用靶点：主要影响细菌而非病毒。</a:t>
            </a:r>
          </a:p>
          <a:p/>
          <a:p>
            <a:r>
              <a:t>第三，功能冗余与静默更替：整体功能稳定，但执行者已从益生菌转向致病菌。</a:t>
            </a:r>
          </a:p>
          <a:p/>
          <a:p>
            <a:r>
              <a:t>第四，细菌-噬菌体高度协同，CagA通过级联效应影响整个微生物组。</a:t>
            </a:r>
          </a:p>
          <a:p/>
          <a:p>
            <a:r>
              <a:t>后续计划：代谢组学验证和整合肿瘤/T细胞表型数据。</a:t>
            </a:r>
          </a:p>
          <a:p/>
          <a:p>
            <a:r>
              <a:t>感谢大家聆听！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CagA依赖性肠道微生物组重塑</a:t>
            </a:r>
            <a:br/>
            <a:r>
              <a:t>及其功能冗余特征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D47A1"/>
                </a:solidFill>
              </a:defRPr>
            </a:pPr>
            <a:r>
              <a:t>PC047 vCagAepitope 微生物组分析进展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2026-01-26</a:t>
            </a:r>
            <a:br/>
            <a:r>
              <a:t>汇报人：龚宇航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研究背景：CagA与肠道肿瘤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H. pylori CagA 致病机制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H. pylori</a:t>
            </a:r>
            <a:br/>
            <a:r>
              <a:t>感染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CagA蛋白</a:t>
            </a:r>
            <a:br/>
            <a:r>
              <a:t>注入宿主细胞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干扰Wnt/NF-κB</a:t>
            </a:r>
            <a:br/>
            <a:r>
              <a:t>信号通路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肠道菌群</a:t>
            </a:r>
            <a:br/>
            <a:r>
              <a:t>失调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1089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t>促进肿瘤发生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48840" y="1691640"/>
            <a:ext cx="182880" cy="13716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28016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320040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128016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320040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关键文献支持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554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Jones et al. 2017, PLoS Pathog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8288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果蝇模型：CagA单独表达即可</a:t>
            </a:r>
            <a:br/>
            <a:r>
              <a:t>诱导菌群失调和上皮过度增殖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317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Cui et al. 2025, BMC Gastro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0603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临床研究：CagA+菌株通过</a:t>
            </a:r>
            <a:br/>
            <a:r>
              <a:t>调节肠道菌群影响结直肠病变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089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Ding et al. 2025, Cell Host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8327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噬菌体可靶向清除促肿瘤</a:t>
            </a:r>
            <a:br/>
            <a:r>
              <a:t>细菌并恢复化疗敏感性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822960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3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核心问题：CagA抗原清除后，肠道内什么因素维持CD8+ T细胞的持续激活？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研究背景：Apc突变与遗传易感性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Apc突变 → Wnt通路持续激活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</a:defRPr>
            </a:pPr>
            <a:r>
              <a:t>正常状态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1732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37360" y="173736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降解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8036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稳态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53935"/>
                </a:solidFill>
              </a:defRPr>
            </a:pPr>
            <a:r>
              <a:t>Apc突变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 ✗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41732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37360" y="256032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累积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8036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肿瘤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G×E 交互作用假说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60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正常</a:t>
            </a:r>
            <a:br/>
            <a:r>
              <a:t>菌群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轻度</a:t>
            </a:r>
            <a:br/>
            <a:r>
              <a:t>失调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无效应</a:t>
            </a:r>
            <a:br/>
            <a:r>
              <a:t>P=0.387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显著重塑</a:t>
            </a:r>
            <a:br/>
            <a:r>
              <a:t>P=0.039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200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47A1"/>
                </a:solidFill>
              </a:defRPr>
            </a:pPr>
            <a:r>
              <a:t>→ CagA效应需要Apc突变的易感背景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200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实验设计：2×3因子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Ctrl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3736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HpKO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HpWT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4434840"/>
            <a:ext cx="1554480" cy="32004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445312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核心比较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核心假说：Functional Footprint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65C0"/>
                </a:solidFill>
              </a:defRPr>
            </a:pPr>
            <a:r>
              <a:t>CagA感染</a:t>
            </a:r>
            <a:br/>
            <a:r>
              <a:t>重塑菌群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80" y="1280160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9688"/>
                </a:solidFill>
              </a:defRPr>
            </a:pPr>
            <a:r>
              <a:t>菌群产生</a:t>
            </a:r>
            <a:br/>
            <a:r>
              <a:t>特异性分子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1280160"/>
            <a:ext cx="365760" cy="3657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9800"/>
                </a:solidFill>
              </a:defRPr>
            </a:pPr>
            <a:r>
              <a:t>持续激活</a:t>
            </a:r>
            <a:br/>
            <a:r>
              <a:t>CD8+ T细胞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7220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280160"/>
            <a:ext cx="365760" cy="36576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53935"/>
                </a:solidFill>
              </a:defRPr>
            </a:pPr>
            <a:r>
              <a:t>促进</a:t>
            </a:r>
            <a:br/>
            <a:r>
              <a:t>肿瘤发生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本研究验证范围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17520"/>
            <a:ext cx="384048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089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AF50"/>
                </a:solidFill>
              </a:defRPr>
            </a:pPr>
            <a:r>
              <a:t>✓ 已验证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菌群结构显著重塑 (P=0.012)</a:t>
            </a:r>
            <a:br/>
            <a:r>
              <a:t>• G×E交互作用确认 (9/9验证)</a:t>
            </a:r>
            <a:br/>
            <a:r>
              <a:t>• 功能冗余与Driver更替</a:t>
            </a:r>
            <a:br/>
            <a:r>
              <a:t>• 噬菌体协同变化 (P=0.001)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017520"/>
            <a:ext cx="4114800" cy="13716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10896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○ 待验证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3832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代谢组学：特定代谢物鉴定</a:t>
            </a:r>
            <a:br/>
            <a:r>
              <a:t>• 转录组学：功能基因表达验证</a:t>
            </a:r>
            <a:br/>
            <a:r>
              <a:t>• 整合肿瘤/T细胞表型数据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分析流程概览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1887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1465C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盲肠样本 (n=27)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743200" cy="41148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 物种组成分析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Kraken2/Bracken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14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群落结构</a:t>
            </a:r>
            <a:br/>
            <a:r>
              <a:t>G×E交互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3383280"/>
            <a:ext cx="1645920" cy="36576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5/9显著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828800"/>
            <a:ext cx="274320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 功能潜力分析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HUMAnN4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代谢通路</a:t>
            </a:r>
            <a:br/>
            <a:r>
              <a:t>Driver更替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3383280"/>
            <a:ext cx="1645920" cy="3657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功能冗余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28800"/>
            <a:ext cx="2743200" cy="4114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 OTU/噬菌体分析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SingleM/Lyrebird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系统发育</a:t>
            </a:r>
            <a:br/>
            <a:r>
              <a:t>细菌-噬菌体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383280"/>
            <a:ext cx="1645920" cy="3657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P=0.001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429768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5669279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72237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85953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931920"/>
            <a:ext cx="8229600" cy="82296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整合结论：CagA通过G×E交互重塑细菌菌群 → 功能冗余但Driver更替 → 噬菌体协同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结果1：G×E交互作用验证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9个系统性成对比较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CagA@ApcMUT: </a:t>
            </a:r>
            <a:r>
              <a:rPr sz="1800" b="1">
                <a:solidFill>
                  <a:srgbClr val="4CAF50"/>
                </a:solidFill>
              </a:rPr>
              <a:t>P=0.039</a:t>
            </a:r>
            <a:r>
              <a:rPr sz="1800">
                <a:solidFill>
                  <a:srgbClr val="333333"/>
                </a:solidFill>
              </a:rPr>
              <a:t>, R²=33.6%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CagA@ApcWT: P=0.387, 效应消失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G×E交互</a:t>
            </a:r>
            <a:r>
              <a:rPr sz="1800" b="1">
                <a:solidFill>
                  <a:srgbClr val="4CAF50"/>
                </a:solidFill>
              </a:rPr>
              <a:t>完全验证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意外发现：感染</a:t>
            </a:r>
            <a:r>
              <a:rPr sz="1800" b="1">
                <a:solidFill>
                  <a:srgbClr val="4CAF50"/>
                </a:solidFill>
              </a:rPr>
              <a:t>放大</a:t>
            </a:r>
            <a:r>
              <a:rPr sz="1800">
                <a:solidFill>
                  <a:srgbClr val="333333"/>
                </a:solidFill>
              </a:rPr>
              <a:t>Apc效应</a:t>
            </a:r>
          </a:p>
        </p:txBody>
      </p:sp>
      <p:pic>
        <p:nvPicPr>
          <p:cNvPr id="5" name="Picture 4" descr="52_part5_caga_effect_by_geno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结果2：CagA的作用靶点——细菌而非病毒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0D47A1"/>
                </a:solidFill>
              </a:defRPr>
            </a:pPr>
            <a:r>
              <a:t>问：CagA重塑的是什么？细菌？还是病毒？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65C0"/>
                </a:solidFill>
              </a:defRPr>
            </a:pPr>
            <a:r>
              <a:t>Standard (细菌)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657600" cy="18288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4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9个成对比较结果：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FDR显著：5/9 (55.6%)</a:t>
            </a:r>
          </a:p>
          <a:p>
            <a:pPr>
              <a:defRPr sz="1200" b="1">
                <a:solidFill>
                  <a:srgbClr val="4CAF50"/>
                </a:solidFill>
              </a:defRPr>
            </a:pPr>
            <a:r>
              <a:t>• CagA@ApcMUT: P=0.039 ⭐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CagA@ApcWT: P=0.387</a:t>
            </a:r>
          </a:p>
          <a:p>
            <a:pPr>
              <a:defRPr sz="1200" b="1">
                <a:solidFill>
                  <a:srgbClr val="1465C0"/>
                </a:solidFill>
              </a:defRPr>
            </a:pPr>
            <a:r>
              <a:t>→ G×E交互完全验证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37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B1FA2"/>
                </a:solidFill>
              </a:defRPr>
            </a:pPr>
            <a:r>
              <a:t>Virus (病毒)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103120"/>
            <a:ext cx="3657600" cy="182880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9个成对比较结果：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FDR显著：0/9 (0%)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CagA@ApcMUT: P=0.604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CagA@ApcWT: P=0.978</a:t>
            </a:r>
          </a:p>
          <a:p>
            <a:pPr>
              <a:defRPr sz="1200" b="1">
                <a:solidFill>
                  <a:srgbClr val="7B1FA2"/>
                </a:solidFill>
              </a:defRPr>
            </a:pPr>
            <a:r>
              <a:t>→ 无显著效应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2743200"/>
            <a:ext cx="640080" cy="64008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880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6400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结论：CagA主要通过重塑细菌群落影响肠道微环境，而非直接作用于病毒组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结果3：功能冗余与静默更替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整体：物种交互P=0.024 vs 功能P=0.223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</a:t>
            </a:r>
            <a:r>
              <a:rPr sz="1800" b="1">
                <a:solidFill>
                  <a:srgbClr val="4CAF50"/>
                </a:solidFill>
              </a:rPr>
              <a:t>但</a:t>
            </a:r>
            <a:r>
              <a:rPr sz="1800">
                <a:solidFill>
                  <a:srgbClr val="333333"/>
                </a:solidFill>
              </a:rPr>
              <a:t>核心比较：物种P=0.039, 功能</a:t>
            </a:r>
            <a:r>
              <a:rPr sz="1800" b="1">
                <a:solidFill>
                  <a:srgbClr val="4CAF50"/>
                </a:solidFill>
              </a:rPr>
              <a:t>P=0.041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→ 尺度依赖：整体冗余，局部一致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</a:t>
            </a:r>
            <a:r>
              <a:rPr sz="1800" b="1">
                <a:solidFill>
                  <a:srgbClr val="4CAF50"/>
                </a:solidFill>
              </a:rPr>
              <a:t>静默更替</a:t>
            </a:r>
            <a:r>
              <a:rPr sz="1800">
                <a:solidFill>
                  <a:srgbClr val="333333"/>
                </a:solidFill>
              </a:rPr>
              <a:t>：益生菌↓ 致病菌↑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*L. johnsonii* -50%, *M. schaedleri* +57%</a:t>
            </a:r>
          </a:p>
        </p:txBody>
      </p:sp>
      <p:pic>
        <p:nvPicPr>
          <p:cNvPr id="5" name="Picture 4" descr="91_part9_driver_species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结果4：细菌-噬菌体协同变化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噬菌体多样性</a:t>
            </a:r>
            <a:r>
              <a:rPr sz="1800" b="1">
                <a:solidFill>
                  <a:srgbClr val="4CAF50"/>
                </a:solidFill>
              </a:rPr>
              <a:t>显著降低</a:t>
            </a:r>
            <a:r>
              <a:rPr sz="1800">
                <a:solidFill>
                  <a:srgbClr val="333333"/>
                </a:solidFill>
              </a:rPr>
              <a:t> (P=0.032)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细菌-噬菌体</a:t>
            </a:r>
            <a:r>
              <a:rPr sz="1800" b="1">
                <a:solidFill>
                  <a:srgbClr val="4CAF50"/>
                </a:solidFill>
              </a:rPr>
              <a:t>高度协同</a:t>
            </a:r>
            <a:r>
              <a:rPr sz="1800">
                <a:solidFill>
                  <a:srgbClr val="333333"/>
                </a:solidFill>
              </a:rPr>
              <a:t>：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  - Mantel r=0.52, </a:t>
            </a:r>
            <a:r>
              <a:rPr sz="1800" b="1">
                <a:solidFill>
                  <a:srgbClr val="4CAF50"/>
                </a:solidFill>
              </a:rPr>
              <a:t>P=0.001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  - Procrustes </a:t>
            </a:r>
            <a:r>
              <a:rPr sz="1800" b="1">
                <a:solidFill>
                  <a:srgbClr val="4CAF50"/>
                </a:solidFill>
              </a:rPr>
              <a:t>P=0.002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三角网络：</a:t>
            </a:r>
            <a:r>
              <a:rPr sz="1800" b="1">
                <a:solidFill>
                  <a:srgbClr val="4CAF50"/>
                </a:solidFill>
              </a:rPr>
              <a:t>17,848条边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呼应：CagA→细菌→噬菌体级联效应</a:t>
            </a:r>
          </a:p>
        </p:txBody>
      </p:sp>
      <p:pic>
        <p:nvPicPr>
          <p:cNvPr id="5" name="Picture 4" descr="06_tripartite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33702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核心结论与后续计划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G×E交互作用：CagA效应依赖Apc突变背景 (9个比较完全验证)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CagA靶点：主要影响细菌 (5/9显著) 而非病毒 (0/9显著)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834639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8035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34639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功能冗余与静默更替：整体冗余但Driver从益生菌→致病菌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611879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5759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79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噬菌体协同：CagA→细菌→噬菌体级联效应 (P=0.001)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434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8912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后续：代谢组学验证 + 整合肿瘤/T细胞表型数据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