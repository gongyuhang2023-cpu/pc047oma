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first introduce the research background.</a:t>
            </a:r>
          </a:p>
          <a:p/>
          <a:p>
            <a:r>
              <a:t>H. pylori CagA protein is a recognized Class I carcinogen. After being injected into host cells via Type IV secretion system, it disrupts key signaling pathways like Wnt and NF-κB, while causing gut microbiota dysbiosis, ultimately promoting tumor development.</a:t>
            </a:r>
          </a:p>
          <a:p/>
          <a:p>
            <a:r>
              <a:t>Key literature supporting this mechanism is listed on the right. Notably, Jones et al. 2017 demonstrated in Drosophila that CagA expression alone is sufficient to induce dysbiosis and epithelial hyperproliferation.</a:t>
            </a:r>
          </a:p>
          <a:p/>
          <a:p>
            <a:r>
              <a:t>This leads to our central question: What maintains CD8+ T-cell activation after CagA clearance?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 me introduce Apc mutation and genetic susceptibility.</a:t>
            </a:r>
          </a:p>
          <a:p/>
          <a:p>
            <a:r>
              <a:t>The left panel shows the Apc-Wnt pathway relationship. Normally, APC protein degrades β-catenin to maintain intestinal homeostasis. When Apc is mutated, β-catenin accumulates, eventually leading to tumor development. This is the classic "gatekeeper" mechanism in colorectal cancer.</a:t>
            </a:r>
          </a:p>
          <a:p/>
          <a:p>
            <a:r>
              <a:t>The right panel shows our G×E interaction hypothesis. Our preliminary data revealed an interesting phenomenon: CagA infection effects are highly dependent on host genetic background. In wild-type background, CagA has minimal effect; but in Apc-mutant background, CagA significantly restructures gut microbiota.</a:t>
            </a:r>
          </a:p>
          <a:p/>
          <a:p>
            <a:r>
              <a:t>Therefore, we designed a 2×3 factorial experiment, with the core comparison being CagA+ vs CagA- infection under Apc-mutant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central hypothesis — the Functional Footprint hypothesis.</a:t>
            </a:r>
          </a:p>
          <a:p/>
          <a:p>
            <a:r>
              <a:t>The logical chain is: Step 1, CagA infection restructures gut microbiota; Step 2, altered microbiota produces specific molecules; Step 3, these molecules persistently activate CD8+ T-cells; Step 4, ultimately promoting tumor development.</a:t>
            </a:r>
          </a:p>
          <a:p/>
          <a:p>
            <a:r>
              <a:t>This presentation covers verification of the first half of the hypothesis. We have confirmed significant microbiota restructuring, discovered G×E interaction, revealed Driver species shifts under functional redundancy, and phage coordination.</a:t>
            </a:r>
          </a:p>
          <a:p/>
          <a:p>
            <a:r>
              <a:t>The latter half — metabolite identification and correlation with tumor/T-cell phenotypes — requires subsequent metabolomics and phenotype data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our analysis pipeline.</a:t>
            </a:r>
          </a:p>
          <a:p/>
          <a:p>
            <a:r>
              <a:t>Starting from 27 cecum samples, we performed three major analyses:</a:t>
            </a:r>
          </a:p>
          <a:p/>
          <a:p>
            <a:r>
              <a:t>First, species composition analysis using Kraken2 and Bracken for taxonomic classification, focusing on community structure and G×E interaction, with core result of P=0.012.</a:t>
            </a:r>
          </a:p>
          <a:p/>
          <a:p>
            <a:r>
              <a:t>Second, functional potential analysis using HUMAnN4 for pathway annotation, focusing on functional redundancy and Driver species shift.</a:t>
            </a:r>
          </a:p>
          <a:p/>
          <a:p>
            <a:r>
              <a:t>Third, OTU and phage analysis using SingleM and Lyrebird, focusing on phylogenetic structure and bacteria-phage coordination, finding strong association at P=0.001.</a:t>
            </a:r>
          </a:p>
          <a:p/>
          <a:p>
            <a:r>
              <a:t>Integrating all three modules: CagA restructures microbiota via G×E interaction, shows functional redundancy with Driver shift, and bacteria-phage are highly coordinated.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let's look at the specific results.</a:t>
            </a:r>
          </a:p>
          <a:p/>
          <a:p>
            <a:r>
              <a:t>First, species composition analysis. Core comparison shows significant beta diversity difference at P=0.012.</a:t>
            </a:r>
          </a:p>
          <a:p/>
          <a:p>
            <a:r>
              <a:t>2×3 factorial analysis revealed significant Genotype×Infection interaction at P=0.024.</a:t>
            </a:r>
          </a:p>
          <a:p/>
          <a:p>
            <a:r>
              <a:t>Key finding: In Apc-mutant background, CagA effect is significant (P=0.007, explaining 33.6% variance); in wild-type background, effect is absent (P=0.338).</a:t>
            </a:r>
          </a:p>
          <a:p/>
          <a:p>
            <a:r>
              <a:t>This confirms our hypothesis: CagA's microbiota-restructuring effect requires the Apc-mutant susceptible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core result is functional redundancy and Silent Shift.</a:t>
            </a:r>
          </a:p>
          <a:p/>
          <a:p>
            <a:r>
              <a:t>Species-level interaction is significant (P=0.024), but function-level is not (P=0.223) - classic functional redundancy.</a:t>
            </a:r>
          </a:p>
          <a:p/>
          <a:p>
            <a:r>
              <a:t>Part 9 stratified analysis revealed "Silent Shift": while total function appears unchanged, the species executing these functions have undergone major shifts. Probiotics like L. johnsonii decreased 50%, while inflammation-associated M. schaedleri increased 57%.</a:t>
            </a:r>
          </a:p>
          <a:p/>
          <a:p>
            <a:r>
              <a:t>This means: beneath the surface of functional stability, drivers have shifted from probiotics to potential pathogens.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important finding is phage coordination.</a:t>
            </a:r>
          </a:p>
          <a:p/>
          <a:p>
            <a:r>
              <a:t>First, CagA infection significantly reduced phage alpha diversity at P=0.032.</a:t>
            </a:r>
          </a:p>
          <a:p/>
          <a:p>
            <a:r>
              <a:t>More importantly, bacteria and phage communities are highly coordinated. Mantel test r=0.52, P=0.001; Procrustes P=0.002.</a:t>
            </a:r>
          </a:p>
          <a:p/>
          <a:p>
            <a:r>
              <a:t>Our tripartite network contains 17,848 edges, with bacteria-phage being the strongest. This suggests CagA's effect is transmitted and amplified through the bacteria-phage-function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core conclusions.</a:t>
            </a:r>
          </a:p>
          <a:p/>
          <a:p>
            <a:r>
              <a:t>First, confirmed G×E interaction - CagA effect requires Apc-mutant background.</a:t>
            </a:r>
          </a:p>
          <a:p/>
          <a:p>
            <a:r>
              <a:t>Second, discovered functional redundancy and Silent Shift - function stable but drivers changed.</a:t>
            </a:r>
          </a:p>
          <a:p/>
          <a:p>
            <a:r>
              <a:t>Third, revealed phage coordination - bacteria and phage highly associated.</a:t>
            </a:r>
          </a:p>
          <a:p/>
          <a:p>
            <a:r>
              <a:t>Next steps: metabolomics validation and integration with tumor/T-cell phenotype data.</a:t>
            </a:r>
          </a:p>
          <a:p/>
          <a:p>
            <a:r>
              <a:t>Thank you for your attention!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CagA-Dependent Gut Microbiome Restructuring</a:t>
            </a:r>
            <a:br/>
            <a:r>
              <a:t>and Functional Redundancy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Microbiome Analysis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2026-01-18</a:t>
            </a:r>
            <a:br/>
            <a:r>
              <a:t>Presenter: Yuhang Gong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CagA and Intestinal Tumors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Pathogenesis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Infection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 Injection</a:t>
            </a:r>
            <a:br/>
            <a:r>
              <a:t>into Host Cell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Disrupt Wnt/</a:t>
            </a:r>
            <a:br/>
            <a:r>
              <a:t>NF-κB Pathways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Gut Microbiota</a:t>
            </a:r>
            <a:br/>
            <a:r>
              <a:t>Dysbiosis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Tumor Promotion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Key Literature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Drosophila: CagA alone induces</a:t>
            </a:r>
            <a:br/>
            <a:r>
              <a:t>dysbiosis and epithelial proliferation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Clinical: CagA+ strains affect</a:t>
            </a:r>
            <a:br/>
            <a:r>
              <a:t>colorectal lesions via gut microbiota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Phage can eliminate tumor-</a:t>
            </a:r>
            <a:br/>
            <a:r>
              <a:t>promoting bacteria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Central Question: What maintains CD8+ T-cell activation after CagA clearance?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Apc Mutation and Genetic Susceptibility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 Mutation → Constitutive Wnt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Degradation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Homeostasis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 Mutant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Accumulation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Tumor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Interaction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Normal</a:t>
            </a:r>
            <a:br/>
            <a:r>
              <a:t>Microbiota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Mild</a:t>
            </a:r>
            <a:br/>
            <a:r>
              <a:t>Dysbiosis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No Effect</a:t>
            </a:r>
            <a:br/>
            <a:r>
              <a:t>P=0.338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Significant</a:t>
            </a:r>
            <a:br/>
            <a:r>
              <a:t>P=0.007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 effect requires Apc-mutant susceptible background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Experimental Design: 2×3 Factorial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Central Hypothesis: 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 Infection</a:t>
            </a:r>
            <a:br/>
            <a:r>
              <a:t>Restructures Microbiota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Microbiota Produces</a:t>
            </a:r>
            <a:br/>
            <a:r>
              <a:t>Specific Molecules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Persistent CD8+</a:t>
            </a:r>
            <a:br/>
            <a:r>
              <a:t>T-cell Activation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Tumor</a:t>
            </a:r>
            <a:br/>
            <a: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Scope of This Study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Microbiota restructured (P=0.012)</a:t>
            </a:r>
            <a:br/>
            <a:r>
              <a:t>• G×E interaction confirmed (P=0.024)</a:t>
            </a:r>
            <a:br/>
            <a:r>
              <a:t>• Functional redundancy &amp; Driver shift</a:t>
            </a:r>
            <a:br/>
            <a:r>
              <a:t>• Phage coordination (P=0.001)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Metabolomics: Specific metabolite ID</a:t>
            </a:r>
            <a:br/>
            <a:r>
              <a:t>• Transcriptomics: Gene expression validation</a:t>
            </a:r>
            <a:br/>
            <a:r>
              <a:t>• Integration with tumor/T-cell phenotypes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Analysis Pipeline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Cecum Samples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Species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Community</a:t>
            </a:r>
            <a:br/>
            <a:r>
              <a:t>G×E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Functional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Pathways</a:t>
            </a:r>
            <a:br/>
            <a:r>
              <a:t>Driver Shift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Redundancy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OTU/Phage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SingleM/Lyrebird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Phylogeny</a:t>
            </a:r>
            <a:br/>
            <a:r>
              <a:t>Bacteria-Phage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P=0.001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Integration: CagA restructures microbiota via G×E → Functional redundancy with Driver shift → Bacteria-phage coordination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1: Species - G×E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Core comparison: Beta diversity 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2×3 factorial: Interaction </a:t>
            </a:r>
            <a:r>
              <a:rPr sz="1800" b="1">
                <a:solidFill>
                  <a:srgbClr val="4CAF50"/>
                </a:solidFill>
              </a:rPr>
              <a:t>P=0.024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ApcMUT: </a:t>
            </a:r>
            <a:r>
              <a:rPr sz="1800" b="1">
                <a:solidFill>
                  <a:srgbClr val="4CAF50"/>
                </a:solidFill>
              </a:rPr>
              <a:t>P=0.007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ApcWT: P=0.338, effect absent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Conclusion: CagA requires </a:t>
            </a:r>
            <a:r>
              <a:rPr sz="1800" b="1">
                <a:solidFill>
                  <a:srgbClr val="4CAF50"/>
                </a:solidFill>
              </a:rPr>
              <a:t>Apc-mutant background</a:t>
            </a:r>
            <a:r>
              <a:rPr sz="1800">
                <a:solidFill>
                  <a:srgbClr val="333333"/>
                </a:solidFill>
              </a:rPr>
              <a:t/>
            </a:r>
          </a:p>
        </p:txBody>
      </p:sp>
      <p:pic>
        <p:nvPicPr>
          <p:cNvPr id="5" name="Picture 4" descr="43_part4_pcoa_full_6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2: Functional Redundancy &amp; Silent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Species interaction P=0.024 vs Function P=0.223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Functional redundancy</a:t>
            </a:r>
            <a:r>
              <a:rPr sz="1800">
                <a:solidFill>
                  <a:srgbClr val="333333"/>
                </a:solidFill>
              </a:rPr>
              <a:t>: Species change, function stable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Silent Shift phenomenon</a:t>
            </a:r>
            <a:r>
              <a:rPr sz="1800">
                <a:solidFill>
                  <a:srgbClr val="333333"/>
                </a:solidFill>
              </a:rPr>
              <a:t>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Probiotics↓: L. johnsonii (-50%)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Pathobionts↑: M. schaedleri (+57%)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Drivers shifted: </a:t>
            </a:r>
            <a:r>
              <a:rPr sz="1800" b="1">
                <a:solidFill>
                  <a:srgbClr val="4CAF50"/>
                </a:solidFill>
              </a:rPr>
              <a:t>Probiotics → Pathobionts</a:t>
            </a:r>
            <a:r>
              <a:rPr sz="1800">
                <a:solidFill>
                  <a:srgbClr val="333333"/>
                </a:solidFill>
              </a:rPr>
              <a:t/>
            </a:r>
          </a:p>
        </p:txBody>
      </p:sp>
      <p:pic>
        <p:nvPicPr>
          <p:cNvPr id="5" name="Picture 4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08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3: Phage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Phage diversity </a:t>
            </a:r>
            <a:r>
              <a:rPr sz="1800" b="1">
                <a:solidFill>
                  <a:srgbClr val="4CAF50"/>
                </a:solidFill>
              </a:rPr>
              <a:t>significantly decreased</a:t>
            </a:r>
            <a:r>
              <a:rPr sz="1800">
                <a:solidFill>
                  <a:srgbClr val="333333"/>
                </a:solidFill>
              </a:rPr>
              <a:t> (P=0.032)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Bacteria-phage </a:t>
            </a:r>
            <a:r>
              <a:rPr sz="1800" b="1">
                <a:solidFill>
                  <a:srgbClr val="4CAF50"/>
                </a:solidFill>
              </a:rPr>
              <a:t>highly coordinated</a:t>
            </a:r>
            <a:r>
              <a:rPr sz="1800">
                <a:solidFill>
                  <a:srgbClr val="333333"/>
                </a:solidFill>
              </a:rPr>
              <a:t>: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Mantel r=0.52, </a:t>
            </a:r>
            <a:r>
              <a:rPr sz="1800" b="1">
                <a:solidFill>
                  <a:srgbClr val="4CAF50"/>
                </a:solidFill>
              </a:rPr>
              <a:t>P=0.001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Procrustes </a:t>
            </a:r>
            <a:r>
              <a:rPr sz="1800" b="1">
                <a:solidFill>
                  <a:srgbClr val="4CAF50"/>
                </a:solidFill>
              </a:rPr>
              <a:t>P=0.002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Tripartite network: </a:t>
            </a:r>
            <a:r>
              <a:rPr sz="1800" b="1">
                <a:solidFill>
                  <a:srgbClr val="4CAF50"/>
                </a:solidFill>
              </a:rPr>
              <a:t>17,848 edges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CagA effect transmitted via network</a:t>
            </a:r>
          </a:p>
        </p:txBody>
      </p:sp>
      <p:pic>
        <p:nvPicPr>
          <p:cNvPr id="5" name="Picture 4" descr="06_triparti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G×E interaction: CagA effect requires Apc-mutant background (P=0.007 vs P=0.338)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Functional redundancy &amp; Silent Shift: Function stable but Drivers changed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Phage coordination: CagA reduces phage diversity; Bacteria-phage P=0.001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Next: Metabolomics validation + Tumor/T-cell phenotype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