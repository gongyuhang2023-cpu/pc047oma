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大家好，首先介绍一下研究背景。</a:t>
            </a:r>
          </a:p>
          <a:p/>
          <a:p>
            <a:r>
              <a:t>我们都知道幽门螺杆菌是胃癌的一类致癌因子，而CagA蛋白是它最重要的毒力因子。</a:t>
            </a:r>
          </a:p>
          <a:p/>
          <a:p>
            <a:r>
              <a:t>如左图所示，H. pylori感染后，CagA蛋白通过IV型分泌系统注入宿主细胞。进入细胞后，CagA会干扰两条关键信号通路：Wnt通路和NF-κB通路。与此同时，CagA还会导致肠道菌群失调。这两条路径最终都指向同一个结果——促进肿瘤发生。</a:t>
            </a:r>
          </a:p>
          <a:p/>
          <a:p>
            <a:r>
              <a:t>右侧是支持这一机制的关键文献。Jones等人2017年在PLoS Pathogens发表的果蝇模型研究表明，CagA单独表达就足以诱导菌群失调和上皮过度增殖。</a:t>
            </a:r>
          </a:p>
          <a:p/>
          <a:p>
            <a:r>
              <a:t>现在来看我们的核心科学问题：当CagA抗原被清除后，肠道内是什么因素在维持着CD8+ T细胞的持续激活？这正是本研究要回答的问题。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接下来介绍我们的实验模型设计。</a:t>
            </a:r>
          </a:p>
          <a:p/>
          <a:p>
            <a:r>
              <a:t>左侧展示了Apc-Wnt通路的关系。正常情况下，APC蛋白负责降解β-catenin，保持Wnt信号稳定。但当Apc发生突变后，β-catenin无法被降解，导致Wnt信号持续激活，最终引发肠道肿瘤。这就是为什么Apc突变小鼠是研究肠道肿瘤的经典模型。</a:t>
            </a:r>
          </a:p>
          <a:p/>
          <a:p>
            <a:r>
              <a:t>右侧是我们发现的一个关键现象：CagA效应高度依赖宿主遗传背景，这是典型的G×E交互作用。在野生型小鼠中，CagA几乎无效应，P值高达0.387。但在Apc突变小鼠中，CagA显著重塑肠道菌群，P值仅为0.039。这说明Apc突变提供了一个"易感背景"，放大了CagA的效应。</a:t>
            </a:r>
          </a:p>
          <a:p/>
          <a:p>
            <a:r>
              <a:t>底部是我们的2×3因子实验设计：两种基因型乘以三种感染状态。红框标出的是核心比较——Apc突变背景下CagA阳性组和阴性组的对比。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这是我们的核心假说——Functional Footprint假说。</a:t>
            </a:r>
          </a:p>
          <a:p/>
          <a:p>
            <a:r>
              <a:t>这个假说的逻辑链是这样的：首先，CagA感染会重塑肠道菌群的结构；然后，重塑后的菌群会产生一些特异性的分子或代谢物；这些分子会持续激活CD8+ T细胞；最终促进肿瘤发生。</a:t>
            </a:r>
          </a:p>
          <a:p/>
          <a:p>
            <a:r>
              <a:t>绿框标出的是我们本次分析已经验证的部分。第一，菌群重塑已确认，Beta多样性P值仅0.012。第二，G×E交互作用验证成功，CagA效应确实依赖Apc遗传背景。第三，功能冗余得到全层级验证——从Pathway到KO到GO再到PFAM，FDR校正后都没有显著差异。第四，网络模块结构瓦解，模块度降低了62%。</a:t>
            </a:r>
          </a:p>
          <a:p/>
          <a:p>
            <a:r>
              <a:t>橙框标出的是还需要后续验证的部分：代谢组学鉴定特定代谢物，以及整合肿瘤和T细胞表型数据。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在介绍结果之前，先给大家概览一下我们的分析流程。</a:t>
            </a:r>
          </a:p>
          <a:p/>
          <a:p>
            <a:r>
              <a:t>我们的分析分为三大模块。</a:t>
            </a:r>
          </a:p>
          <a:p/>
          <a:p>
            <a:r>
              <a:t>第一个模块是物种组成分析。我们使用Kraken2和Bracken进行物种分类，包括细菌和病毒。同时使用SingleM和Lyrebird进行OTU水平的分析。核心发现：9个成对比较中有5个显著，证实了CagA的重塑效应。</a:t>
            </a:r>
          </a:p>
          <a:p/>
          <a:p>
            <a:r>
              <a:t>第二个模块是功能潜力分析。我们使用HUMAnN4进行功能注释，然后用MaAsLin2进行差异分析。关键发现：从Pathway到KO到GO再到PFAM，四个功能层级都没有FDR显著差异，证实了功能冗余现象。</a:t>
            </a:r>
          </a:p>
          <a:p/>
          <a:p>
            <a:r>
              <a:t>第三个模块是网络和噬菌体分析。我们构建了物种共现网络，发现模块度降低了62%。细菌-噬菌体Mantel检验显示两者高度协同，P值仅为0.001。</a:t>
            </a:r>
          </a:p>
          <a:p/>
          <a:p>
            <a:r>
              <a:t>底部的整合结论是：CagA重塑细菌菌群，虽然存在功能冗余，但网络结构瓦解，噬菌体协同变化。接下来我会逐一展示这些发现。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现在来看第一个核心结果：CagA显著重塑肠道菌群。</a:t>
            </a:r>
          </a:p>
          <a:p/>
          <a:p>
            <a:r>
              <a:t>先看左侧的要点总结。Beta多样性分析显示P值仅为0.012，效应量R²达到33.6%，说明CagA解释了三分之一的菌群变异。同时，G×E交互作用也是显著的，P值0.024。最重要的是，CagA效应在Apc突变背景下显著，但在野生型背景下不显著。</a:t>
            </a:r>
          </a:p>
          <a:p/>
          <a:p>
            <a:r>
              <a:t>右图是我们的综合分析结果，信息量很大。</a:t>
            </a:r>
          </a:p>
          <a:p/>
          <a:p>
            <a:r>
              <a:t>左上角是PCoA图，展示了全部6组样本的群落分布。你可以看到不同颜色代表不同的感染状态——红色是对照组，蓝色是HpKO感染组，绿色是HpWT也就是CagA阳性感染组。椭圆表示95%置信区间。可以看到各组之间有明显的分离。</a:t>
            </a:r>
          </a:p>
          <a:p/>
          <a:p>
            <a:r>
              <a:t>右上角是效应量图，展示了2×3因子设计中各因素解释的方差比例。最关键的是交互作用项，占到了100%，说明CagA的效应确实依赖于遗传背景。</a:t>
            </a:r>
          </a:p>
          <a:p/>
          <a:p>
            <a:r>
              <a:t>下方的条形图是成对比较的结果。你可以看到蓝色条代表CagA效应，在Apc突变小鼠中P值小于0.05，是显著的；但在野生型小鼠中就不显著了。</a:t>
            </a:r>
          </a:p>
          <a:p/>
          <a:p>
            <a:r>
              <a:t>这是典型的G×E交互作用模式，说明CagA的菌群重塑效应需要Apc突变这个"易感背景"。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既然CagA能重塑肠道微生物组，那一个自然的问题是：它重塑的到底是什么？是细菌？还是病毒？</a:t>
            </a:r>
          </a:p>
          <a:p/>
          <a:p>
            <a:r>
              <a:t>我们对细菌和病毒分别进行了9个成对比较的系统分析，结果非常清晰。</a:t>
            </a:r>
          </a:p>
          <a:p/>
          <a:p>
            <a:r>
              <a:t>左侧是细菌的分析结果。9个比较中有5个是FDR校正后显著的，超过一半。最关键的核心比较——CagA效应在Apc突变背景下——P值仅0.039，完全验证了G×E交互作用。G×E交互也是显著的。</a:t>
            </a:r>
          </a:p>
          <a:p/>
          <a:p>
            <a:r>
              <a:t>右侧是病毒的分析结果。9个比较中有0个是FDR显著的，一个都没有！最关键的核心CagA比较，P值高达0.604，完全不显著。G×E交互也不显著。</a:t>
            </a:r>
          </a:p>
          <a:p/>
          <a:p>
            <a:r>
              <a:t>这个对比告诉我们什么？CagA主要通过重塑细菌群落来影响肠道微环境，而不是直接作用于病毒组。换句话说，细菌是CagA的直接靶点，病毒的变化可能是细菌变化的下游效应。这就引出了后面噬菌体协同变化的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接下来是一个非常有意思的发现：功能冗余现象。</a:t>
            </a:r>
          </a:p>
          <a:p/>
          <a:p>
            <a:r>
              <a:t>左侧的表格展示了我们对四个功能层级的系统验证。从最粗的Pathway层级，到KO基因功能，再到GO基因本体，最后到PFAM蛋白结构域——这是从粗到细的四个功能层面。</a:t>
            </a:r>
          </a:p>
          <a:p/>
          <a:p>
            <a:r>
              <a:t>结果非常一致：每个层级都有很多P值小于0.05的特征，但经过FDR校正后，显著差异的数量都是零！这意味着什么？虽然物种组成发生了显著变化，但整体的功能潜力保持稳定。这就是生态学中的"功能冗余"现象——不同物种可以执行相同的功能。</a:t>
            </a:r>
          </a:p>
          <a:p/>
          <a:p>
            <a:r>
              <a:t>但故事到这里还没有结束。右侧图片展示了我们的分层功能分析，也就是HUMAnN的stratified analysis。这张彩色堆叠图展示了关键通路中不同物种的贡献比例变化。</a:t>
            </a:r>
          </a:p>
          <a:p/>
          <a:p>
            <a:r>
              <a:t>我们发现了一个重要现象，我称之为"静默更替"。虽然功能总量不变，但执行这些功能的物种已经换了！左侧的益生菌，比如Lactobacillus johnsonii，贡献下降了50%；右侧的炎症相关菌，比如Mucispirillum schaedleri，贡献上升了57%。</a:t>
            </a:r>
          </a:p>
          <a:p/>
          <a:p>
            <a:r>
              <a:t>这意味着什么？虽然代谢功能看起来一样，但产生这些功能的"工人"已经从好菌变成了坏菌。这对免疫系统来说是完全不同的信号。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这一页我们来看共现网络分析，它揭示了一个重要现象：网络模块结构的瓦解。</a:t>
            </a:r>
          </a:p>
          <a:p/>
          <a:p>
            <a:r>
              <a:t>什么是模块度？简单来说，高模块度意味着物种各司其职，功能分化明显；低模块度意味着物种混在一起，功能界限模糊。</a:t>
            </a:r>
          </a:p>
          <a:p/>
          <a:p>
            <a:r>
              <a:t>左侧表格对比了两组的网络特征。对照组HpKO：80个节点，1280条边，模块度0.468，这是一个有清晰功能模块的健康网络。CagA感染组HpWT：100个节点，2190条边——增加了71%！但最关键的是模块度，从0.468降到了0.177，降幅达62%。</a:t>
            </a:r>
          </a:p>
          <a:p/>
          <a:p>
            <a:r>
              <a:t>这个62%的模块度下降意味着什么？物种间的界限变模糊了，生态位重叠增加了。原本各司其职的物种，现在功能开始重叠。这从网络层面完美解释了前面看到的功能冗余现象——为什么物种变了但功能稳定，因为物种之间的功能分工被打乱了。</a:t>
            </a:r>
          </a:p>
          <a:p/>
          <a:p>
            <a:r>
              <a:t>右侧展示了网络中的Hub物种，也就是连接度最高的关键物种。有意思的是，这些Hub物种主要是厌氧梭菌类，比如Blautia、Roseburia等，它们都是短链脂肪酸的主要生产者。另外值得注意的是Parabacteroides distasonis，它的介数中心性特别高，是连接不同功能模块的"桥梁物种"，可能是CagA影响免疫调节的关键节点。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最后一个结果是细菌和噬菌体的协同变化。</a:t>
            </a:r>
          </a:p>
          <a:p/>
          <a:p>
            <a:r>
              <a:t>前面我们说CagA不直接影响病毒组，但这不意味着病毒组没有变化。恰恰相反，我们发现噬菌体也发生了显著改变——只是这种改变是细菌变化的下游效应。</a:t>
            </a:r>
          </a:p>
          <a:p/>
          <a:p>
            <a:r>
              <a:t>左侧是关键统计结果。首先，噬菌体的Alpha多样性显著降低，P值为0.032。这说明CagA感染后，噬菌体的种类减少了。</a:t>
            </a:r>
          </a:p>
          <a:p/>
          <a:p>
            <a:r>
              <a:t>更重要的是细菌-噬菌体的协同分析。我们做了两种分析：Mantel检验和Procrustes分析。Mantel检验r值达到0.52，P值仅为0.001，高度显著；Procrustes分析P值为0.002，同样高度显著。这说明细菌群落和噬菌体群落的结构变化是高度一致的。</a:t>
            </a:r>
          </a:p>
          <a:p/>
          <a:p>
            <a:r>
              <a:t>右图展示了这两种分析的结果。左边是Alpha多样性相关图，虽然相关性不显著，说明多样性水平不是关联的关键。右边是Procrustes分析图，你可以看到细菌和噬菌体的样本点之间用线连接，线越短说明两者越一致。不同颜色代表不同处理组。</a:t>
            </a:r>
          </a:p>
          <a:p/>
          <a:p>
            <a:r>
              <a:t>结论是什么？CagA的效应通过级联传递：CagA首先改变细菌群落，细菌的变化又带动了噬菌体的改变。这是一个完整的微生物组级联效应。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好的，现在让我来总结一下今天汇报的核心结论。</a:t>
            </a:r>
          </a:p>
          <a:p/>
          <a:p>
            <a:r>
              <a:t>第一，CagA显著重塑肠道菌群结构。Beta多样性P值仅0.012，效应量33.6%。重要的是，这是选择性调控而非全面破坏——Alpha多样性没有变化。</a:t>
            </a:r>
          </a:p>
          <a:p/>
          <a:p>
            <a:r>
              <a:t>第二，功能冗余得到全层级验证。从Pathway到KO到GO再到PFAM，四个功能层级FDR校正后均无显著差异。虽然物种变了，但功能稳定。</a:t>
            </a:r>
          </a:p>
          <a:p/>
          <a:p>
            <a:r>
              <a:t>第三，网络模块结构瓦解。共现网络分析显示模块度降低62%，从0.468降到0.177。这从网络层面解释了功能冗余的机制——物种间的功能分工被打乱了。</a:t>
            </a:r>
          </a:p>
          <a:p/>
          <a:p>
            <a:r>
              <a:t>第四，Driver物种发生了静默更替。虽然功能总量不变，但执行功能的物种已经换了——从益生菌转向致病菌。L. johnsonii下降50%，M. schaedleri上升57%。这对免疫系统来说是完全不同的信号。</a:t>
            </a:r>
          </a:p>
          <a:p/>
          <a:p>
            <a:r>
              <a:t>第五，细菌和噬菌体高度协同变化。Mantel检验P值仅0.001，存在明显的级联效应。</a:t>
            </a:r>
          </a:p>
          <a:p/>
          <a:p>
            <a:r>
              <a:t>后续计划有两个方向：一是代谢组学验证，看看功能冗余表象下代谢物是否真的相同；二是整合肿瘤和T细胞表型数据，验证假说的后半部分。</a:t>
            </a:r>
          </a:p>
          <a:p/>
          <a:p>
            <a:r>
              <a:t>感谢大家的聆听！欢迎提问和讨论。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CagA依赖性肠道微生物组重塑</a:t>
            </a:r>
            <a:br/>
            <a:r>
              <a:t>及其功能冗余特征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D47A1"/>
                </a:solidFill>
              </a:defRPr>
            </a:pPr>
            <a:r>
              <a:t>PC047 vCagAepitope 微生物组分析进展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2026-01-26</a:t>
            </a:r>
            <a:br/>
            <a:r>
              <a:t>汇报人：龚宇航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研究背景：CagA与肠道肿瘤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H. pylori CagA 致病机制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H. pylori</a:t>
            </a:r>
            <a:br/>
            <a:r>
              <a:t>感染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CagA蛋白</a:t>
            </a:r>
            <a:br/>
            <a:r>
              <a:t>注入宿主细胞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干扰Wnt/NF-κB</a:t>
            </a:r>
            <a:br/>
            <a:r>
              <a:t>信号通路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肠道菌群</a:t>
            </a:r>
            <a:br/>
            <a:r>
              <a:t>失调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1089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促进肿瘤发生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48840" y="1691640"/>
            <a:ext cx="182880" cy="1371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28016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320040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28016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20040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关键文献支持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Jones et al. 2017, PLoS Pathog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288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果蝇模型：CagA单独表达即可</a:t>
            </a:r>
            <a:br/>
            <a:r>
              <a:t>诱导菌群失调和上皮过度增殖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317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Cui et al. 2025, BMC Gastro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0603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临床研究：CagA+菌株通过</a:t>
            </a:r>
            <a:br/>
            <a:r>
              <a:t>调节肠道菌群影响结直肠病变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Ding et al. 2025, Cell 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8327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噬菌体可靶向清除促肿瘤</a:t>
            </a:r>
            <a:br/>
            <a:r>
              <a:t>细菌并恢复化疗敏感性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822960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核心问题：CagA抗原清除后，肠道内什么因素维持CD8+ T细胞的持续激活？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研究背景：Apc突变与遗传易感性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Apc突变 → Wnt通路持续激活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正常状态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1732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173736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降解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稳态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53935"/>
                </a:solidFill>
              </a:defRPr>
            </a:pPr>
            <a:r>
              <a:t>Apc突变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 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1732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37360" y="256032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累积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8036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肿瘤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G×E 交互作用假说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60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正常</a:t>
            </a:r>
            <a:br/>
            <a:r>
              <a:t>菌群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轻度</a:t>
            </a:r>
            <a:br/>
            <a:r>
              <a:t>失调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无效应</a:t>
            </a:r>
            <a:br/>
            <a:r>
              <a:t>P=0.387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显著重塑</a:t>
            </a:r>
            <a:br/>
            <a:r>
              <a:t>P=0.039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47A1"/>
                </a:solidFill>
              </a:defRPr>
            </a:pPr>
            <a:r>
              <a:t>→ CagA效应需要Apc突变的易感背景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实验设计：2×3因子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Ctrl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736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HpKO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4434840"/>
            <a:ext cx="1554480" cy="3200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4453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核心比较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核心假说：Functional Footprint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65C0"/>
                </a:solidFill>
              </a:defRPr>
            </a:pPr>
            <a:r>
              <a:t>CagA感染</a:t>
            </a:r>
            <a:br/>
            <a:r>
              <a:t>重塑菌群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128016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9688"/>
                </a:solidFill>
              </a:defRPr>
            </a:pPr>
            <a:r>
              <a:t>菌群产生</a:t>
            </a:r>
            <a:br/>
            <a:r>
              <a:t>特异性分子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28016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9800"/>
                </a:solidFill>
              </a:defRPr>
            </a:pPr>
            <a:r>
              <a:t>持续激活</a:t>
            </a:r>
            <a:br/>
            <a:r>
              <a:t>CD8+ T细胞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7220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280160"/>
            <a:ext cx="365760" cy="36576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53935"/>
                </a:solidFill>
              </a:defRPr>
            </a:pPr>
            <a:r>
              <a:t>促进</a:t>
            </a:r>
            <a:br/>
            <a:r>
              <a:t>肿瘤发生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本研究验证范围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384048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✓ 已验证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菌群结构显著重塑 (P=0.012)</a:t>
            </a:r>
            <a:br/>
            <a:r>
              <a:t>• G×E交互作用确认 (9/9验证)</a:t>
            </a:r>
            <a:br/>
            <a:r>
              <a:t>• 功能冗余 (GO/PFAM全验证)</a:t>
            </a:r>
            <a:br/>
            <a:r>
              <a:t>• 网络结构瓦解 (模块度-62%)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017520"/>
            <a:ext cx="4114800" cy="1371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1089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○ 待验证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3832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代谢组学：特定代谢物鉴定</a:t>
            </a:r>
            <a:br/>
            <a:r>
              <a:t>• 转录组学：功能基因表达验证</a:t>
            </a:r>
            <a:br/>
            <a:r>
              <a:t>• 整合肿瘤/T细胞表型数据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分析流程概览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1887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465C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盲肠样本 (n=27)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743200" cy="41148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 物种组成分析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Kraken2/Bracken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群落结构</a:t>
            </a:r>
            <a:br/>
            <a:r>
              <a:t>G×E交互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383280"/>
            <a:ext cx="1645920" cy="36576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5/9显著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274320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 功能潜力分析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HUMAnN4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Pathway→KO</a:t>
            </a:r>
            <a:br/>
            <a:r>
              <a:t>→GO→PFAM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3383280"/>
            <a:ext cx="1645920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功能冗余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274320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 网络/噬菌体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igraph/Lyrebird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共现网络</a:t>
            </a:r>
            <a:br/>
            <a:r>
              <a:t>细菌-噬菌体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383280"/>
            <a:ext cx="1645920" cy="3657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模块度-62%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29768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669279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72237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85953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8229600" cy="8229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整合结论：CagA重塑细菌菌群 → 功能冗余(全层级验证) → 网络结构瓦解 → 噬菌体协同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结果1：CagA显著重塑肠道菌群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Beta多样性：</a:t>
            </a:r>
            <a:r>
              <a:rPr sz="1800" b="1">
                <a:solidFill>
                  <a:srgbClr val="4CAF50"/>
                </a:solidFill>
              </a:rPr>
              <a:t>P=0.012</a:t>
            </a:r>
            <a:r>
              <a:rPr sz="1800">
                <a:solidFill>
                  <a:srgbClr val="333333"/>
                </a:solidFill>
              </a:rPr>
              <a:t>, R²=33.6%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G×E交互：</a:t>
            </a:r>
            <a:r>
              <a:rPr sz="1800" b="1">
                <a:solidFill>
                  <a:srgbClr val="4CAF50"/>
                </a:solidFill>
              </a:rPr>
              <a:t>P=0.024</a:t>
            </a:r>
            <a:r>
              <a:rPr sz="1800">
                <a:solidFill>
                  <a:srgbClr val="333333"/>
                </a:solidFill>
              </a:rPr>
              <a:t> (显著)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CagA效应@ApcMUT：</a:t>
            </a:r>
            <a:r>
              <a:rPr sz="1800" b="1">
                <a:solidFill>
                  <a:srgbClr val="4CAF50"/>
                </a:solidFill>
              </a:rPr>
              <a:t>显著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CagA效应@ApcWT：不显著</a:t>
            </a:r>
          </a:p>
        </p:txBody>
      </p:sp>
      <p:pic>
        <p:nvPicPr>
          <p:cNvPr id="5" name="Picture 4" descr="47_part4_summary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3702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结果2：CagA的作用靶点——细菌而非病毒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D47A1"/>
                </a:solidFill>
              </a:defRPr>
            </a:pPr>
            <a:r>
              <a:t>问：CagA重塑的是什么？细菌？还是病毒？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65C0"/>
                </a:solidFill>
              </a:defRPr>
            </a:pPr>
            <a:r>
              <a:t>Standard (细菌)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657600" cy="18288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9个成对比较结果：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FDR显著：5/9 (55.6%)</a:t>
            </a:r>
          </a:p>
          <a:p>
            <a:pPr>
              <a:defRPr sz="1200" b="1">
                <a:solidFill>
                  <a:srgbClr val="4CAF50"/>
                </a:solidFill>
              </a:defRPr>
            </a:pPr>
            <a:r>
              <a:t>• CagA@ApcMUT: P=0.039 ⭐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CagA@ApcWT: P=0.387</a:t>
            </a:r>
          </a:p>
          <a:p>
            <a:pPr>
              <a:defRPr sz="1200" b="1">
                <a:solidFill>
                  <a:srgbClr val="1465C0"/>
                </a:solidFill>
              </a:defRPr>
            </a:pPr>
            <a:r>
              <a:t>→ G×E交互完全验证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B1FA2"/>
                </a:solidFill>
              </a:defRPr>
            </a:pPr>
            <a:r>
              <a:t>Virus (病毒)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03120"/>
            <a:ext cx="3657600" cy="18288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9个成对比较结果：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FDR显著：0/9 (0%)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CagA@ApcMUT: P=0.604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CagA@ApcWT: P=0.978</a:t>
            </a:r>
          </a:p>
          <a:p>
            <a:pPr>
              <a:defRPr sz="1200" b="1">
                <a:solidFill>
                  <a:srgbClr val="7B1FA2"/>
                </a:solidFill>
              </a:defRPr>
            </a:pPr>
            <a:r>
              <a:t>→ 无显著效应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43200"/>
            <a:ext cx="640080" cy="64008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880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6400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结论：CagA主要通过重塑细菌群落影响肠道微环境，而非直接作用于病毒组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结果3：功能冗余——全层级验证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HUMAnN4 功能层级验证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097280" cy="365760"/>
          </a:xfrm>
          <a:prstGeom prst="rect">
            <a:avLst/>
          </a:prstGeom>
          <a:solidFill>
            <a:srgbClr val="1465C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2763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层级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554480"/>
            <a:ext cx="1005840" cy="365760"/>
          </a:xfrm>
          <a:prstGeom prst="rect">
            <a:avLst/>
          </a:prstGeom>
          <a:solidFill>
            <a:srgbClr val="1465C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62763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特征数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79" y="1554480"/>
            <a:ext cx="822960" cy="365760"/>
          </a:xfrm>
          <a:prstGeom prst="rect">
            <a:avLst/>
          </a:prstGeom>
          <a:solidFill>
            <a:srgbClr val="1465C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79" y="162763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P&lt;0.05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554480"/>
            <a:ext cx="914400" cy="365760"/>
          </a:xfrm>
          <a:prstGeom prst="rect">
            <a:avLst/>
          </a:prstGeom>
          <a:solidFill>
            <a:srgbClr val="1465C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6276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FDR&lt;0.05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554480"/>
            <a:ext cx="822960" cy="365760"/>
          </a:xfrm>
          <a:prstGeom prst="rect">
            <a:avLst/>
          </a:prstGeom>
          <a:solidFill>
            <a:srgbClr val="1465C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62763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9933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Pathway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192024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199339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~500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79" y="192024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79" y="19933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多个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92024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1993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920240"/>
            <a:ext cx="82296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19933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CAF50"/>
                </a:solidFill>
              </a:defRPr>
            </a:pPr>
            <a:r>
              <a:t>✓ 冗余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286000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35915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KO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2286000"/>
            <a:ext cx="1005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23591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~6,000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79" y="2286000"/>
            <a:ext cx="82296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79" y="23591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多个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2286000"/>
            <a:ext cx="91440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23591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286000"/>
            <a:ext cx="82296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23591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CAF50"/>
                </a:solidFill>
              </a:defRPr>
            </a:pPr>
            <a:r>
              <a:t>✓ 冗余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65176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7249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GO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265176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272491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~13,000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79" y="265176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79" y="272491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1,577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265176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0" y="27249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2651760"/>
            <a:ext cx="82296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272491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CAF50"/>
                </a:solidFill>
              </a:defRPr>
            </a:pPr>
            <a:r>
              <a:t>✓ 冗余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017520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09067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PFAM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63040" y="3017520"/>
            <a:ext cx="1005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63040" y="309067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~7,600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79" y="3017520"/>
            <a:ext cx="82296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68879" y="309067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849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3017520"/>
            <a:ext cx="91440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0" y="30906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06240" y="3017520"/>
            <a:ext cx="82296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06240" y="309067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CAF50"/>
                </a:solidFill>
              </a:defRPr>
            </a:pPr>
            <a:r>
              <a:t>✓ 冗余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静默更替：Driver物种改变</a:t>
            </a:r>
          </a:p>
        </p:txBody>
      </p:sp>
      <p:pic>
        <p:nvPicPr>
          <p:cNvPr id="56" name="Picture 55" descr="91_part9_driver_species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4023360" cy="2873829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457200" y="3840480"/>
            <a:ext cx="8229600" cy="9144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结论：从Pathway→KO→GO→PFAM全层级FDR校正后均无显著差异</a:t>
            </a:r>
            <a:br/>
            <a:r>
              <a:t>功能冗余得到全面验证，但功能执行者已静默更替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结果4：共现网络——模块结构瓦解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网络拓扑变化 (Top 100物种)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2011680" cy="14630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HpKO (对照)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节点: 80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边数: 1,280</a:t>
            </a:r>
          </a:p>
          <a:p>
            <a:pPr>
              <a:defRPr sz="1100" b="1">
                <a:solidFill>
                  <a:srgbClr val="4CAF50"/>
                </a:solidFill>
              </a:defRPr>
            </a:pPr>
            <a:r>
              <a:t>模块度: 0.468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→ 清晰模块结构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94560"/>
            <a:ext cx="365760" cy="274320"/>
          </a:xfrm>
          <a:prstGeom prst="rightArrow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1600200"/>
            <a:ext cx="2011680" cy="14630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53935"/>
                </a:solidFill>
              </a:defRPr>
            </a:pPr>
            <a:r>
              <a:t>HpWT (CagA+)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节点: 100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边数: 2,190 (+71%)</a:t>
            </a:r>
          </a:p>
          <a:p>
            <a:pPr>
              <a:defRPr sz="1100" b="1">
                <a:solidFill>
                  <a:srgbClr val="E53935"/>
                </a:solidFill>
              </a:defRPr>
            </a:pPr>
            <a:r>
              <a:t>模块度: 0.177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→ 模块结构瓦解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00400"/>
            <a:ext cx="457200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模块度: 0.468 → 0.177 (降低62%)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Hub物种 (网络枢纽)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554480"/>
            <a:ext cx="3383280" cy="2286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16459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Top 5 Hub物种（按度排序）：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Blautia obeum (度=44)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Roseburia hominis (度=42)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Hungatella hathewayi (度=42)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7B1FA2"/>
                </a:solidFill>
              </a:defRPr>
            </a:pPr>
            <a:r>
              <a:t>特征：主要为厌氧梭菌类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功能：SCFA生产者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7B1FA2"/>
                </a:solidFill>
              </a:defRPr>
            </a:pPr>
            <a:r>
              <a:t>桥梁物种：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P. distasonis (介数=402)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39"/>
            <a:ext cx="8229600" cy="7772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结论：CagA导致网络模块度降低62%，物种间界限模糊</a:t>
            </a:r>
            <a:br/>
            <a:r>
              <a:t>→ 生态位重叠增加 → 解释功能冗余机制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结果5：细菌-噬菌体协同变化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噬菌体多样性显著降低 (P=0.032)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细菌-噬菌体高度协同：</a:t>
            </a:r>
          </a:p>
          <a:p>
            <a:pPr>
              <a:defRPr sz="1600" b="1">
                <a:solidFill>
                  <a:srgbClr val="4CAF50"/>
                </a:solidFill>
              </a:defRPr>
            </a:pPr>
            <a:r>
              <a:t>  • Mantel r=0.52, P=0.001</a:t>
            </a:r>
          </a:p>
          <a:p>
            <a:pPr>
              <a:defRPr sz="1600" b="1">
                <a:solidFill>
                  <a:srgbClr val="4CAF50"/>
                </a:solidFill>
              </a:defRPr>
            </a:pPr>
            <a:r>
              <a:t>  • Procrustes P=0.002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三角网络：17,848条边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1465C0"/>
                </a:solidFill>
              </a:defRPr>
            </a:pPr>
            <a:r>
              <a:t>级联效应：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CagA → 细菌 → 噬菌体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Mantel &amp; Procrustes分析</a:t>
            </a:r>
          </a:p>
        </p:txBody>
      </p:sp>
      <p:pic>
        <p:nvPicPr>
          <p:cNvPr id="6" name="Picture 5" descr="28_host_virus_assoc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54480"/>
            <a:ext cx="4297680" cy="18418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核心结论与后续计划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344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CagA显著重塑肠道菌群：Beta多样性P=0.012，选择性调控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9202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476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功能冗余全层级验证：Pathway→KO→GO→PFAM，FDR均无显著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060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334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网络模块结构瓦解：模块度降低62%，解释功能冗余机制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2918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Driver静默更替：益生菌↓致病菌↑，改变免疫刺激谱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977639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050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39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细菌-噬菌体协同：Mantel P=0.001，级联效应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6634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908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后续：代谢组学验证 + 整合肿瘤/T细胞表型数据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