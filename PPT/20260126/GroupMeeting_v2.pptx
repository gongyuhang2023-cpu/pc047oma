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Let me first introduce the research background.</a:t>
            </a:r>
          </a:p>
          <a:p/>
          <a:p>
            <a:r>
              <a:t>H. pylori CagA protein is a recognized Class I carcinogen. After being injected into host cells via Type IV secretion system, it disrupts key signaling pathways like Wnt and NF-κB, while causing gut microbiota dysbiosis, ultimately promoting tumor development.</a:t>
            </a:r>
          </a:p>
          <a:p/>
          <a:p>
            <a:r>
              <a:t>Key literature supporting this mechanism is listed on the right. Notably, Jones et al. 2017 demonstrated in Drosophila that CagA expression alone is sufficient to induce dysbiosis and epithelial hyperproliferation.</a:t>
            </a:r>
          </a:p>
          <a:p/>
          <a:p>
            <a:r>
              <a:t>This leads to our central question: What maintains CD8+ T-cell activation after CagA clearance?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 me introduce Apc mutation and genetic susceptibility.</a:t>
            </a:r>
          </a:p>
          <a:p/>
          <a:p>
            <a:r>
              <a:t>The left panel shows the Apc-Wnt pathway relationship. Normally, APC protein degrades β-catenin to maintain intestinal homeostasis. When Apc is mutated, β-catenin accumulates, eventually leading to tumor development. This is the classic "gatekeeper" mechanism in colorectal cancer.</a:t>
            </a:r>
          </a:p>
          <a:p/>
          <a:p>
            <a:r>
              <a:t>The right panel shows our G×E interaction hypothesis. Our preliminary data revealed an interesting phenomenon: CagA infection effects are highly dependent on host genetic background. In wild-type background, CagA has minimal effect; but in Apc-mutant background, CagA significantly restructures gut microbiota.</a:t>
            </a:r>
          </a:p>
          <a:p/>
          <a:p>
            <a:r>
              <a:t>Therefore, we designed a 2×3 factorial experiment, with the core comparison being CagA+ vs CagA- infection under Apc-mutant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central hypothesis — the Functional Footprint hypothesis.</a:t>
            </a:r>
          </a:p>
          <a:p/>
          <a:p>
            <a:r>
              <a:t>The logical chain is: Step 1, CagA infection restructures gut microbiota; Step 2, altered microbiota produces specific molecules; Step 3, these molecules persistently activate CD8+ T-cells; Step 4, ultimately promoting tumor development.</a:t>
            </a:r>
          </a:p>
          <a:p/>
          <a:p>
            <a:r>
              <a:t>This presentation covers verification of the first half of the hypothesis. We have confirmed significant microbiota restructuring, discovered G×E interaction, revealed Driver species shifts under functional redundancy, and phage coordination.</a:t>
            </a:r>
          </a:p>
          <a:p/>
          <a:p>
            <a:r>
              <a:t>The latter half — metabolite identification and correlation with tumor/T-cell phenotypes — requires subsequent metabolomics and phenotype data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slide shows our analysis pipeline.</a:t>
            </a:r>
          </a:p>
          <a:p/>
          <a:p>
            <a:r>
              <a:t>Starting from 27 cecum samples, we performed three major analyses:</a:t>
            </a:r>
          </a:p>
          <a:p/>
          <a:p>
            <a:r>
              <a:t>First, species composition analysis using Kraken2 and Bracken for taxonomic classification, focusing on community structure and G×E interaction, with core result of P=0.012.</a:t>
            </a:r>
          </a:p>
          <a:p/>
          <a:p>
            <a:r>
              <a:t>Second, functional potential analysis using HUMAnN4 for pathway annotation, focusing on functional redundancy and Driver species shift.</a:t>
            </a:r>
          </a:p>
          <a:p/>
          <a:p>
            <a:r>
              <a:t>Third, OTU and phage analysis using SingleM and Lyrebird, focusing on phylogenetic structure and bacteria-phage coordination, finding strong association at P=0.001.</a:t>
            </a:r>
          </a:p>
          <a:p/>
          <a:p>
            <a:r>
              <a:t>Integrating all three modules: CagA restructures microbiota via G×E interaction, shows functional redundancy with Driver shift, and bacteria-phage are highly coordinated.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Now let's look at the specific results.</a:t>
            </a:r>
          </a:p>
          <a:p/>
          <a:p>
            <a:r>
              <a:t>First, species composition analysis. Core comparison shows significant beta diversity difference at P=0.012.</a:t>
            </a:r>
          </a:p>
          <a:p/>
          <a:p>
            <a:r>
              <a:t>2×3 factorial analysis revealed significant Genotype×Infection interaction at P=0.024.</a:t>
            </a:r>
          </a:p>
          <a:p/>
          <a:p>
            <a:r>
              <a:t>Key finding: In Apc-mutant background, CagA effect is significant (P=0.007, explaining 33.6% variance); in wild-type background, effect is absent (P=0.338).</a:t>
            </a:r>
          </a:p>
          <a:p/>
          <a:p>
            <a:r>
              <a:t>This confirms our hypothesis: CagA's microbiota-restructuring effect requires the Apc-mutant susceptible background.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Second core result is functional redundancy and Silent Shift.</a:t>
            </a:r>
          </a:p>
          <a:p/>
          <a:p>
            <a:r>
              <a:t>Species-level interaction is significant (P=0.024), but function-level is not (P=0.223) - classic functional redundancy.</a:t>
            </a:r>
          </a:p>
          <a:p/>
          <a:p>
            <a:r>
              <a:t>Part 9 stratified analysis revealed "Silent Shift": while total function appears unchanged, the species executing these functions have undergone major shifts. Probiotics like L. johnsonii decreased 50%, while inflammation-associated M. schaedleri increased 57%.</a:t>
            </a:r>
          </a:p>
          <a:p/>
          <a:p>
            <a:r>
              <a:t>This means: beneath the surface of functional stability, drivers have shifted from probiotics to potential pathogens.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Third important finding is phage coordination.</a:t>
            </a:r>
          </a:p>
          <a:p/>
          <a:p>
            <a:r>
              <a:t>First, CagA infection significantly reduced phage alpha diversity at P=0.032.</a:t>
            </a:r>
          </a:p>
          <a:p/>
          <a:p>
            <a:r>
              <a:t>More importantly, bacteria and phage communities are highly coordinated. Mantel test r=0.52, P=0.001; Procrustes P=0.002.</a:t>
            </a:r>
          </a:p>
          <a:p/>
          <a:p>
            <a:r>
              <a:t>Our tripartite network contains 17,848 edges, with bacteria-phage being the strongest. This suggests CagA's effect is transmitted and amplified through the bacteria-phage-function network.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Finally, core conclusions.</a:t>
            </a:r>
          </a:p>
          <a:p/>
          <a:p>
            <a:r>
              <a:t>First, confirmed G×E interaction - CagA effect requires Apc-mutant background.</a:t>
            </a:r>
          </a:p>
          <a:p/>
          <a:p>
            <a:r>
              <a:t>Second, discovered functional redundancy and Silent Shift - function stable but drivers changed.</a:t>
            </a:r>
          </a:p>
          <a:p/>
          <a:p>
            <a:r>
              <a:t>Third, revealed phage coordination - bacteria and phage highly associated.</a:t>
            </a:r>
          </a:p>
          <a:p/>
          <a:p>
            <a:r>
              <a:t>Next steps: metabolomics validation and integration with tumor/T-cell phenotype data.</a:t>
            </a:r>
          </a:p>
          <a:p/>
          <a:p>
            <a:r>
              <a:t>Thank you for your attention!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CagA-Dependent Gut Microbiome Restructuring</a:t>
            </a:r>
            <a:br/>
            <a:r>
              <a:t>and Functional Redundancy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0D47A1"/>
                </a:solidFill>
              </a:defRPr>
            </a:pPr>
            <a:r>
              <a:t>PC047 vCagAepitope Microbiome Analysis Progress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1148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333333"/>
                </a:solidFill>
              </a:defRPr>
            </a:pPr>
            <a:r>
              <a:t>2026-01-18</a:t>
            </a:r>
            <a:br/>
            <a:r>
              <a:t>Presenter: Yuhang Gong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Background: CagA and Intestinal Tumors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H. pylori CagA Pathogenesis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H. pylori</a:t>
            </a:r>
            <a:br/>
            <a:r>
              <a:t>Infection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1554480"/>
            <a:ext cx="1645920" cy="45720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CagA Injection</a:t>
            </a:r>
            <a:br/>
            <a:r>
              <a:t>into Host Cell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Disrupt Wnt/</a:t>
            </a:r>
            <a:br/>
            <a:r>
              <a:t>NF-κB Pathways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377440" y="2286000"/>
            <a:ext cx="164592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333333"/>
                </a:solidFill>
              </a:defRPr>
            </a:pPr>
            <a:r>
              <a:t>Gut Microbiota</a:t>
            </a:r>
            <a:br/>
            <a:r>
              <a:t>Dysbiosis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17320" y="310896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FFFFFF"/>
                </a:solidFill>
              </a:defRPr>
            </a:pPr>
            <a:r>
              <a:t>Tumor Promotion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148840" y="1691640"/>
            <a:ext cx="182880" cy="13716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Down Arrow 10"/>
          <p:cNvSpPr/>
          <p:nvPr/>
        </p:nvSpPr>
        <p:spPr>
          <a:xfrm>
            <a:off x="128016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Down Arrow 11"/>
          <p:cNvSpPr/>
          <p:nvPr/>
        </p:nvSpPr>
        <p:spPr>
          <a:xfrm>
            <a:off x="3200400" y="205740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Down Arrow 12"/>
          <p:cNvSpPr/>
          <p:nvPr/>
        </p:nvSpPr>
        <p:spPr>
          <a:xfrm>
            <a:off x="128016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Down Arrow 13"/>
          <p:cNvSpPr/>
          <p:nvPr/>
        </p:nvSpPr>
        <p:spPr>
          <a:xfrm>
            <a:off x="3200400" y="2880360"/>
            <a:ext cx="137160" cy="18288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0D47A1"/>
                </a:solidFill>
              </a:defRPr>
            </a:pPr>
            <a:r>
              <a:t>Key Literature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155448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Jones et al. 2017, PLoS Pathog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4880" y="1828800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Drosophila: CagA alone induces</a:t>
            </a:r>
            <a:br/>
            <a:r>
              <a:t>dysbiosis and epithelial proliferation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0" y="233172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Cui et al. 2025, BMC Gastro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54880" y="260603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Clinical: CagA+ strains affect</a:t>
            </a:r>
            <a:br/>
            <a:r>
              <a:t>colorectal lesions via gut microbiota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3108960"/>
            <a:ext cx="4114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465C0"/>
                </a:solidFill>
              </a:defRPr>
            </a:pPr>
            <a:r>
              <a:t>• Ding et al. 2025, Cell Host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383279"/>
            <a:ext cx="3931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Phage can eliminate tumor-</a:t>
            </a:r>
            <a:br/>
            <a:r>
              <a:t>promoting bacteria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840480"/>
            <a:ext cx="8229600" cy="73152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977639"/>
            <a:ext cx="78638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Central Question: What maintains CD8+ T-cell activation after CagA clearance?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Background: Apc Mutation and Genetic Susceptibility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Apc Mutation → Constitutive Wnt Activation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4CAF50"/>
                </a:solidFill>
              </a:defRPr>
            </a:pPr>
            <a:r>
              <a:t>Normal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</a:t>
            </a:r>
          </a:p>
        </p:txBody>
      </p:sp>
      <p:sp>
        <p:nvSpPr>
          <p:cNvPr id="7" name="Right Arrow 6"/>
          <p:cNvSpPr/>
          <p:nvPr/>
        </p:nvSpPr>
        <p:spPr>
          <a:xfrm>
            <a:off x="141732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737360" y="173736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Degradation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880360" y="182880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73736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Homeostasis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E53935"/>
                </a:solidFill>
              </a:defRPr>
            </a:pPr>
            <a:r>
              <a:t>Apc Mutant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FFFF"/>
                </a:solidFill>
              </a:defRPr>
            </a:pPr>
            <a:r>
              <a:t>APC 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41732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737360" y="2560320"/>
            <a:ext cx="109728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β-catenin</a:t>
            </a:r>
            <a:br/>
            <a:r>
              <a:t>Accumulation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2880360" y="2651760"/>
            <a:ext cx="274320" cy="18288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200400" y="2560320"/>
            <a:ext cx="914400" cy="36576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Tumor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09728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G×E Interaction Hypothesis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463040"/>
            <a:ext cx="1371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182880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CagA-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0" y="2560320"/>
            <a:ext cx="731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333333"/>
                </a:solidFill>
              </a:defRPr>
            </a:pPr>
            <a:r>
              <a:t>CagA+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4CAF5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Normal</a:t>
            </a:r>
            <a:br/>
            <a:r>
              <a:t>Microbiota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132320" y="178308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Mild</a:t>
            </a:r>
            <a:br/>
            <a:r>
              <a:t>Dysbiosis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333333"/>
                </a:solidFill>
              </a:defRPr>
            </a:pPr>
            <a:r>
              <a:t>No Effect</a:t>
            </a:r>
            <a:br/>
            <a:r>
              <a:t>P=0.338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32320" y="2514600"/>
            <a:ext cx="1371600" cy="548640"/>
          </a:xfrm>
          <a:prstGeom prst="roundRect">
            <a:avLst>
              <a:gd name="adj" fmla="val 10000"/>
            </a:avLst>
          </a:prstGeom>
          <a:solidFill>
            <a:srgbClr val="E5393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</a:defRPr>
            </a:pPr>
            <a:r>
              <a:t>Significant</a:t>
            </a:r>
            <a:br/>
            <a:r>
              <a:t>P=0.007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2004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D47A1"/>
                </a:solidFill>
              </a:defRPr>
            </a:pPr>
            <a:r>
              <a:t>→ CagA effect requires Apc-mutant susceptible background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3200400"/>
            <a:ext cx="4114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Experimental Design: 2×3 Factorial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BBDEFB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ApcWT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2011680" y="3566160"/>
            <a:ext cx="1371600" cy="365760"/>
          </a:xfrm>
          <a:prstGeom prst="roundRect">
            <a:avLst>
              <a:gd name="adj" fmla="val 10000"/>
            </a:avLst>
          </a:prstGeom>
          <a:solidFill>
            <a:srgbClr val="FF980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333333"/>
                </a:solidFill>
              </a:defRPr>
            </a:pPr>
            <a:r>
              <a:t>ApcMUT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Ctrl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73736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HpKO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017520" y="4023360"/>
            <a:ext cx="1097280" cy="32004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333333"/>
                </a:solidFill>
              </a:defRPr>
            </a:pPr>
            <a:r>
              <a:t>HpWT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560320" y="4434840"/>
            <a:ext cx="1554480" cy="320040"/>
          </a:xfrm>
          <a:prstGeom prst="roundRect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60320" y="4453128"/>
            <a:ext cx="1554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Core Comparison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Central Hypothesis: Functional Footprint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365760" cy="365760"/>
          </a:xfrm>
          <a:prstGeom prst="ellipse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1465C0"/>
                </a:solidFill>
              </a:defRPr>
            </a:pPr>
            <a:r>
              <a:t>CagA Infection</a:t>
            </a:r>
            <a:br/>
            <a:r>
              <a:t>Restructures Microbiota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14884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468880" y="1280160"/>
            <a:ext cx="365760" cy="365760"/>
          </a:xfrm>
          <a:prstGeom prst="ellipse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6888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6888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09688"/>
                </a:solidFill>
              </a:defRPr>
            </a:pPr>
            <a:r>
              <a:t>Microbiota Produces</a:t>
            </a:r>
            <a:br/>
            <a:r>
              <a:t>Specific Molecules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6052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480560" y="1280160"/>
            <a:ext cx="365760" cy="365760"/>
          </a:xfrm>
          <a:prstGeom prst="ellipse">
            <a:avLst/>
          </a:prstGeom>
          <a:solidFill>
            <a:srgbClr val="FF98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48056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9800"/>
                </a:solidFill>
              </a:defRPr>
            </a:pPr>
            <a:r>
              <a:t>Persistent CD8+</a:t>
            </a:r>
            <a:br/>
            <a:r>
              <a:t>T-cell Activation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6172200" y="1965960"/>
            <a:ext cx="640080" cy="228600"/>
          </a:xfrm>
          <a:prstGeom prst="right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492240" y="1280160"/>
            <a:ext cx="365760" cy="365760"/>
          </a:xfrm>
          <a:prstGeom prst="ellipse">
            <a:avLst/>
          </a:prstGeom>
          <a:solidFill>
            <a:srgbClr val="E539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325880"/>
            <a:ext cx="365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92240" y="1737360"/>
            <a:ext cx="1645920" cy="640080"/>
          </a:xfrm>
          <a:prstGeom prst="roundRect">
            <a:avLst>
              <a:gd name="adj" fmla="val 10000"/>
            </a:avLst>
          </a:prstGeom>
          <a:solidFill>
            <a:srgbClr val="F5F5F5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E53935"/>
                </a:solidFill>
              </a:defRPr>
            </a:pPr>
            <a:r>
              <a:t>Tumor</a:t>
            </a:r>
            <a:br/>
            <a:r>
              <a:t>Promotion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5176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0D47A1"/>
                </a:solidFill>
              </a:defRPr>
            </a:pPr>
            <a:r>
              <a:t>Scope of This Study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017520"/>
            <a:ext cx="384048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108960"/>
            <a:ext cx="3474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4CAF50"/>
                </a:solidFill>
              </a:defRPr>
            </a:pPr>
            <a:r>
              <a:t>✓ Verified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3383280"/>
            <a:ext cx="3474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Microbiota restructured (P=0.012)</a:t>
            </a:r>
            <a:br/>
            <a:r>
              <a:t>• G×E interaction confirmed (P=0.024)</a:t>
            </a:r>
            <a:br/>
            <a:r>
              <a:t>• Functional redundancy &amp; Driver shift</a:t>
            </a:r>
            <a:br/>
            <a:r>
              <a:t>• Phage coordination (P=0.001)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0" y="3017520"/>
            <a:ext cx="41148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FF9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54880" y="3108960"/>
            <a:ext cx="3749039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9800"/>
                </a:solidFill>
              </a:defRPr>
            </a:pPr>
            <a:r>
              <a:t>○ Pending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54880" y="3383280"/>
            <a:ext cx="374903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333333"/>
                </a:solidFill>
              </a:defRPr>
            </a:pPr>
            <a:r>
              <a:t>• Metabolomics: Specific metabolite ID</a:t>
            </a:r>
            <a:br/>
            <a:r>
              <a:t>• Transcriptomics: Gene expression validation</a:t>
            </a:r>
            <a:br/>
            <a:r>
              <a:t>• Integration with tumor/T-cell phenotypes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Analysis Pipeline Overview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188720"/>
            <a:ext cx="2194560" cy="457200"/>
          </a:xfrm>
          <a:prstGeom prst="roundRect">
            <a:avLst>
              <a:gd name="adj" fmla="val 10000"/>
            </a:avLst>
          </a:prstGeom>
          <a:solidFill>
            <a:srgbClr val="1465C0"/>
          </a:solidFill>
          <a:ln w="1270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</a:defRPr>
            </a:pPr>
            <a:r>
              <a:t>Cecum Samples (n=27)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828800"/>
            <a:ext cx="2743200" cy="41148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01 Species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Kraken2/Bracken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146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Community</a:t>
            </a:r>
            <a:br/>
            <a:r>
              <a:t>G×E Interaction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59" y="3383280"/>
            <a:ext cx="1645920" cy="365760"/>
          </a:xfrm>
          <a:prstGeom prst="round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P=0.012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1828800"/>
            <a:ext cx="2743200" cy="41148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02 Functional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HUMAnN4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47472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Pathways</a:t>
            </a:r>
            <a:br/>
            <a:r>
              <a:t>Driver Shift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749039" y="3383280"/>
            <a:ext cx="1645920" cy="36576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749039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Redundancy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26480" y="1828800"/>
            <a:ext cx="2743200" cy="41148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0" y="1874519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03 OTU/Phage Analysis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26480" y="22860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i="1">
                <a:solidFill>
                  <a:srgbClr val="333333"/>
                </a:solidFill>
              </a:defRPr>
            </a:pPr>
            <a:r>
              <a:t>SingleM/Lyrebird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2651760"/>
            <a:ext cx="2194560" cy="640080"/>
          </a:xfrm>
          <a:prstGeom prst="roundRect">
            <a:avLst/>
          </a:prstGeom>
          <a:solidFill>
            <a:srgbClr val="F5F5F5"/>
          </a:solidFill>
          <a:ln>
            <a:solidFill>
              <a:srgbClr val="7B1FA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269748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>
                <a:solidFill>
                  <a:srgbClr val="333333"/>
                </a:solidFill>
              </a:defRPr>
            </a:pPr>
            <a:r>
              <a:t>Phylogeny</a:t>
            </a:r>
            <a:br/>
            <a:r>
              <a:t>Bacteria-Phage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675120" y="3383280"/>
            <a:ext cx="1645920" cy="365760"/>
          </a:xfrm>
          <a:prstGeom prst="round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75120" y="3410712"/>
            <a:ext cx="16459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P=0.001</a:t>
            </a:r>
          </a:p>
        </p:txBody>
      </p:sp>
      <p:sp>
        <p:nvSpPr>
          <p:cNvPr id="26" name="Down Arrow 25"/>
          <p:cNvSpPr/>
          <p:nvPr/>
        </p:nvSpPr>
        <p:spPr>
          <a:xfrm>
            <a:off x="429768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5669279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Down Arrow 27"/>
          <p:cNvSpPr/>
          <p:nvPr/>
        </p:nvSpPr>
        <p:spPr>
          <a:xfrm>
            <a:off x="72237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Down Arrow 28"/>
          <p:cNvSpPr/>
          <p:nvPr/>
        </p:nvSpPr>
        <p:spPr>
          <a:xfrm>
            <a:off x="8595360" y="1691640"/>
            <a:ext cx="182880" cy="109728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8229600" cy="822960"/>
          </a:xfrm>
          <a:prstGeom prst="round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023360"/>
            <a:ext cx="78638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Integration: CagA restructures microbiota via G×E → Functional redundancy with Driver shift → Bacteria-phage coordination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1: Species - G×E Interaction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Core comparison: Beta diversity </a:t>
            </a:r>
            <a:r>
              <a:rPr sz="1800" b="1">
                <a:solidFill>
                  <a:srgbClr val="4CAF50"/>
                </a:solidFill>
              </a:rPr>
              <a:t>P=0.012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2×3 factorial: Interaction </a:t>
            </a:r>
            <a:r>
              <a:rPr sz="1800" b="1">
                <a:solidFill>
                  <a:srgbClr val="4CAF50"/>
                </a:solidFill>
              </a:rPr>
              <a:t>P=0.024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ApcMUT: </a:t>
            </a:r>
            <a:r>
              <a:rPr sz="1800" b="1">
                <a:solidFill>
                  <a:srgbClr val="4CAF50"/>
                </a:solidFill>
              </a:rPr>
              <a:t>P=0.007</a:t>
            </a:r>
            <a:r>
              <a:rPr sz="1800">
                <a:solidFill>
                  <a:srgbClr val="333333"/>
                </a:solidFill>
              </a:rPr>
              <a:t>, R²=33.6%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ApcWT: P=0.338, effect absent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Conclusion: CagA requires </a:t>
            </a:r>
            <a:r>
              <a:rPr sz="1800" b="1">
                <a:solidFill>
                  <a:srgbClr val="4CAF50"/>
                </a:solidFill>
              </a:rPr>
              <a:t>Apc-mutant background</a:t>
            </a:r>
            <a:r>
              <a:rPr sz="1800">
                <a:solidFill>
                  <a:srgbClr val="333333"/>
                </a:solidFill>
              </a:rPr>
              <a:t/>
            </a:r>
          </a:p>
        </p:txBody>
      </p:sp>
      <p:pic>
        <p:nvPicPr>
          <p:cNvPr id="5" name="Picture 4" descr="43_part4_pcoa_full_6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14553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2: Functional Redundancy &amp; Silent Shift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Species interaction P=0.024 vs Function P=0.223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Functional redundancy</a:t>
            </a:r>
            <a:r>
              <a:rPr sz="1800">
                <a:solidFill>
                  <a:srgbClr val="333333"/>
                </a:solidFill>
              </a:rPr>
              <a:t>: Species change, function stable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</a:t>
            </a:r>
            <a:r>
              <a:rPr sz="1800" b="1">
                <a:solidFill>
                  <a:srgbClr val="4CAF50"/>
                </a:solidFill>
              </a:rPr>
              <a:t>Silent Shift phenomenon</a:t>
            </a:r>
            <a:r>
              <a:rPr sz="1800">
                <a:solidFill>
                  <a:srgbClr val="333333"/>
                </a:solidFill>
              </a:rPr>
              <a:t>: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  - Probiotics↓: L. johnsonii (-50%)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  - Pathobionts↑: M. schaedleri (+57%)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Drivers shifted: </a:t>
            </a:r>
            <a:r>
              <a:rPr sz="1800" b="1">
                <a:solidFill>
                  <a:srgbClr val="4CAF50"/>
                </a:solidFill>
              </a:rPr>
              <a:t>Probiotics → Pathobionts</a:t>
            </a:r>
            <a:r>
              <a:rPr sz="1800">
                <a:solidFill>
                  <a:srgbClr val="333333"/>
                </a:solidFill>
              </a:rPr>
              <a:t/>
            </a:r>
          </a:p>
        </p:txBody>
      </p:sp>
      <p:pic>
        <p:nvPicPr>
          <p:cNvPr id="5" name="Picture 4" descr="91_part9_driver_species_sh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280851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Result 3: Phage Coordination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41148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Phage diversity </a:t>
            </a:r>
            <a:r>
              <a:rPr sz="1800" b="1">
                <a:solidFill>
                  <a:srgbClr val="4CAF50"/>
                </a:solidFill>
              </a:rPr>
              <a:t>significantly decreased</a:t>
            </a:r>
            <a:r>
              <a:rPr sz="1800">
                <a:solidFill>
                  <a:srgbClr val="333333"/>
                </a:solidFill>
              </a:rPr>
              <a:t> (P=0.032)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Bacteria-phage </a:t>
            </a:r>
            <a:r>
              <a:rPr sz="1800" b="1">
                <a:solidFill>
                  <a:srgbClr val="4CAF50"/>
                </a:solidFill>
              </a:rPr>
              <a:t>highly coordinated</a:t>
            </a:r>
            <a:r>
              <a:rPr sz="1800">
                <a:solidFill>
                  <a:srgbClr val="333333"/>
                </a:solidFill>
              </a:rPr>
              <a:t>:</a:t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Mantel r=0.52, </a:t>
            </a:r>
            <a:r>
              <a:rPr sz="1800" b="1">
                <a:solidFill>
                  <a:srgbClr val="4CAF50"/>
                </a:solidFill>
              </a:rPr>
              <a:t>P=0.001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  - Procrustes </a:t>
            </a:r>
            <a:r>
              <a:rPr sz="1800" b="1">
                <a:solidFill>
                  <a:srgbClr val="4CAF50"/>
                </a:solidFill>
              </a:rPr>
              <a:t>P=0.002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</a:pPr>
            <a:r>
              <a:rPr sz="1800">
                <a:solidFill>
                  <a:srgbClr val="333333"/>
                </a:solidFill>
              </a:rPr>
              <a:t>• Tripartite network: </a:t>
            </a:r>
            <a:r>
              <a:rPr sz="1800" b="1">
                <a:solidFill>
                  <a:srgbClr val="4CAF50"/>
                </a:solidFill>
              </a:rPr>
              <a:t>17,848 edges</a:t>
            </a:r>
            <a:r>
              <a:rPr sz="1800">
                <a:solidFill>
                  <a:srgbClr val="333333"/>
                </a:solidFill>
              </a:rPr>
              <a:t/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CagA effect transmitted via network</a:t>
            </a:r>
          </a:p>
        </p:txBody>
      </p:sp>
      <p:pic>
        <p:nvPicPr>
          <p:cNvPr id="5" name="Picture 4" descr="06_tripartite_net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280160"/>
            <a:ext cx="3931920" cy="337021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Conclusions &amp; Future Directions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2801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2801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G×E interaction: CagA effect requires Apc-mutant background (P=0.007 vs P=0.338)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1945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2402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1945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Functional redundancy &amp; Silent Shift: Function stable but Drivers changed</a:t>
            </a:r>
          </a:p>
        </p:txBody>
      </p:sp>
      <p:sp>
        <p:nvSpPr>
          <p:cNvPr id="10" name="Oval 9"/>
          <p:cNvSpPr/>
          <p:nvPr/>
        </p:nvSpPr>
        <p:spPr>
          <a:xfrm>
            <a:off x="457200" y="31089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154679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31089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Phage coordination: CagA reduces phage diversity; Bacteria-phage P=0.001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023360"/>
            <a:ext cx="457200" cy="457200"/>
          </a:xfrm>
          <a:prstGeom prst="ellipse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406908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4023360"/>
            <a:ext cx="7589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333333"/>
                </a:solidFill>
              </a:defRPr>
            </a:pPr>
            <a:r>
              <a:t>Next: Metabolomics validation + Tumor/T-cell phenotype integration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Questions &amp; Discussion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594860"/>
            <a:ext cx="7315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465C0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