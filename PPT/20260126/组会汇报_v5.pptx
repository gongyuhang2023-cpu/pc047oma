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首先介绍研究背景。（30秒）</a:t>
            </a:r>
          </a:p>
          <a:p/>
          <a:p>
            <a:r>
              <a:t>CagA蛋白通过IV型分泌系统注入宿主细胞，干扰Wnt和NF-κB信号通路，同时导致肠道菌群失调，最终促进肿瘤发生。</a:t>
            </a:r>
          </a:p>
          <a:p/>
          <a:p>
            <a:r>
              <a:t>核心科学问题：CagA抗原清除后，肠道内是什么因素维持着CD8+ T细胞的持续激活？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Apc突变与G×E交互作用。（30秒）</a:t>
            </a:r>
          </a:p>
          <a:p/>
          <a:p>
            <a:r>
              <a:t>CagA感染的效应高度依赖宿主遗传背景。野生型背景下CagA几乎无效应（P=0.387），但在Apc突变背景下显著重塑菌群（P=0.039）。</a:t>
            </a:r>
          </a:p>
          <a:p/>
          <a:p>
            <a:r>
              <a:t>核心比较是Apc突变背景下CagA阳性和阴性组。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这是核心假说——Functional Footprint假说。（30秒）</a:t>
            </a:r>
          </a:p>
          <a:p/>
          <a:p>
            <a:r>
              <a:t>假说逻辑链：CagA感染重塑菌群 → 产生特异性分子 → 持续激活CD8+ T细胞 → 促进肿瘤发生。</a:t>
            </a:r>
          </a:p>
          <a:p/>
          <a:p>
            <a:r>
              <a:t>本次验证的前半部分：菌群重塑确认、G×E交互验证、功能冗余（GO/PFAM全层级验证）、网络结构瓦解（模块度降低62%）。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分析流程概览。（30秒）</a:t>
            </a:r>
          </a:p>
          <a:p/>
          <a:p>
            <a:r>
              <a:t>三大分析模块：物种组成分析（9个比较5个显著）、功能潜力分析（从Pathway到PFAM全层级功能冗余）、网络/噬菌体分析（模块度降低62%）。</a:t>
            </a:r>
          </a:p>
          <a:p/>
          <a:p>
            <a:r>
              <a:t>整合结论：CagA重塑细菌菌群，功能冗余但网络结构瓦解，噬菌体协同变化。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CagA对肠道菌群的核心效应。（30秒）</a:t>
            </a:r>
          </a:p>
          <a:p/>
          <a:p>
            <a:r>
              <a:t>CagA显著改变菌群结构（Beta P=0.012），但不改变整体多样性（Alpha P=0.73）。这说明CagA是选择性调控特定菌群，而非全面破坏。29个物种与CagA感染显著关联。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CagA到底影响什么？（30秒）</a:t>
            </a:r>
          </a:p>
          <a:p/>
          <a:p>
            <a:r>
              <a:t>细菌9个比较5个显著，核心CagA效应P=0.039，完全验证G×E交互。</a:t>
            </a:r>
          </a:p>
          <a:p/>
          <a:p>
            <a:r>
              <a:t>病毒9个比较0个显著，核心CagA比较P=0.604。</a:t>
            </a:r>
          </a:p>
          <a:p/>
          <a:p>
            <a:r>
              <a:t>结论：CagA主要通过重塑细菌群落影响肠道微环境。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功能冗余全层级验证。（45秒）</a:t>
            </a:r>
          </a:p>
          <a:p/>
          <a:p>
            <a:r>
              <a:t>从粗到细的四个功能层面——Pathway、KO、GO、PFAM——FDR校正后均无显著差异，功能冗余得到全面验证。</a:t>
            </a:r>
          </a:p>
          <a:p/>
          <a:p>
            <a:r>
              <a:t>但分层分析揭示"静默更替"：功能总量不变，执行者已换。益生菌L. johnsonii下降50%，炎症相关菌M. schaedleri上升57%。</a:t>
            </a:r>
          </a:p>
          <a:p/>
          <a:p>
            <a:r>
              <a:t>这解释了为什么物种变化但功能稳定——不同物种可以执行相同功能。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共现网络分析——模块结构瓦解。（45秒）</a:t>
            </a:r>
          </a:p>
          <a:p/>
          <a:p>
            <a:r>
              <a:t>对照组HpKO：80个节点，1280条边，模块度0.468，有清晰的功能模块。</a:t>
            </a:r>
          </a:p>
          <a:p/>
          <a:p>
            <a:r>
              <a:t>CagA感染组HpWT：100个节点，2190条边增加71%，模块度降到0.177。</a:t>
            </a:r>
          </a:p>
          <a:p/>
          <a:p>
            <a:r>
              <a:t>模块度降低62%意味着物种间界限模糊，生态位重叠增加。这从网络层面解释了功能冗余的机制——原本各司其职的物种现在功能重叠了。</a:t>
            </a:r>
          </a:p>
          <a:p/>
          <a:p>
            <a:r>
              <a:t>Hub物种主要是SCFA生产者，桥梁物种P. distasonis可能是关键免疫调节点。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细菌-噬菌体协同变化。（30秒）</a:t>
            </a:r>
          </a:p>
          <a:p/>
          <a:p>
            <a:r>
              <a:t>虽然CagA不直接影响病毒组，但细菌的变化带动了噬菌体的改变。噬菌体多样性显著降低（P=0.032），细菌和噬菌体群落高度协同（Mantel P=0.001）。</a:t>
            </a:r>
          </a:p>
          <a:p/>
          <a:p>
            <a:r>
              <a:t>这说明CagA的效应通过级联传递：CagA改变细菌，细菌改变噬菌体。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核心结论。（45秒）</a:t>
            </a:r>
          </a:p>
          <a:p/>
          <a:p>
            <a:r>
              <a:t>第一，CagA显著重塑菌群结构，选择性调控而非全面破坏。</a:t>
            </a:r>
          </a:p>
          <a:p/>
          <a:p>
            <a:r>
              <a:t>第二，功能冗余得到全层级验证——从Pathway到PFAM，FDR均无显著差异。</a:t>
            </a:r>
          </a:p>
          <a:p/>
          <a:p>
            <a:r>
              <a:t>第三，网络模块结构瓦解，模块度降低62%，这从网络层面解释了功能冗余机制。</a:t>
            </a:r>
          </a:p>
          <a:p/>
          <a:p>
            <a:r>
              <a:t>第四，Driver物种静默更替，从益生菌转向致病菌。</a:t>
            </a:r>
          </a:p>
          <a:p/>
          <a:p>
            <a:r>
              <a:t>第五，细菌和噬菌体高度协同，存在级联效应。</a:t>
            </a:r>
          </a:p>
          <a:p/>
          <a:p>
            <a:r>
              <a:t>后续计划：代谢组学验证，整合肿瘤和T细胞表型数据。</a:t>
            </a:r>
          </a:p>
          <a:p/>
          <a:p>
            <a:r>
              <a:t>感谢大家聆听！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CagA依赖性肠道微生物组重塑</a:t>
            </a:r>
            <a:br/>
            <a:r>
              <a:t>及其功能冗余特征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D47A1"/>
                </a:solidFill>
              </a:defRPr>
            </a:pPr>
            <a:r>
              <a:t>PC047 vCagAepitope 微生物组分析进展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2026-01-26</a:t>
            </a:r>
            <a:br/>
            <a:r>
              <a:t>汇报人：龚宇航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研究背景：CagA与肠道肿瘤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H. pylori CagA 致病机制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H. pylori</a:t>
            </a:r>
            <a:br/>
            <a:r>
              <a:t>感染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5544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CagA蛋白</a:t>
            </a:r>
            <a:br/>
            <a:r>
              <a:t>注入宿主细胞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干扰Wnt/NF-κB</a:t>
            </a:r>
            <a:br/>
            <a:r>
              <a:t>信号通路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22860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肠道菌群</a:t>
            </a:r>
            <a:br/>
            <a:r>
              <a:t>失调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310896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</a:defRPr>
            </a:pPr>
            <a:r>
              <a:t>促进肿瘤发生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48840" y="1691640"/>
            <a:ext cx="182880" cy="13716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1280160" y="205740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3200400" y="205740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1280160" y="288036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3200400" y="288036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关键文献支持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5544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65C0"/>
                </a:solidFill>
              </a:defRPr>
            </a:pPr>
            <a:r>
              <a:t>• Jones et al. 2017, PLoS Pathog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82880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果蝇模型：CagA单独表达即可</a:t>
            </a:r>
            <a:br/>
            <a:r>
              <a:t>诱导菌群失调和上皮过度增殖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317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65C0"/>
                </a:solidFill>
              </a:defRPr>
            </a:pPr>
            <a:r>
              <a:t>• Cui et al. 2025, BMC Gastro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606039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临床研究：CagA+菌株通过</a:t>
            </a:r>
            <a:br/>
            <a:r>
              <a:t>调节肠道菌群影响结直肠病变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1089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65C0"/>
                </a:solidFill>
              </a:defRPr>
            </a:pPr>
            <a:r>
              <a:t>• Ding et al. 2025, Cell Host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383279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噬菌体可靶向清除促肿瘤</a:t>
            </a:r>
            <a:br/>
            <a:r>
              <a:t>细菌并恢复化疗敏感性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40480"/>
            <a:ext cx="8229600" cy="7315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39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核心问题：CagA抗原清除后，肠道内什么因素维持CD8+ T细胞的持续激活？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研究背景：Apc突变与遗传易感性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Apc突变 → Wnt通路持续激活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AF50"/>
                </a:solidFill>
              </a:defRPr>
            </a:pPr>
            <a:r>
              <a:t>正常状态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APC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417320" y="182880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37360" y="173736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β-catenin</a:t>
            </a:r>
            <a:br/>
            <a:r>
              <a:t>降解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80360" y="182880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173736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稳态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53935"/>
                </a:solidFill>
              </a:defRPr>
            </a:pPr>
            <a:r>
              <a:t>Apc突变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APC ✗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417320" y="265176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37360" y="256032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β-catenin</a:t>
            </a:r>
            <a:br/>
            <a:r>
              <a:t>累积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880360" y="265176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0" y="256032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肿瘤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G×E 交互作用假说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4630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ApcWT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4630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ApcMUT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28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CagA-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560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CagA+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178308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正常</a:t>
            </a:r>
            <a:br/>
            <a:r>
              <a:t>菌群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178308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</a:defRPr>
            </a:pPr>
            <a:r>
              <a:t>轻度</a:t>
            </a:r>
            <a:br/>
            <a:r>
              <a:t>失调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251460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</a:defRPr>
            </a:pPr>
            <a:r>
              <a:t>无效应</a:t>
            </a:r>
            <a:br/>
            <a:r>
              <a:t>P=0.387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251460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显著重塑</a:t>
            </a:r>
            <a:br/>
            <a:r>
              <a:t>P=0.039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200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47A1"/>
                </a:solidFill>
              </a:defRPr>
            </a:pPr>
            <a:r>
              <a:t>→ CagA效应需要Apc突变的易感背景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3200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实验设计：2×3因子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566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</a:defRPr>
            </a:pPr>
            <a:r>
              <a:t>ApcWT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11680" y="3566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</a:defRPr>
            </a:pPr>
            <a:r>
              <a:t>ApcMUT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023360"/>
            <a:ext cx="1097280" cy="320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Ctrl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37360" y="4023360"/>
            <a:ext cx="1097280" cy="320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HpKO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0" y="4023360"/>
            <a:ext cx="1097280" cy="320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HpWT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0" y="4434840"/>
            <a:ext cx="1554480" cy="32004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0" y="445312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核心比较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核心假说：Functional Footprint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80160"/>
            <a:ext cx="365760" cy="365760"/>
          </a:xfrm>
          <a:prstGeom prst="ellipse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65C0"/>
                </a:solidFill>
              </a:defRPr>
            </a:pPr>
            <a:r>
              <a:t>CagA感染</a:t>
            </a:r>
            <a:br/>
            <a:r>
              <a:t>重塑菌群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48840" y="1965960"/>
            <a:ext cx="640080" cy="22860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68880" y="1280160"/>
            <a:ext cx="365760" cy="3657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9688"/>
                </a:solidFill>
              </a:defRPr>
            </a:pPr>
            <a:r>
              <a:t>菌群产生</a:t>
            </a:r>
            <a:br/>
            <a:r>
              <a:t>特异性分子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60520" y="1965960"/>
            <a:ext cx="640080" cy="22860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60" y="1280160"/>
            <a:ext cx="365760" cy="36576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9800"/>
                </a:solidFill>
              </a:defRPr>
            </a:pPr>
            <a:r>
              <a:t>持续激活</a:t>
            </a:r>
            <a:br/>
            <a:r>
              <a:t>CD8+ T细胞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172200" y="1965960"/>
            <a:ext cx="640080" cy="22860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0" y="1280160"/>
            <a:ext cx="365760" cy="36576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53935"/>
                </a:solidFill>
              </a:defRPr>
            </a:pPr>
            <a:r>
              <a:t>促进</a:t>
            </a:r>
            <a:br/>
            <a:r>
              <a:t>肿瘤发生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本研究验证范围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17520"/>
            <a:ext cx="3840480" cy="13716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1089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CAF50"/>
                </a:solidFill>
              </a:defRPr>
            </a:pPr>
            <a:r>
              <a:t>✓ 已验证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3832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菌群结构显著重塑 (P=0.012)</a:t>
            </a:r>
            <a:br/>
            <a:r>
              <a:t>• G×E交互作用确认 (9/9验证)</a:t>
            </a:r>
            <a:br/>
            <a:r>
              <a:t>• 功能冗余 (GO/PFAM全验证)</a:t>
            </a:r>
            <a:br/>
            <a:r>
              <a:t>• 网络结构瓦解 (模块度-62%)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017520"/>
            <a:ext cx="4114800" cy="13716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10896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9800"/>
                </a:solidFill>
              </a:defRPr>
            </a:pPr>
            <a:r>
              <a:t>○ 待验证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38328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代谢组学：特定代谢物鉴定</a:t>
            </a:r>
            <a:br/>
            <a:r>
              <a:t>• 转录组学：功能基因表达验证</a:t>
            </a:r>
            <a:br/>
            <a:r>
              <a:t>• 整合肿瘤/T细胞表型数据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分析流程概览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18872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1465C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盲肠样本 (n=27)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2743200" cy="411480"/>
          </a:xfrm>
          <a:prstGeom prst="round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 物种组成分析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33333"/>
                </a:solidFill>
              </a:defRPr>
            </a:pPr>
            <a:r>
              <a:t>Kraken2/Bracken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219456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14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群落结构</a:t>
            </a:r>
            <a:br/>
            <a:r>
              <a:t>G×E交互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3383280"/>
            <a:ext cx="1645920" cy="365760"/>
          </a:xfrm>
          <a:prstGeom prst="round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5/9显著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828800"/>
            <a:ext cx="2743200" cy="4114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 功能潜力分析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33333"/>
                </a:solidFill>
              </a:defRPr>
            </a:pPr>
            <a:r>
              <a:t>HUMAnN4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651760"/>
            <a:ext cx="219456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6974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Pathway→KO</a:t>
            </a:r>
            <a:br/>
            <a:r>
              <a:t>→GO→PFAM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3383280"/>
            <a:ext cx="1645920" cy="3657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功能冗余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828800"/>
            <a:ext cx="2743200" cy="41148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 网络/噬菌体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33333"/>
                </a:solidFill>
              </a:defRPr>
            </a:pPr>
            <a:r>
              <a:t>igraph/Lyrebird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651760"/>
            <a:ext cx="219456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6974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共现网络</a:t>
            </a:r>
            <a:br/>
            <a:r>
              <a:t>细菌-噬菌体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3383280"/>
            <a:ext cx="1645920" cy="36576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模块度-62%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4297680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5669279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wn Arrow 27"/>
          <p:cNvSpPr/>
          <p:nvPr/>
        </p:nvSpPr>
        <p:spPr>
          <a:xfrm>
            <a:off x="7223760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wn Arrow 28"/>
          <p:cNvSpPr/>
          <p:nvPr/>
        </p:nvSpPr>
        <p:spPr>
          <a:xfrm>
            <a:off x="8595360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3931920"/>
            <a:ext cx="8229600" cy="82296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23360"/>
            <a:ext cx="7863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整合结论：CagA重塑细菌菌群 → 功能冗余(全层级验证) → 网络结构瓦解 → 噬菌体协同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结果1：CagA显著重塑肠道菌群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Beta多样性：</a:t>
            </a:r>
            <a:r>
              <a:rPr sz="1800" b="1">
                <a:solidFill>
                  <a:srgbClr val="4CAF50"/>
                </a:solidFill>
              </a:rPr>
              <a:t>P=0.012</a:t>
            </a:r>
            <a:r>
              <a:rPr sz="1800">
                <a:solidFill>
                  <a:srgbClr val="333333"/>
                </a:solidFill>
              </a:rPr>
              <a:t>, R²=33.6%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Alpha多样性：P=0.73 (无变化)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→ </a:t>
            </a:r>
            <a:r>
              <a:rPr sz="1800" b="1">
                <a:solidFill>
                  <a:srgbClr val="4CAF50"/>
                </a:solidFill>
              </a:rPr>
              <a:t>选择性重组</a:t>
            </a:r>
            <a:r>
              <a:rPr sz="1800">
                <a:solidFill>
                  <a:srgbClr val="333333"/>
                </a:solidFill>
              </a:rPr>
              <a:t>，非全面破坏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29个物种显著关联</a:t>
            </a:r>
          </a:p>
        </p:txBody>
      </p:sp>
      <p:pic>
        <p:nvPicPr>
          <p:cNvPr id="5" name="Picture 4" descr="52_part5_caga_effect_by_geno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结果2：CagA的作用靶点——细菌而非病毒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0D47A1"/>
                </a:solidFill>
              </a:defRPr>
            </a:pPr>
            <a:r>
              <a:t>问：CagA重塑的是什么？细菌？还是病毒？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65C0"/>
                </a:solidFill>
              </a:defRPr>
            </a:pPr>
            <a:r>
              <a:t>Standard (细菌)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657600" cy="18288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4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9个成对比较结果：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FDR显著：5/9 (55.6%)</a:t>
            </a:r>
          </a:p>
          <a:p>
            <a:pPr>
              <a:defRPr sz="1200" b="1">
                <a:solidFill>
                  <a:srgbClr val="4CAF50"/>
                </a:solidFill>
              </a:defRPr>
            </a:pPr>
            <a:r>
              <a:t>• CagA@ApcMUT: P=0.039 ⭐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CagA@ApcWT: P=0.387</a:t>
            </a:r>
          </a:p>
          <a:p>
            <a:pPr>
              <a:defRPr sz="1200" b="1">
                <a:solidFill>
                  <a:srgbClr val="1465C0"/>
                </a:solidFill>
              </a:defRPr>
            </a:pPr>
            <a:r>
              <a:t>→ G×E交互完全验证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737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B1FA2"/>
                </a:solidFill>
              </a:defRPr>
            </a:pPr>
            <a:r>
              <a:t>Virus (病毒)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103120"/>
            <a:ext cx="3657600" cy="182880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21945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9个成对比较结果：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FDR显著：0/9 (0%)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CagA@ApcMUT: P=0.604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CagA@ApcWT: P=0.978</a:t>
            </a:r>
          </a:p>
          <a:p>
            <a:pPr>
              <a:defRPr sz="1200" b="1">
                <a:solidFill>
                  <a:srgbClr val="7B1FA2"/>
                </a:solidFill>
              </a:defRPr>
            </a:pPr>
            <a:r>
              <a:t>→ 无显著效应</a:t>
            </a:r>
          </a:p>
        </p:txBody>
      </p:sp>
      <p:sp>
        <p:nvSpPr>
          <p:cNvPr id="11" name="Oval 10"/>
          <p:cNvSpPr/>
          <p:nvPr/>
        </p:nvSpPr>
        <p:spPr>
          <a:xfrm>
            <a:off x="4160520" y="2743200"/>
            <a:ext cx="640080" cy="64008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288036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8229600" cy="64008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结论：CagA主要通过重塑细菌群落影响肠道微环境，而非直接作用于病毒组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结果3：功能冗余——全层级验证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HUMAnN4 功能层级验证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1097280" cy="365760"/>
          </a:xfrm>
          <a:prstGeom prst="rect">
            <a:avLst/>
          </a:prstGeom>
          <a:solidFill>
            <a:srgbClr val="1465C0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2763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层级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554480"/>
            <a:ext cx="1005840" cy="365760"/>
          </a:xfrm>
          <a:prstGeom prst="rect">
            <a:avLst/>
          </a:prstGeom>
          <a:solidFill>
            <a:srgbClr val="1465C0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62763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特征数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79" y="1554480"/>
            <a:ext cx="822960" cy="365760"/>
          </a:xfrm>
          <a:prstGeom prst="rect">
            <a:avLst/>
          </a:prstGeom>
          <a:solidFill>
            <a:srgbClr val="1465C0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79" y="162763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P&lt;0.05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554480"/>
            <a:ext cx="914400" cy="365760"/>
          </a:xfrm>
          <a:prstGeom prst="rect">
            <a:avLst/>
          </a:prstGeom>
          <a:solidFill>
            <a:srgbClr val="1465C0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62763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FDR&lt;0.05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554480"/>
            <a:ext cx="822960" cy="365760"/>
          </a:xfrm>
          <a:prstGeom prst="rect">
            <a:avLst/>
          </a:prstGeom>
          <a:solidFill>
            <a:srgbClr val="1465C0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62763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20240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9933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Pathway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1920240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199339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~500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79" y="1920240"/>
            <a:ext cx="822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79" y="199339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多个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1920240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1993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1920240"/>
            <a:ext cx="822960" cy="365760"/>
          </a:xfrm>
          <a:prstGeom prst="rect">
            <a:avLst/>
          </a:prstGeom>
          <a:solidFill>
            <a:srgbClr val="E8F5E9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199339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CAF50"/>
                </a:solidFill>
              </a:defRPr>
            </a:pPr>
            <a:r>
              <a:t>✓ 冗余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286000"/>
            <a:ext cx="10972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35915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KO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63040" y="2286000"/>
            <a:ext cx="100584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63040" y="23591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~6,000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79" y="2286000"/>
            <a:ext cx="82296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68879" y="23591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多个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2286000"/>
            <a:ext cx="91440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0" y="23591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2286000"/>
            <a:ext cx="822960" cy="365760"/>
          </a:xfrm>
          <a:prstGeom prst="rect">
            <a:avLst/>
          </a:prstGeom>
          <a:solidFill>
            <a:srgbClr val="E8F5E9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0" y="23591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CAF50"/>
                </a:solidFill>
              </a:defRPr>
            </a:pPr>
            <a:r>
              <a:t>✓ 冗余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651760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7249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GO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63040" y="2651760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63040" y="272491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~13,000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68879" y="2651760"/>
            <a:ext cx="822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68879" y="272491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1,577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1840" y="2651760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91840" y="272491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2651760"/>
            <a:ext cx="822960" cy="365760"/>
          </a:xfrm>
          <a:prstGeom prst="rect">
            <a:avLst/>
          </a:prstGeom>
          <a:solidFill>
            <a:srgbClr val="E8F5E9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0" y="272491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CAF50"/>
                </a:solidFill>
              </a:defRPr>
            </a:pPr>
            <a:r>
              <a:t>✓ 冗余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017520"/>
            <a:ext cx="10972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309067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PFAM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63040" y="3017520"/>
            <a:ext cx="100584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463040" y="309067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~7,600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68879" y="3017520"/>
            <a:ext cx="82296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68879" y="309067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849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91840" y="3017520"/>
            <a:ext cx="91440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91840" y="309067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06240" y="3017520"/>
            <a:ext cx="822960" cy="365760"/>
          </a:xfrm>
          <a:prstGeom prst="rect">
            <a:avLst/>
          </a:prstGeom>
          <a:solidFill>
            <a:srgbClr val="E8F5E9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06240" y="309067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CAF50"/>
                </a:solidFill>
              </a:defRPr>
            </a:pPr>
            <a:r>
              <a:t>✓ 冗余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0" y="1188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静默更替：Driver物种改变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29200" y="1554480"/>
            <a:ext cx="3657600" cy="210312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12080" y="164592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功能总量不变，但执行者改变：</a:t>
            </a:r>
          </a:p>
          <a:p>
            <a:pPr>
              <a:defRPr sz="1100">
                <a:solidFill>
                  <a:srgbClr val="333333"/>
                </a:solidFill>
              </a:defRPr>
            </a:pPr>
          </a:p>
          <a:p>
            <a:pPr>
              <a:defRPr sz="1100" b="1">
                <a:solidFill>
                  <a:srgbClr val="4CAF50"/>
                </a:solidFill>
              </a:defRPr>
            </a:pPr>
            <a:r>
              <a:t>益生菌 ↓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• L. johnsonii: -50%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• F. prausnitzii: ↓</a:t>
            </a:r>
          </a:p>
          <a:p>
            <a:pPr>
              <a:defRPr sz="1100">
                <a:solidFill>
                  <a:srgbClr val="333333"/>
                </a:solidFill>
              </a:defRPr>
            </a:pPr>
          </a:p>
          <a:p>
            <a:pPr>
              <a:defRPr sz="1100" b="1">
                <a:solidFill>
                  <a:srgbClr val="E53935"/>
                </a:solidFill>
              </a:defRPr>
            </a:pPr>
            <a:r>
              <a:t>炎症相关菌 ↑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• M. schaedleri: +57%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• Enterocloster: ↑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" y="3840480"/>
            <a:ext cx="8229600" cy="9144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结论：从Pathway→KO→GO→PFAM全层级FDR校正后均无显著差异</a:t>
            </a:r>
            <a:br/>
            <a:r>
              <a:t>功能冗余得到全面验证，但功能执行者已静默更替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结果4：共现网络——模块结构瓦解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网络拓扑变化 (Top 100物种)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2011680" cy="14630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AF50"/>
                </a:solidFill>
              </a:defRPr>
            </a:pPr>
            <a:r>
              <a:t>HpKO (对照)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节点: 80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边数: 1,280</a:t>
            </a:r>
          </a:p>
          <a:p>
            <a:pPr>
              <a:defRPr sz="1100" b="1">
                <a:solidFill>
                  <a:srgbClr val="4CAF50"/>
                </a:solidFill>
              </a:defRPr>
            </a:pPr>
            <a:r>
              <a:t>模块度: 0.468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→ 清晰模块结构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68880" y="2194560"/>
            <a:ext cx="365760" cy="274320"/>
          </a:xfrm>
          <a:prstGeom prst="rightArrow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26080" y="1600200"/>
            <a:ext cx="2011680" cy="146304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645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53935"/>
                </a:solidFill>
              </a:defRPr>
            </a:pPr>
            <a:r>
              <a:t>HpWT (CagA+)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9202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节点: 100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边数: 2,190 (+71%)</a:t>
            </a:r>
          </a:p>
          <a:p>
            <a:pPr>
              <a:defRPr sz="1100" b="1">
                <a:solidFill>
                  <a:srgbClr val="E53935"/>
                </a:solidFill>
              </a:defRPr>
            </a:pPr>
            <a:r>
              <a:t>模块度: 0.177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→ 模块结构瓦解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200400"/>
            <a:ext cx="4572000" cy="6400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模块度: 0.468 → 0.177 (降低62%)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1887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Hub物种 (网络枢纽)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1554480"/>
            <a:ext cx="3383280" cy="2286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80" y="164592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B1FA2"/>
                </a:solidFill>
              </a:defRPr>
            </a:pPr>
            <a:r>
              <a:t>Top 5 Hub物种（按度排序）：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Blautia obeum (度=44)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Roseburia hominis (度=42)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Hungatella hathewayi (度=42)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 b="1">
                <a:solidFill>
                  <a:srgbClr val="7B1FA2"/>
                </a:solidFill>
              </a:defRPr>
            </a:pPr>
            <a:r>
              <a:t>特征：主要为厌氧梭菌类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功能：SCFA生产者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 b="1">
                <a:solidFill>
                  <a:srgbClr val="7B1FA2"/>
                </a:solidFill>
              </a:defRPr>
            </a:pPr>
            <a:r>
              <a:t>桥梁物种：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P. distasonis (介数=402)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77639"/>
            <a:ext cx="8229600" cy="77724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0690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结论：CagA导致网络模块度降低62%，物种间界限模糊</a:t>
            </a:r>
            <a:br/>
            <a:r>
              <a:t>→ 生态位重叠增加 → 解释功能冗余机制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结果5：细菌-噬菌体协同变化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CAF50"/>
                </a:solidFill>
              </a:defRPr>
            </a:pPr>
            <a:r>
              <a:t>噬菌体多样性显著降低 (P=0.032)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细菌-噬菌体高度协同：</a:t>
            </a:r>
          </a:p>
          <a:p>
            <a:pPr>
              <a:defRPr sz="1600" b="1">
                <a:solidFill>
                  <a:srgbClr val="4CAF50"/>
                </a:solidFill>
              </a:defRPr>
            </a:pPr>
            <a:r>
              <a:t>  • Mantel r=0.52, P=0.001</a:t>
            </a:r>
          </a:p>
          <a:p>
            <a:pPr>
              <a:defRPr sz="1600" b="1">
                <a:solidFill>
                  <a:srgbClr val="4CAF50"/>
                </a:solidFill>
              </a:defRPr>
            </a:pPr>
            <a:r>
              <a:t>  • Procrustes P=0.002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三角网络：17,848条边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1465C0"/>
                </a:solidFill>
              </a:defRPr>
            </a:pPr>
            <a:r>
              <a:t>级联效应：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CagA → 细菌 → 噬菌体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280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级联效应示意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73736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CagA</a:t>
            </a:r>
            <a:br/>
            <a:r>
              <a:t>感染</a:t>
            </a:r>
          </a:p>
        </p:txBody>
      </p:sp>
      <p:sp>
        <p:nvSpPr>
          <p:cNvPr id="7" name="Down Arrow 6"/>
          <p:cNvSpPr/>
          <p:nvPr/>
        </p:nvSpPr>
        <p:spPr>
          <a:xfrm>
            <a:off x="6263640" y="2331720"/>
            <a:ext cx="182880" cy="27432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0" y="265176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1465C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细菌</a:t>
            </a:r>
            <a:br/>
            <a:r>
              <a:t>重塑</a:t>
            </a:r>
          </a:p>
        </p:txBody>
      </p:sp>
      <p:sp>
        <p:nvSpPr>
          <p:cNvPr id="9" name="Down Arrow 8"/>
          <p:cNvSpPr/>
          <p:nvPr/>
        </p:nvSpPr>
        <p:spPr>
          <a:xfrm>
            <a:off x="6263640" y="3246120"/>
            <a:ext cx="182880" cy="27432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0" y="356616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7B1FA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噬菌体</a:t>
            </a:r>
            <a:br/>
            <a:r>
              <a:t>协同变化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2062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333333"/>
                </a:solidFill>
              </a:defRPr>
            </a:pPr>
            <a:r>
              <a:t>CagA不直接影响病毒，通过细菌间接影响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核心结论与后续计划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34440"/>
            <a:ext cx="411480" cy="4114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CagA显著重塑肠道菌群：Beta多样性P=0.012，选择性调控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920240"/>
            <a:ext cx="411480" cy="4114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4767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功能冗余全层级验证：Pathway→KO→GO→PFAM，FDR均无显著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606040"/>
            <a:ext cx="411480" cy="4114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3347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06040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网络模块结构瓦解：模块度降低62%，解释功能冗余机制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291840"/>
            <a:ext cx="411480" cy="4114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31927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91840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Driver静默更替：益生菌↓致病菌↑，改变免疫刺激谱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977639"/>
            <a:ext cx="411480" cy="4114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00507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77639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细菌-噬菌体协同：Mantel P=0.001，级联效应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4663440"/>
            <a:ext cx="411480" cy="4114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69087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63440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后续：代谢组学验证 + 整合肿瘤/T细胞表型数据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