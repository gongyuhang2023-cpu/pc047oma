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first introduce the research background.</a:t>
            </a:r>
          </a:p>
          <a:p/>
          <a:p>
            <a:r>
              <a:t>H. pylori CagA protein is a recognized Class I carcinogen. After being injected into host cells via Type IV secretion system, it disrupts key signaling pathways like Wnt and NF-κB, while causing gut microbiota dysbiosis, ultimately promoting tumor development.</a:t>
            </a:r>
          </a:p>
          <a:p/>
          <a:p>
            <a:r>
              <a:t>Key literature supporting this mechanism is listed on the right. Notably, Jones et al. 2017 demonstrated in Drosophila that CagA expression alone is sufficient to induce dysbiosis and epithelial hyperproliferation.</a:t>
            </a:r>
          </a:p>
          <a:p/>
          <a:p>
            <a:r>
              <a:t>This leads to our central question: What maintains CD8+ T-cell activation after CagA clearance?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me introduce Apc mutation and genetic susceptibility.</a:t>
            </a:r>
          </a:p>
          <a:p/>
          <a:p>
            <a:r>
              <a:t>The left panel shows the Apc-Wnt pathway. Normally, APC degrades β-catenin to maintain homeostasis. When Apc is mutated, β-catenin accumulates, leading to tumor development.</a:t>
            </a:r>
          </a:p>
          <a:p/>
          <a:p>
            <a:r>
              <a:t>The right panel shows our G×E hypothesis. Our analysis found that CagA effect is highly dependent on host genetics. In wild-type, CagA has no effect (P=0.387); but in Apc-mutant, CagA significantly restructures microbiota (P=0.039).</a:t>
            </a:r>
          </a:p>
          <a:p/>
          <a:p>
            <a:r>
              <a:t>We designed a 2×3 factorial experiment, with core comparison being CagA+ vs CagA- under Apc-mutant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central hypothesis — the Functional Footprint hypothesis.</a:t>
            </a:r>
          </a:p>
          <a:p/>
          <a:p>
            <a:r>
              <a:t>The logical chain: Step 1, CagA infection restructures gut microbiota; Step 2, altered microbiota produces specific molecules; Step 3, these molecules persistently activate CD8+ T-cells; Step 4, ultimately promoting tumor development.</a:t>
            </a:r>
          </a:p>
          <a:p/>
          <a:p>
            <a:r>
              <a:t>This presentation covers the first half of hypothesis verification. We fully confirmed G×E interaction through 9 systematic pairwise comparisons, revealed Driver species shifts under functional redundancy, and phage coordination.</a:t>
            </a:r>
          </a:p>
          <a:p/>
          <a:p>
            <a:r>
              <a:t>The latter half requires subsequent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our analysis pipeline.</a:t>
            </a:r>
          </a:p>
          <a:p/>
          <a:p>
            <a:r>
              <a:t>From 27 cecum samples, we performed three major analyses:</a:t>
            </a:r>
          </a:p>
          <a:p/>
          <a:p>
            <a:r>
              <a:t>First, species composition analysis using Kraken2/Bracken, 5/9 pairwise comparisons FDR significant.</a:t>
            </a:r>
          </a:p>
          <a:p/>
          <a:p>
            <a:r>
              <a:t>Second, functional potential analysis using HUMAnN4, revealing functional redundancy.</a:t>
            </a:r>
          </a:p>
          <a:p/>
          <a:p>
            <a:r>
              <a:t>Third, OTU and phage analysis using SingleM/Lyrebird, finding strong association at P=0.001.</a:t>
            </a:r>
          </a:p>
          <a:p/>
          <a:p>
            <a:r>
              <a:t>Integration: CagA restructures bacteria via G×E, shows functional redundancy with Driver shift, and phage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the core CagA effect on gut microbiota.</a:t>
            </a:r>
          </a:p>
          <a:p/>
          <a:p>
            <a:r>
              <a:t>Core finding: CagA significantly alters community structure (Beta diversity P=0.012), but does not change overall diversity (Alpha P=0.73). This indicates CagA selectively regulates specific bacteria, not wholesale destruction.</a:t>
            </a:r>
          </a:p>
          <a:p/>
          <a:p>
            <a:r>
              <a:t>29 species are significantly associated with CagA infection.</a:t>
            </a:r>
          </a:p>
          <a:p/>
          <a:p>
            <a:r>
              <a:t>Model validation: CagA effect is more significant in Apc-mutant background (P=0.039 vs P=0.387), confirming our tumor-susceptible model is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a key question: What does CagA actually affect?</a:t>
            </a:r>
          </a:p>
          <a:p/>
          <a:p>
            <a:r>
              <a:t>We performed 9 pairwise comparisons for both bacteria and virus data.</a:t>
            </a:r>
          </a:p>
          <a:p/>
          <a:p>
            <a:r>
              <a:t>Left shows Standard bacteria results: 5/9 FDR significant, especially the core CagA effect in ApcMUT background is highly significant (P=0.039), fully verifying G×E interaction.</a:t>
            </a:r>
          </a:p>
          <a:p/>
          <a:p>
            <a:r>
              <a:t>Right shows Virus results: 0/9 FDR significant, including the core CagA comparison.</a:t>
            </a:r>
          </a:p>
          <a:p/>
          <a:p>
            <a:r>
              <a:t>This indicates CagA reshapes gut environment mainly through bacteria, not directly via viruses.</a:t>
            </a:r>
          </a:p>
          <a:p/>
          <a:p>
            <a:r>
              <a:t>This sets up our later discussion of bacteria-phage coordination: although CagA doesn't directly affect viruses, bacterial changes drive phage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core result is functional redundancy and Silent Shift.</a:t>
            </a:r>
          </a:p>
          <a:p/>
          <a:p>
            <a:r>
              <a:t>Overall interaction shows functional redundancy: species P=0.024 significant, function P=0.223 not significant.</a:t>
            </a:r>
          </a:p>
          <a:p/>
          <a:p>
            <a:r>
              <a:t>But core CagA comparison shows species-function consistency: both species P=0.039 and function P=0.041 are significant. This indicates functional redundancy is scale-dependent.</a:t>
            </a:r>
          </a:p>
          <a:p/>
          <a:p>
            <a:r>
              <a:t>Stratified analysis reveals "Silent Shift": total function unchanged, but executors have changed. Probiotic L. johnsonii decreased 50%, inflammation-associated M. schaedleri increased 57%.</a:t>
            </a:r>
          </a:p>
          <a:p/>
          <a:p>
            <a:r>
              <a:t>Drivers shifted from probiotics to pathobionts, possibly explaining persistent immune stimulation.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finding is bacteria-phage coordination.</a:t>
            </a:r>
          </a:p>
          <a:p/>
          <a:p>
            <a:r>
              <a:t>Although CagA doesn't directly affect viruses (as shown in previous slide), bacterial changes drive phage changes.</a:t>
            </a:r>
          </a:p>
          <a:p/>
          <a:p>
            <a:r>
              <a:t>Phage diversity significantly decreased (P=0.032), bacteria and phage communities highly coordinated (Mantel P=0.001, Procrustes P=0.002).</a:t>
            </a:r>
          </a:p>
          <a:p/>
          <a:p>
            <a:r>
              <a:t>Tripartite network contains 17,848 edges, with bacteria-phage being the strongest.</a:t>
            </a:r>
          </a:p>
          <a:p/>
          <a:p>
            <a:r>
              <a:t>This shows CagA's effect cascades: CagA changes bacteria, bacteria change phage. This echoes our previous finding — CagA mainly affects bacteria, but indirectly influences the entire microbiome through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core conclusions.</a:t>
            </a:r>
          </a:p>
          <a:p/>
          <a:p>
            <a:r>
              <a:t>First, CagA significantly restructures gut microbiota through selective regulation, not destruction.</a:t>
            </a:r>
          </a:p>
          <a:p/>
          <a:p>
            <a:r>
              <a:t>Second, bacteria and phage change synchronously, highly coordinated (Mantel P=0.001).</a:t>
            </a:r>
          </a:p>
          <a:p/>
          <a:p>
            <a:r>
              <a:t>Third, functional Drivers silently shift from probiotics to pathobionts, potentially altering immune stimulation sources.</a:t>
            </a:r>
          </a:p>
          <a:p/>
          <a:p>
            <a:r>
              <a:t>Fourth, model validation: Apc-mutant background effectively amplifies CagA effect.</a:t>
            </a:r>
          </a:p>
          <a:p/>
          <a:p>
            <a:r>
              <a:t>Next steps: Gene Families analysis for finer functional resolution, and metabolomics validation.</a:t>
            </a:r>
          </a:p>
          <a:p/>
          <a:p>
            <a:r>
              <a:t>Thank you for your attention!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CagA-Dependent Gut Microbiome Restructuring</a:t>
            </a:r>
            <a:br/>
            <a:r>
              <a:t>and Functional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Microbiome Analysis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2026-01-26</a:t>
            </a:r>
            <a:br/>
            <a:r>
              <a:t>Presenter: Yuhang Gong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CagA and Intestinal Tumors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Pathogenesis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Infection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 Injection</a:t>
            </a:r>
            <a:br/>
            <a:r>
              <a:t>into Host 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Disrupt Wnt/</a:t>
            </a:r>
            <a:br/>
            <a:r>
              <a:t>NF-κB Pathways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Gut Microbiota</a:t>
            </a:r>
            <a:br/>
            <a:r>
              <a:t>Dysbiosis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Tumor Promotion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Key Literature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Drosophila: CagA alone induces</a:t>
            </a:r>
            <a:br/>
            <a:r>
              <a:t>dysbiosis and epithelial proliferation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Clinical: CagA+ strains affect</a:t>
            </a:r>
            <a:br/>
            <a:r>
              <a:t>colorectal lesions via gut microbiota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Phage can eliminate tumor-</a:t>
            </a:r>
            <a:br/>
            <a:r>
              <a:t>promoting bacteria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Central Question: What maintains CD8+ T-cell activation after CagA clearance?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Apc Mutation and Genetic Susceptibility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 Mutation → Constitutive Wnt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Degradation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Homeostasis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 Mutant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Accumulation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Tumor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Interaction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Normal</a:t>
            </a:r>
            <a:br/>
            <a:r>
              <a:t>Microbiota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Mild</a:t>
            </a:r>
            <a:br/>
            <a:r>
              <a:t>Dysbiosis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No Effect</a:t>
            </a:r>
            <a:br/>
            <a:r>
              <a:t>P=0.387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Significant</a:t>
            </a:r>
            <a:br/>
            <a:r>
              <a:t>P=0.039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 effect requires Apc-mutant susceptible background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Experimental Design: 2×3 Factorial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 Hypothesis: 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 Infection</a:t>
            </a:r>
            <a:br/>
            <a:r>
              <a:t>Restructures Microbiota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Microbiota Produces</a:t>
            </a:r>
            <a:br/>
            <a:r>
              <a:t>Specific Molecules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Persistent CD8+</a:t>
            </a:r>
            <a:br/>
            <a:r>
              <a:t>T-cell Activation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Tumor</a:t>
            </a:r>
            <a:br/>
            <a: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Scope of This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Microbiota restructured (P=0.012)</a:t>
            </a:r>
            <a:br/>
            <a:r>
              <a:t>• G×E interaction confirmed (9/9 verified)</a:t>
            </a:r>
            <a:br/>
            <a:r>
              <a:t>• Functional redundancy &amp; Driver shift</a:t>
            </a:r>
            <a:br/>
            <a:r>
              <a:t>• Phage coordination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Metabolomics: Specific metabolite ID</a:t>
            </a:r>
            <a:br/>
            <a:r>
              <a:t>• Transcriptomics: Gene expression validation</a:t>
            </a:r>
            <a:br/>
            <a:r>
              <a:t>• Integration with tumor/T-cell phenotypes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Analysis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Cecum Samples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Species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Community</a:t>
            </a:r>
            <a:br/>
            <a:r>
              <a:t>G×E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5/9 Sig.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Functional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Pathways</a:t>
            </a:r>
            <a:br/>
            <a:r>
              <a:t>Driver 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Redundancy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OTU/Phage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Phylogeny</a:t>
            </a:r>
            <a:br/>
            <a:r>
              <a:t>Bacteria-Phage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Integration: CagA restructures bacteria via G×E → Functional redundancy with Driver shift → Phage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1: CagA Restructures Gut Microbiota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Beta diversity: 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Alpha diversity: P=0.73 (no change)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→ </a:t>
            </a:r>
            <a:r>
              <a:rPr sz="1800" b="1">
                <a:solidFill>
                  <a:srgbClr val="4CAF50"/>
                </a:solidFill>
              </a:rPr>
              <a:t>Selective restructuring</a:t>
            </a:r>
            <a:r>
              <a:rPr sz="1800">
                <a:solidFill>
                  <a:srgbClr val="333333"/>
                </a:solidFill>
              </a:rPr>
              <a:t>, not destruction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29 species significantly associated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Model validation: Apc-mutant amplifies CagA effect</a:t>
            </a:r>
          </a:p>
        </p:txBody>
      </p:sp>
      <p:pic>
        <p:nvPicPr>
          <p:cNvPr id="5" name="Picture 4" descr="52_part5_caga_effect_by_gen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2: CagA Targets Bacteria, Not Viruses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D47A1"/>
                </a:solidFill>
              </a:defRPr>
            </a:pPr>
            <a:r>
              <a:t>Q: What does CagA reshape? Bacteria or Viruses?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5C0"/>
                </a:solidFill>
              </a:defRPr>
            </a:pPr>
            <a:r>
              <a:t>Standard (Bacteria)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 Pairwise Comparisons: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 Significant: 5/9 (55.6%)</a:t>
            </a:r>
          </a:p>
          <a:p>
            <a:pPr>
              <a:defRPr sz="1200" b="1">
                <a:solidFill>
                  <a:srgbClr val="4CAF50"/>
                </a:solidFill>
              </a:defRPr>
            </a:pPr>
            <a:r>
              <a:t>• CagA@ApcMUT: P=0.039 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P=0.387</a:t>
            </a:r>
          </a:p>
          <a:p>
            <a:pPr>
              <a:defRPr sz="1200" b="1">
                <a:solidFill>
                  <a:srgbClr val="1465C0"/>
                </a:solidFill>
              </a:defRPr>
            </a:pPr>
            <a:r>
              <a:t>→ G×E Fully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Virus (Viruses)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3657600" cy="18288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 Pairwise Comparisons: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 Significant: 0/9 (0%)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CagA@ApcMUT: P=0.604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P=0.978</a:t>
            </a:r>
          </a:p>
          <a:p>
            <a:pPr>
              <a:defRPr sz="1200" b="1">
                <a:solidFill>
                  <a:srgbClr val="7B1FA2"/>
                </a:solidFill>
              </a:defRPr>
            </a:pPr>
            <a:r>
              <a:t>→ No Significant Effect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Conclusion: CagA reshapes gut environment mainly via bacteria, not directly via viruses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3: Functional Redundancy &amp; Silent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Overall: Species P=0.024 vs Function 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But</a:t>
            </a:r>
            <a:r>
              <a:rPr sz="1800">
                <a:solidFill>
                  <a:srgbClr val="333333"/>
                </a:solidFill>
              </a:rPr>
              <a:t> core comparison: Species P=0.039, Function </a:t>
            </a:r>
            <a:r>
              <a:rPr sz="1800" b="1">
                <a:solidFill>
                  <a:srgbClr val="4CAF50"/>
                </a:solidFill>
              </a:rPr>
              <a:t>P=0.041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→ Scale-dependent: Overall redundant, locally consistent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Silent Shift</a:t>
            </a:r>
            <a:r>
              <a:rPr sz="1800">
                <a:solidFill>
                  <a:srgbClr val="333333"/>
                </a:solidFill>
              </a:rPr>
              <a:t>: Probiotics↓ Pathobionts↑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*L. johnsonii* -50%, *M. schaedleri* +57%</a:t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4: Bacteria-Phage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Phage diversity </a:t>
            </a:r>
            <a:r>
              <a:rPr sz="1800" b="1">
                <a:solidFill>
                  <a:srgbClr val="4CAF50"/>
                </a:solidFill>
              </a:rPr>
              <a:t>significantly decreased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Bacteria-phage </a:t>
            </a:r>
            <a:r>
              <a:rPr sz="1800" b="1">
                <a:solidFill>
                  <a:srgbClr val="4CAF50"/>
                </a:solidFill>
              </a:rPr>
              <a:t>highly coordinated</a:t>
            </a:r>
            <a:r>
              <a:rPr sz="1800">
                <a:solidFill>
                  <a:srgbClr val="333333"/>
                </a:solidFill>
              </a:rPr>
              <a:t>: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Tripartite network: </a:t>
            </a:r>
            <a:r>
              <a:rPr sz="1800" b="1">
                <a:solidFill>
                  <a:srgbClr val="4CAF50"/>
                </a:solidFill>
              </a:rPr>
              <a:t>17,848 edges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Echo: CagA→Bacteria→Phage cascade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CagA restructures gut microbiota: Beta P=0.012, selective regulation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Bacteria-phage synchronization: Phage diversity↓, highly coordinated (P=0.001)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83463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Silent Driver shift: Probiotics→Pathobionts, altering immune stimulation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1187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5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7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Model validation: Apc-mutant amplifies CagA effect (G×E P=0.024)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Next: Gene Families analysis + Metabolomics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