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35" d="100"/>
          <a:sy n="135" d="100"/>
        </p:scale>
        <p:origin x="195" y="5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8FFEC8-7032-43C5-815D-50134C6B71B6}" type="datetimeFigureOut">
              <a:rPr lang="zh-CN" altLang="en-US" smtClean="0"/>
              <a:t>2026/1/21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36B6CB-9448-479C-A19E-F5F97114B8C4}" type="slidenum">
              <a:rPr lang="zh-CN" altLang="en-US" smtClean="0"/>
              <a:t>‹#›</a:t>
            </a:fld>
            <a:endParaRPr lang="zh-CN" altLang="en-US"/>
          </a:p>
        </p:txBody>
      </p:sp>
    </p:spTree>
    <p:extLst>
      <p:ext uri="{BB962C8B-B14F-4D97-AF65-F5344CB8AC3E}">
        <p14:creationId xmlns:p14="http://schemas.microsoft.com/office/powerpoint/2010/main" val="87530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Hello everyone, let me first introduce the research background.</a:t>
            </a:r>
          </a:p>
          <a:p>
            <a:endParaRPr/>
          </a:p>
          <a:p>
            <a:r>
              <a:t>We all know H. pylori is a class 1 carcinogen for gastric cancer, and CagA is its most important virulence factor.</a:t>
            </a:r>
          </a:p>
          <a:p>
            <a:endParaRPr/>
          </a:p>
          <a:p>
            <a:r>
              <a:t>As shown on the left, after H. pylori infection, CagA protein is injected into host cells via the type IV secretion system. Once inside, CagA disrupts two key signaling pathways: Wnt and NF-κB. Meanwhile, CagA also causes gut microbiota dysbiosis. Both pathways ultimately lead to tumor promotion.</a:t>
            </a:r>
          </a:p>
          <a:p>
            <a:endParaRPr/>
          </a:p>
          <a:p>
            <a:r>
              <a:t>On the right are key supporting studies. Jones et al. 2017 in PLoS Pathogens showed that CagA expression alone is sufficient to induce dysbiosis and epithelial hyperproliferation in Drosophila.</a:t>
            </a:r>
          </a:p>
          <a:p>
            <a:endParaRPr/>
          </a:p>
          <a:p>
            <a:r>
              <a:t>Now our central scientific question: After CagA antigen clearance, what maintains the persistent activation of CD8+ T cells in the gut? This is exactly what our study aims to answer.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 me introduce our experimental model design.</a:t>
            </a:r>
          </a:p>
          <a:p>
            <a:endParaRPr/>
          </a:p>
          <a:p>
            <a:r>
              <a:t>The left side shows the Apc-Wnt pathway relationship. Normally, APC protein degrades β-catenin to maintain Wnt signaling stability. But when Apc mutates, β-catenin accumulates, leading to sustained Wnt activation and intestinal tumors. This is why Apc-mutant mice are the classic model for studying intestinal tumors.</a:t>
            </a:r>
          </a:p>
          <a:p>
            <a:endParaRPr/>
          </a:p>
          <a:p>
            <a:r>
              <a:t>On the right is a key finding: CagA effect is highly dependent on host genetics — a classic G×E interaction. In wild-type mice, CagA has almost no effect (P=0.387). But in Apc-mutant mice, CagA significantly restructures the microbiome (P=0.039). This suggests Apc mutation provides a "susceptible background" that amplifies CagA's effect.</a:t>
            </a:r>
          </a:p>
          <a:p>
            <a:endParaRPr/>
          </a:p>
          <a:p>
            <a:r>
              <a:t>At the bottom is our 2×3 factorial design: two genotypes times three infection states. The red box highlights our core comparison — CagA+ vs CagA- under Apc-mutant background.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our central hypothesis — the Functional Footprint hypothesis.</a:t>
            </a:r>
          </a:p>
          <a:p>
            <a:endParaRPr/>
          </a:p>
          <a:p>
            <a:r>
              <a:t>The logical chain works like this: First, CagA infection restructures the gut microbiome; then, the restructured microbiome produces specific molecules or metabolites; these molecules persistently activate CD8+ T cells; ultimately promoting tumor development.</a:t>
            </a:r>
          </a:p>
          <a:p>
            <a:endParaRPr/>
          </a:p>
          <a:p>
            <a:r>
              <a:t>The green box shows what we've verified in this analysis. First, microbiome restructuring confirmed with Beta diversity P=0.012. Second, G×E interaction verified — CagA effect indeed depends on Apc genetic background. Third, functional redundancy verified at all levels — from Pathway to KO to GO to PFAM, no FDR-significant differences. Fourth, network module structure collapsed with modularity decreasing by 62%.</a:t>
            </a:r>
          </a:p>
          <a:p>
            <a:endParaRPr/>
          </a:p>
          <a:p>
            <a:r>
              <a:t>The orange box shows what still needs validation: metabolomics to identify specific metabolites, and integration with tumor and T-cell phenotype data.</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presenting results, let me give you an overview of our analysis pipeline.</a:t>
            </a:r>
          </a:p>
          <a:p>
            <a:endParaRPr/>
          </a:p>
          <a:p>
            <a:r>
              <a:t>Our analysis consists of three major modules.</a:t>
            </a:r>
          </a:p>
          <a:p>
            <a:endParaRPr/>
          </a:p>
          <a:p>
            <a:r>
              <a:t>The first module is species composition analysis. We used Kraken2 and Bracken for species classification, including bacteria and viruses, plus SingleM and Lyrebird for OTU-level analysis. Key finding: 5 out of 9 pairwise comparisons were significant, confirming CagA's restructuring effect.</a:t>
            </a:r>
          </a:p>
          <a:p>
            <a:endParaRPr/>
          </a:p>
          <a:p>
            <a:r>
              <a:t>The second module is functional potential analysis. We used HUMAnN4 for functional annotation, then MaAsLin2 for differential analysis. Key finding: from Pathway to KO to GO to PFAM, all four functional levels showed no FDR-significant differences, confirming functional redundancy.</a:t>
            </a:r>
          </a:p>
          <a:p>
            <a:endParaRPr/>
          </a:p>
          <a:p>
            <a:r>
              <a:t>The third module is network and phage analysis. We constructed species co-occurrence networks, finding modularity decreased by 62%. Bacteria-phage Mantel test showed high coordination with P=0.001.</a:t>
            </a:r>
          </a:p>
          <a:p>
            <a:endParaRPr/>
          </a:p>
          <a:p>
            <a:r>
              <a:t>The integrated conclusion at the bottom: CagA restructures bacteria, functional redundancy exists but network structure collapses, with phage coordination. I'll now walk through each finding.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let's look at the first core result: CagA significantly restructures gut microbiota.</a:t>
            </a:r>
          </a:p>
          <a:p>
            <a:endParaRPr/>
          </a:p>
          <a:p>
            <a:r>
              <a:t>First, the key points on the left. Beta diversity analysis shows P=0.012, with effect size R² reaching 33.6% — meaning CagA explains one-third of microbiome variation. G×E interaction is also significant at P=0.024. Most importantly, CagA effect is significant under Apc-mutant background but not significant under wild-type background.</a:t>
            </a:r>
          </a:p>
          <a:p>
            <a:endParaRPr/>
          </a:p>
          <a:p>
            <a:r>
              <a:t>The figure on the right shows our comprehensive analysis — very information-rich.</a:t>
            </a:r>
          </a:p>
          <a:p>
            <a:endParaRPr/>
          </a:p>
          <a:p>
            <a:r>
              <a:t>Top-left is the PCoA plot showing community distribution of all 6 groups. Different colors represent different infection states — red for control, blue for HpKO infection, green for HpWT or CagA-positive infection. Ellipses show 95% confidence intervals. You can see clear separation between groups.</a:t>
            </a:r>
          </a:p>
          <a:p>
            <a:endParaRPr/>
          </a:p>
          <a:p>
            <a:r>
              <a:t>Top-right is the effect size plot showing variance explained by each factor in the 2×3 factorial design. Most critically, the interaction term accounts for 100%, indicating CagA's effect indeed depends on genetic background.</a:t>
            </a:r>
          </a:p>
          <a:p>
            <a:endParaRPr/>
          </a:p>
          <a:p>
            <a:r>
              <a:t>The bottom bar chart shows pairwise comparison results. Blue bars represent CagA effect — significant in Apc-mutant mice with P&lt;0.05, but not significant in wild-type mice.</a:t>
            </a:r>
          </a:p>
          <a:p>
            <a:endParaRPr/>
          </a:p>
          <a:p>
            <a:r>
              <a:t>This is a classic G×E interaction pattern, showing CagA's microbiome restructuring effect requires the "susceptible background" of Apc mutation.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Since CagA can reshape the gut microbiome, a natural question is: what exactly does it reshape? Bacteria? Or viruses?</a:t>
            </a:r>
          </a:p>
          <a:p>
            <a:endParaRPr/>
          </a:p>
          <a:p>
            <a:r>
              <a:t>We systematically performed 9 pairwise comparisons for both bacteria and viruses. The results are very clear.</a:t>
            </a:r>
          </a:p>
          <a:p>
            <a:endParaRPr/>
          </a:p>
          <a:p>
            <a:r>
              <a:t>On the left are bacteria results. Out of 9 comparisons, 5 are FDR-significant — over half. Most importantly, the core comparison — CagA effect under Apc-mutant background — has P=0.039, fully verifying the G×E interaction.</a:t>
            </a:r>
          </a:p>
          <a:p>
            <a:endParaRPr/>
          </a:p>
          <a:p>
            <a:r>
              <a:t>On the right are virus results. Out of 9 comparisons, 0 are FDR-significant — none at all! The core CagA comparison has P=0.604, completely non-significant. G×E interaction is also not significant.</a:t>
            </a:r>
          </a:p>
          <a:p>
            <a:endParaRPr/>
          </a:p>
          <a:p>
            <a:r>
              <a:t>What does this comparison tell us? CagA reshapes the gut environment mainly by restructuring bacteria, not by directly acting on viruses. In other words, bacteria are CagA's direct target, and viral changes may be downstream effects of bacterial changes. This leads to our later analysis of bacteria-phage coordination.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Next is a very interesting finding: functional redundancy.</a:t>
            </a:r>
          </a:p>
          <a:p>
            <a:endParaRPr/>
          </a:p>
          <a:p>
            <a:r>
              <a:t>The table on the left shows our systematic verification across four functional levels. From the coarsest Pathway level, to KO gene functions, to GO gene ontology, to PFAM protein domains — these are four levels from coarse to fine.</a:t>
            </a:r>
          </a:p>
          <a:p>
            <a:endParaRPr/>
          </a:p>
          <a:p>
            <a:r>
              <a:t>The results are remarkably consistent: each level has many features with P&lt;0.05, but after FDR correction, the number of significant differences is zero! What does this mean? Although species composition changed significantly, overall functional potential remains stable. This is the ecological phenomenon of "functional redundancy" — different species can perform the same functions.</a:t>
            </a:r>
          </a:p>
          <a:p>
            <a:endParaRPr/>
          </a:p>
          <a:p>
            <a:r>
              <a:t>But the story doesn't end here. The image on the right shows our stratified functional analysis from HUMAnN. This colorful stacked bar chart shows how different species' contributions to key pathways changed.</a:t>
            </a:r>
          </a:p>
          <a:p>
            <a:endParaRPr/>
          </a:p>
          <a:p>
            <a:r>
              <a:t>We discovered an important phenomenon I call "Silent Shift." Although total function remains unchanged, the species executing these functions have changed! On the left, probiotics like Lactobacillus johnsonii decreased their contribution by 50%; on the right, inflammation-associated bacteria like Mucispirillum schaedleri increased by 57%.</a:t>
            </a:r>
          </a:p>
          <a:p>
            <a:endParaRPr/>
          </a:p>
          <a:p>
            <a:r>
              <a:t>What does this mean? Although metabolic functions look the same, the "workers" producing these functions have changed from good bacteria to bad bacteria. For the immune system, this is a completely different signal.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shows co-occurrence network analysis, revealing an important phenomenon: network module structure collapse.</a:t>
            </a:r>
          </a:p>
          <a:p>
            <a:endParaRPr/>
          </a:p>
          <a:p>
            <a:r>
              <a:t>What is modularity? Simply put, high modularity means species specialize and functions are differentiated; low modularity means species mix together with blurred functional boundaries.</a:t>
            </a:r>
          </a:p>
          <a:p>
            <a:endParaRPr/>
          </a:p>
          <a:p>
            <a:r>
              <a:t>The left table compares network characteristics between groups. Control HpKO: 80 nodes, 1,280 edges, modularity 0.468 — a healthy network with clear functional modules. CagA+ HpWT: 100 nodes, 2,190 edges — a 71% increase! But most critically, modularity dropped from 0.468 to 0.177, a 62% decrease.</a:t>
            </a:r>
          </a:p>
          <a:p>
            <a:endParaRPr/>
          </a:p>
          <a:p>
            <a:r>
              <a:t>What does this 62% modularity drop mean? Species boundaries became blurred, niche overlap increased. Species that used to specialize now have overlapping functions. This perfectly explains the functional redundancy we saw earlier at the network level — why species changed but functions remained stable, because functional division among species was disrupted.</a:t>
            </a:r>
          </a:p>
          <a:p>
            <a:endParaRPr/>
          </a:p>
          <a:p>
            <a:r>
              <a:t>The right side shows Hub species — the most connected key species in the network. Interestingly, these Hub species are mainly anaerobic Clostridia like Blautia and Roseburia — major short-chain fatty acid producers. Also noteworthy is Parabacteroides distasonis with exceptionally high betweenness centrality — a "bridge species" connecting different functional modules, potentially a key node for CagA's immune modulation effect.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final result is bacteria-phage coordination.</a:t>
            </a:r>
          </a:p>
          <a:p>
            <a:endParaRPr/>
          </a:p>
          <a:p>
            <a:r>
              <a:t>We said CagA doesn't directly affect viruses, but this doesn't mean viruses are unchanged. On the contrary, we found significant phage changes — they're just downstream effects of bacterial changes.</a:t>
            </a:r>
          </a:p>
          <a:p>
            <a:endParaRPr/>
          </a:p>
          <a:p>
            <a:r>
              <a:t>The left shows key statistics. First, phage Alpha diversity significantly decreased with P=0.032. This means after CagA infection, phage species diversity decreased.</a:t>
            </a:r>
          </a:p>
          <a:p>
            <a:endParaRPr/>
          </a:p>
          <a:p>
            <a:r>
              <a:t>More importantly, bacteria-phage coordination analysis. We performed two analyses: Mantel test and Procrustes analysis. Mantel test r=0.52 with P=0.001, highly significant; Procrustes P=0.002, also highly significant. This means bacterial and phage community structural changes are highly consistent.</a:t>
            </a:r>
          </a:p>
          <a:p>
            <a:endParaRPr/>
          </a:p>
          <a:p>
            <a:r>
              <a:t>The right figure shows these two analyses. Left is Alpha diversity correlation — not significant, meaning diversity levels aren't the key association. Right is Procrustes analysis — you can see bacterial and phage sample points connected by lines, shorter lines mean better agreement. Different colors represent different treatment groups.</a:t>
            </a:r>
          </a:p>
          <a:p>
            <a:endParaRPr/>
          </a:p>
          <a:p>
            <a:r>
              <a:t>What's the conclusion? CagA's effect propagates through a cascade: CagA first changes bacteria, then bacterial changes drive phage changes. This is a complete microbiome cascade effect.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Alright, let me summarize today's core conclusions.</a:t>
            </a:r>
          </a:p>
          <a:p>
            <a:endParaRPr/>
          </a:p>
          <a:p>
            <a:r>
              <a:t>First, CagA significantly restructures gut microbiota. Beta diversity P=0.012, effect size 33.6%. Importantly, this is selective regulation, not destruction — Alpha diversity remained unchanged.</a:t>
            </a:r>
          </a:p>
          <a:p>
            <a:endParaRPr/>
          </a:p>
          <a:p>
            <a:r>
              <a:t>Second, functional redundancy verified at all levels. From Pathway to KO to GO to PFAM, all four functional levels showed no FDR-significant differences. Species changed, but functions remained stable.</a:t>
            </a:r>
          </a:p>
          <a:p>
            <a:endParaRPr/>
          </a:p>
          <a:p>
            <a:r>
              <a:t>Third, network module structure collapsed. Co-occurrence network analysis showed modularity decreased 62%, from 0.468 to 0.177. This explains functional redundancy at the network level — functional division among species was disrupted.</a:t>
            </a:r>
          </a:p>
          <a:p>
            <a:endParaRPr/>
          </a:p>
          <a:p>
            <a:r>
              <a:t>Fourth, Driver species silently shifted. Although total function remained unchanged, the species executing functions changed — from probiotics to pathobionts. L. johnsonii decreased 50%, M. schaedleri increased 57%. For the immune system, this is a completely different signal.</a:t>
            </a:r>
          </a:p>
          <a:p>
            <a:endParaRPr/>
          </a:p>
          <a:p>
            <a:r>
              <a:t>Fifth, bacteria and phage are highly coordinated. Mantel test P=0.001, showing clear cascade effect.</a:t>
            </a:r>
          </a:p>
          <a:p>
            <a:endParaRPr/>
          </a:p>
          <a:p>
            <a:r>
              <a:t>Future directions: First, metabolomics validation to see if metabolites are truly the same under functional redundancy; second, integration with tumor and T-cell phenotype data to verify the latter half of our hypothesis.</a:t>
            </a:r>
          </a:p>
          <a:p>
            <a:endParaRPr/>
          </a:p>
          <a:p>
            <a:r>
              <a:t>Thank you for your attention! Questions and discussions are welcome.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2560320"/>
          </a:xfrm>
          <a:prstGeom prst="rect">
            <a:avLst/>
          </a:prstGeom>
          <a:solidFill>
            <a:srgbClr val="14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413775"/>
            <a:ext cx="8229600" cy="1097280"/>
          </a:xfrm>
          <a:prstGeom prst="rect">
            <a:avLst/>
          </a:prstGeom>
          <a:noFill/>
        </p:spPr>
        <p:txBody>
          <a:bodyPr wrap="square">
            <a:spAutoFit/>
          </a:bodyPr>
          <a:lstStyle/>
          <a:p>
            <a:pPr algn="ctr">
              <a:defRPr sz="3600" b="1">
                <a:solidFill>
                  <a:srgbClr val="FFFFFF"/>
                </a:solidFill>
              </a:defRPr>
            </a:pPr>
            <a:r>
              <a:rPr dirty="0" err="1"/>
              <a:t>CagA</a:t>
            </a:r>
            <a:r>
              <a:rPr dirty="0"/>
              <a:t>-Dependent Gut Microbiome Restructuring</a:t>
            </a:r>
            <a:br>
              <a:rPr dirty="0"/>
            </a:br>
            <a:r>
              <a:rPr dirty="0"/>
              <a:t>and Functional Redundancy</a:t>
            </a:r>
          </a:p>
        </p:txBody>
      </p:sp>
      <p:sp>
        <p:nvSpPr>
          <p:cNvPr id="4" name="TextBox 3"/>
          <p:cNvSpPr txBox="1"/>
          <p:nvPr/>
        </p:nvSpPr>
        <p:spPr>
          <a:xfrm>
            <a:off x="457200" y="2878065"/>
            <a:ext cx="8229600" cy="731520"/>
          </a:xfrm>
          <a:prstGeom prst="rect">
            <a:avLst/>
          </a:prstGeom>
          <a:noFill/>
        </p:spPr>
        <p:txBody>
          <a:bodyPr wrap="none">
            <a:spAutoFit/>
          </a:bodyPr>
          <a:lstStyle/>
          <a:p>
            <a:pPr algn="ctr">
              <a:defRPr sz="2000">
                <a:solidFill>
                  <a:srgbClr val="0D47A1"/>
                </a:solidFill>
              </a:defRPr>
            </a:pPr>
            <a:r>
              <a:rPr dirty="0"/>
              <a:t>PC047 </a:t>
            </a:r>
            <a:r>
              <a:rPr dirty="0" err="1"/>
              <a:t>vCagAepitope</a:t>
            </a:r>
            <a:r>
              <a:rPr dirty="0"/>
              <a:t> Microbiome Analysis Progress</a:t>
            </a:r>
          </a:p>
        </p:txBody>
      </p:sp>
      <p:sp>
        <p:nvSpPr>
          <p:cNvPr id="5" name="TextBox 4"/>
          <p:cNvSpPr txBox="1"/>
          <p:nvPr/>
        </p:nvSpPr>
        <p:spPr>
          <a:xfrm>
            <a:off x="457200" y="4114800"/>
            <a:ext cx="8229600" cy="914400"/>
          </a:xfrm>
          <a:prstGeom prst="rect">
            <a:avLst/>
          </a:prstGeom>
          <a:noFill/>
        </p:spPr>
        <p:txBody>
          <a:bodyPr wrap="none">
            <a:spAutoFit/>
          </a:bodyPr>
          <a:lstStyle/>
          <a:p>
            <a:pPr algn="ctr">
              <a:defRPr sz="1800">
                <a:solidFill>
                  <a:srgbClr val="333333"/>
                </a:solidFill>
              </a:defRPr>
            </a:pPr>
            <a:r>
              <a:t>2026-01-26</a:t>
            </a:r>
            <a:br/>
            <a:r>
              <a:t>Presenter: Yuhang Gong</a:t>
            </a:r>
          </a:p>
        </p:txBody>
      </p:sp>
      <p:sp>
        <p:nvSpPr>
          <p:cNvPr id="6" name="TextBox 5"/>
          <p:cNvSpPr txBox="1"/>
          <p:nvPr/>
        </p:nvSpPr>
        <p:spPr>
          <a:xfrm>
            <a:off x="8229600" y="4594860"/>
            <a:ext cx="731520" cy="365760"/>
          </a:xfrm>
          <a:prstGeom prst="rect">
            <a:avLst/>
          </a:prstGeom>
          <a:noFill/>
        </p:spPr>
        <p:txBody>
          <a:bodyPr wrap="none">
            <a:spAutoFit/>
          </a:bodyPr>
          <a:lstStyle/>
          <a:p>
            <a:pPr algn="r">
              <a:defRPr sz="1400" b="1">
                <a:solidFill>
                  <a:srgbClr val="1465C0"/>
                </a:solidFill>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14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8229600" cy="548640"/>
          </a:xfrm>
          <a:prstGeom prst="rect">
            <a:avLst/>
          </a:prstGeom>
          <a:noFill/>
        </p:spPr>
        <p:txBody>
          <a:bodyPr wrap="none">
            <a:spAutoFit/>
          </a:bodyPr>
          <a:lstStyle/>
          <a:p>
            <a:pPr>
              <a:defRPr sz="2800" b="1">
                <a:solidFill>
                  <a:srgbClr val="FFFFFF"/>
                </a:solidFill>
              </a:defRPr>
            </a:pPr>
            <a:r>
              <a:t>Background: CagA and Intestinal Tumors</a:t>
            </a:r>
          </a:p>
        </p:txBody>
      </p:sp>
      <p:sp>
        <p:nvSpPr>
          <p:cNvPr id="4" name="TextBox 3"/>
          <p:cNvSpPr txBox="1"/>
          <p:nvPr/>
        </p:nvSpPr>
        <p:spPr>
          <a:xfrm>
            <a:off x="274320" y="1097280"/>
            <a:ext cx="4114800" cy="365760"/>
          </a:xfrm>
          <a:prstGeom prst="rect">
            <a:avLst/>
          </a:prstGeom>
          <a:noFill/>
        </p:spPr>
        <p:txBody>
          <a:bodyPr wrap="none">
            <a:spAutoFit/>
          </a:bodyPr>
          <a:lstStyle/>
          <a:p>
            <a:pPr>
              <a:defRPr sz="1600" b="1">
                <a:solidFill>
                  <a:srgbClr val="0D47A1"/>
                </a:solidFill>
              </a:defRPr>
            </a:pPr>
            <a:r>
              <a:t>H. pylori CagA Pathogenesis</a:t>
            </a:r>
          </a:p>
        </p:txBody>
      </p:sp>
      <p:sp>
        <p:nvSpPr>
          <p:cNvPr id="5" name="Rounded Rectangle 4"/>
          <p:cNvSpPr/>
          <p:nvPr/>
        </p:nvSpPr>
        <p:spPr>
          <a:xfrm>
            <a:off x="457200" y="1554480"/>
            <a:ext cx="1645920" cy="457200"/>
          </a:xfrm>
          <a:prstGeom prst="roundRect">
            <a:avLst>
              <a:gd name="adj" fmla="val 10000"/>
            </a:avLst>
          </a:prstGeom>
          <a:solidFill>
            <a:srgbClr val="BBDEFB"/>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0">
                <a:solidFill>
                  <a:srgbClr val="333333"/>
                </a:solidFill>
              </a:defRPr>
            </a:pPr>
            <a:r>
              <a:t>H. pylori</a:t>
            </a:r>
            <a:br/>
            <a:r>
              <a:t>Infection</a:t>
            </a:r>
          </a:p>
        </p:txBody>
      </p:sp>
      <p:sp>
        <p:nvSpPr>
          <p:cNvPr id="6" name="Rounded Rectangle 5"/>
          <p:cNvSpPr/>
          <p:nvPr/>
        </p:nvSpPr>
        <p:spPr>
          <a:xfrm>
            <a:off x="2377440" y="1554480"/>
            <a:ext cx="1645920" cy="457200"/>
          </a:xfrm>
          <a:prstGeom prst="roundRect">
            <a:avLst>
              <a:gd name="adj" fmla="val 10000"/>
            </a:avLst>
          </a:prstGeom>
          <a:solidFill>
            <a:srgbClr val="BBDEFB"/>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0">
                <a:solidFill>
                  <a:srgbClr val="333333"/>
                </a:solidFill>
              </a:defRPr>
            </a:pPr>
            <a:r>
              <a:t>CagA Injection</a:t>
            </a:r>
            <a:br/>
            <a:r>
              <a:t>into Host Cell</a:t>
            </a:r>
          </a:p>
        </p:txBody>
      </p:sp>
      <p:sp>
        <p:nvSpPr>
          <p:cNvPr id="7" name="Rounded Rectangle 6"/>
          <p:cNvSpPr/>
          <p:nvPr/>
        </p:nvSpPr>
        <p:spPr>
          <a:xfrm>
            <a:off x="457200" y="2286000"/>
            <a:ext cx="1645920" cy="548640"/>
          </a:xfrm>
          <a:prstGeom prst="roundRect">
            <a:avLst>
              <a:gd name="adj" fmla="val 10000"/>
            </a:avLst>
          </a:prstGeom>
          <a:solidFill>
            <a:srgbClr val="FF9800"/>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0">
                <a:solidFill>
                  <a:srgbClr val="333333"/>
                </a:solidFill>
              </a:defRPr>
            </a:pPr>
            <a:r>
              <a:t>Disrupt Wnt/</a:t>
            </a:r>
            <a:br/>
            <a:r>
              <a:t>NF-κB Pathways</a:t>
            </a:r>
          </a:p>
        </p:txBody>
      </p:sp>
      <p:sp>
        <p:nvSpPr>
          <p:cNvPr id="8" name="Rounded Rectangle 7"/>
          <p:cNvSpPr/>
          <p:nvPr/>
        </p:nvSpPr>
        <p:spPr>
          <a:xfrm>
            <a:off x="2377440" y="2286000"/>
            <a:ext cx="1645920" cy="548640"/>
          </a:xfrm>
          <a:prstGeom prst="roundRect">
            <a:avLst>
              <a:gd name="adj" fmla="val 10000"/>
            </a:avLst>
          </a:prstGeom>
          <a:solidFill>
            <a:srgbClr val="FF9800"/>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0">
                <a:solidFill>
                  <a:srgbClr val="333333"/>
                </a:solidFill>
              </a:defRPr>
            </a:pPr>
            <a:r>
              <a:t>Gut Microbiota</a:t>
            </a:r>
            <a:br/>
            <a:r>
              <a:t>Dysbiosis</a:t>
            </a:r>
          </a:p>
        </p:txBody>
      </p:sp>
      <p:sp>
        <p:nvSpPr>
          <p:cNvPr id="9" name="Rounded Rectangle 8"/>
          <p:cNvSpPr/>
          <p:nvPr/>
        </p:nvSpPr>
        <p:spPr>
          <a:xfrm>
            <a:off x="1417320" y="3108960"/>
            <a:ext cx="1828800" cy="457200"/>
          </a:xfrm>
          <a:prstGeom prst="roundRect">
            <a:avLst>
              <a:gd name="adj" fmla="val 10000"/>
            </a:avLst>
          </a:prstGeom>
          <a:solidFill>
            <a:srgbClr val="E53935"/>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0">
                <a:solidFill>
                  <a:srgbClr val="FFFFFF"/>
                </a:solidFill>
              </a:defRPr>
            </a:pPr>
            <a:r>
              <a:t>Tumor Promotion</a:t>
            </a:r>
          </a:p>
        </p:txBody>
      </p:sp>
      <p:sp>
        <p:nvSpPr>
          <p:cNvPr id="10" name="Right Arrow 9"/>
          <p:cNvSpPr/>
          <p:nvPr/>
        </p:nvSpPr>
        <p:spPr>
          <a:xfrm>
            <a:off x="2148840" y="1691640"/>
            <a:ext cx="182880" cy="137160"/>
          </a:xfrm>
          <a:prstGeom prs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Down Arrow 10"/>
          <p:cNvSpPr/>
          <p:nvPr/>
        </p:nvSpPr>
        <p:spPr>
          <a:xfrm>
            <a:off x="1280160" y="2057400"/>
            <a:ext cx="137160" cy="182880"/>
          </a:xfrm>
          <a:prstGeom prst="down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Down Arrow 11"/>
          <p:cNvSpPr/>
          <p:nvPr/>
        </p:nvSpPr>
        <p:spPr>
          <a:xfrm>
            <a:off x="3200400" y="2057400"/>
            <a:ext cx="137160" cy="182880"/>
          </a:xfrm>
          <a:prstGeom prst="down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Down Arrow 12"/>
          <p:cNvSpPr/>
          <p:nvPr/>
        </p:nvSpPr>
        <p:spPr>
          <a:xfrm>
            <a:off x="1280160" y="2880360"/>
            <a:ext cx="137160" cy="182880"/>
          </a:xfrm>
          <a:prstGeom prst="down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Down Arrow 13"/>
          <p:cNvSpPr/>
          <p:nvPr/>
        </p:nvSpPr>
        <p:spPr>
          <a:xfrm>
            <a:off x="3200400" y="2880360"/>
            <a:ext cx="137160" cy="182880"/>
          </a:xfrm>
          <a:prstGeom prst="down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0" y="1097280"/>
            <a:ext cx="4114800" cy="365760"/>
          </a:xfrm>
          <a:prstGeom prst="rect">
            <a:avLst/>
          </a:prstGeom>
          <a:noFill/>
        </p:spPr>
        <p:txBody>
          <a:bodyPr wrap="none">
            <a:spAutoFit/>
          </a:bodyPr>
          <a:lstStyle/>
          <a:p>
            <a:pPr>
              <a:defRPr sz="1600" b="1">
                <a:solidFill>
                  <a:srgbClr val="0D47A1"/>
                </a:solidFill>
              </a:defRPr>
            </a:pPr>
            <a:r>
              <a:t>Key Literature Support</a:t>
            </a:r>
          </a:p>
        </p:txBody>
      </p:sp>
      <p:sp>
        <p:nvSpPr>
          <p:cNvPr id="16" name="TextBox 15"/>
          <p:cNvSpPr txBox="1"/>
          <p:nvPr/>
        </p:nvSpPr>
        <p:spPr>
          <a:xfrm>
            <a:off x="4572000" y="1554480"/>
            <a:ext cx="4114800" cy="274320"/>
          </a:xfrm>
          <a:prstGeom prst="rect">
            <a:avLst/>
          </a:prstGeom>
          <a:noFill/>
        </p:spPr>
        <p:txBody>
          <a:bodyPr wrap="none">
            <a:spAutoFit/>
          </a:bodyPr>
          <a:lstStyle/>
          <a:p>
            <a:pPr>
              <a:defRPr sz="1100" b="1">
                <a:solidFill>
                  <a:srgbClr val="1465C0"/>
                </a:solidFill>
              </a:defRPr>
            </a:pPr>
            <a:r>
              <a:t>• Jones et al. 2017, PLoS Pathog</a:t>
            </a:r>
          </a:p>
        </p:txBody>
      </p:sp>
      <p:sp>
        <p:nvSpPr>
          <p:cNvPr id="17" name="TextBox 16"/>
          <p:cNvSpPr txBox="1"/>
          <p:nvPr/>
        </p:nvSpPr>
        <p:spPr>
          <a:xfrm>
            <a:off x="4754880" y="1828800"/>
            <a:ext cx="3931920" cy="548640"/>
          </a:xfrm>
          <a:prstGeom prst="rect">
            <a:avLst/>
          </a:prstGeom>
          <a:noFill/>
        </p:spPr>
        <p:txBody>
          <a:bodyPr wrap="square">
            <a:spAutoFit/>
          </a:bodyPr>
          <a:lstStyle/>
          <a:p>
            <a:pPr>
              <a:defRPr sz="1000">
                <a:solidFill>
                  <a:srgbClr val="333333"/>
                </a:solidFill>
              </a:defRPr>
            </a:pPr>
            <a:r>
              <a:t>Drosophila: CagA alone induces</a:t>
            </a:r>
            <a:br/>
            <a:r>
              <a:t>dysbiosis and epithelial proliferation</a:t>
            </a:r>
          </a:p>
        </p:txBody>
      </p:sp>
      <p:sp>
        <p:nvSpPr>
          <p:cNvPr id="18" name="TextBox 17"/>
          <p:cNvSpPr txBox="1"/>
          <p:nvPr/>
        </p:nvSpPr>
        <p:spPr>
          <a:xfrm>
            <a:off x="4572000" y="2331720"/>
            <a:ext cx="4114800" cy="274320"/>
          </a:xfrm>
          <a:prstGeom prst="rect">
            <a:avLst/>
          </a:prstGeom>
          <a:noFill/>
        </p:spPr>
        <p:txBody>
          <a:bodyPr wrap="none">
            <a:spAutoFit/>
          </a:bodyPr>
          <a:lstStyle/>
          <a:p>
            <a:pPr>
              <a:defRPr sz="1100" b="1">
                <a:solidFill>
                  <a:srgbClr val="1465C0"/>
                </a:solidFill>
              </a:defRPr>
            </a:pPr>
            <a:r>
              <a:t>• Cui et al. 2025, BMC Gastro</a:t>
            </a:r>
          </a:p>
        </p:txBody>
      </p:sp>
      <p:sp>
        <p:nvSpPr>
          <p:cNvPr id="19" name="TextBox 18"/>
          <p:cNvSpPr txBox="1"/>
          <p:nvPr/>
        </p:nvSpPr>
        <p:spPr>
          <a:xfrm>
            <a:off x="4754880" y="2606039"/>
            <a:ext cx="3931920" cy="548640"/>
          </a:xfrm>
          <a:prstGeom prst="rect">
            <a:avLst/>
          </a:prstGeom>
          <a:noFill/>
        </p:spPr>
        <p:txBody>
          <a:bodyPr wrap="square">
            <a:spAutoFit/>
          </a:bodyPr>
          <a:lstStyle/>
          <a:p>
            <a:pPr>
              <a:defRPr sz="1000">
                <a:solidFill>
                  <a:srgbClr val="333333"/>
                </a:solidFill>
              </a:defRPr>
            </a:pPr>
            <a:r>
              <a:t>Clinical: CagA+ strains affect</a:t>
            </a:r>
            <a:br/>
            <a:r>
              <a:t>colorectal lesions via gut microbiota</a:t>
            </a:r>
          </a:p>
        </p:txBody>
      </p:sp>
      <p:sp>
        <p:nvSpPr>
          <p:cNvPr id="20" name="TextBox 19"/>
          <p:cNvSpPr txBox="1"/>
          <p:nvPr/>
        </p:nvSpPr>
        <p:spPr>
          <a:xfrm>
            <a:off x="4572000" y="3108960"/>
            <a:ext cx="4114800" cy="274320"/>
          </a:xfrm>
          <a:prstGeom prst="rect">
            <a:avLst/>
          </a:prstGeom>
          <a:noFill/>
        </p:spPr>
        <p:txBody>
          <a:bodyPr wrap="none">
            <a:spAutoFit/>
          </a:bodyPr>
          <a:lstStyle/>
          <a:p>
            <a:pPr>
              <a:defRPr sz="1100" b="1">
                <a:solidFill>
                  <a:srgbClr val="1465C0"/>
                </a:solidFill>
              </a:defRPr>
            </a:pPr>
            <a:r>
              <a:t>• Ding et al. 2025, Cell Host</a:t>
            </a:r>
          </a:p>
        </p:txBody>
      </p:sp>
      <p:sp>
        <p:nvSpPr>
          <p:cNvPr id="21" name="TextBox 20"/>
          <p:cNvSpPr txBox="1"/>
          <p:nvPr/>
        </p:nvSpPr>
        <p:spPr>
          <a:xfrm>
            <a:off x="4754880" y="3383279"/>
            <a:ext cx="3931920" cy="548640"/>
          </a:xfrm>
          <a:prstGeom prst="rect">
            <a:avLst/>
          </a:prstGeom>
          <a:noFill/>
        </p:spPr>
        <p:txBody>
          <a:bodyPr wrap="square">
            <a:spAutoFit/>
          </a:bodyPr>
          <a:lstStyle/>
          <a:p>
            <a:pPr>
              <a:defRPr sz="1000">
                <a:solidFill>
                  <a:srgbClr val="333333"/>
                </a:solidFill>
              </a:defRPr>
            </a:pPr>
            <a:r>
              <a:t>Phage can eliminate tumor-</a:t>
            </a:r>
            <a:br/>
            <a:r>
              <a:t>promoting bacteria</a:t>
            </a:r>
          </a:p>
        </p:txBody>
      </p:sp>
      <p:sp>
        <p:nvSpPr>
          <p:cNvPr id="22" name="Rounded Rectangle 21"/>
          <p:cNvSpPr/>
          <p:nvPr/>
        </p:nvSpPr>
        <p:spPr>
          <a:xfrm>
            <a:off x="457200" y="3840480"/>
            <a:ext cx="8229600" cy="73152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3977639"/>
            <a:ext cx="7863840" cy="548640"/>
          </a:xfrm>
          <a:prstGeom prst="rect">
            <a:avLst/>
          </a:prstGeom>
          <a:noFill/>
        </p:spPr>
        <p:txBody>
          <a:bodyPr wrap="square">
            <a:spAutoFit/>
          </a:bodyPr>
          <a:lstStyle/>
          <a:p>
            <a:pPr algn="ctr">
              <a:defRPr sz="1600" b="1">
                <a:solidFill>
                  <a:srgbClr val="FFFFFF"/>
                </a:solidFill>
              </a:defRPr>
            </a:pPr>
            <a:r>
              <a:t>Central Question: What maintains CD8+ T-cell activation after CagA clearance?</a:t>
            </a:r>
          </a:p>
        </p:txBody>
      </p:sp>
      <p:sp>
        <p:nvSpPr>
          <p:cNvPr id="24" name="TextBox 23"/>
          <p:cNvSpPr txBox="1"/>
          <p:nvPr/>
        </p:nvSpPr>
        <p:spPr>
          <a:xfrm>
            <a:off x="8229600" y="4594860"/>
            <a:ext cx="731520" cy="365760"/>
          </a:xfrm>
          <a:prstGeom prst="rect">
            <a:avLst/>
          </a:prstGeom>
          <a:noFill/>
        </p:spPr>
        <p:txBody>
          <a:bodyPr wrap="none">
            <a:spAutoFit/>
          </a:bodyPr>
          <a:lstStyle/>
          <a:p>
            <a:pPr algn="r">
              <a:defRPr sz="1400" b="1">
                <a:solidFill>
                  <a:srgbClr val="1465C0"/>
                </a:solidFill>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14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8229600" cy="548640"/>
          </a:xfrm>
          <a:prstGeom prst="rect">
            <a:avLst/>
          </a:prstGeom>
          <a:noFill/>
        </p:spPr>
        <p:txBody>
          <a:bodyPr wrap="none">
            <a:spAutoFit/>
          </a:bodyPr>
          <a:lstStyle/>
          <a:p>
            <a:pPr>
              <a:defRPr sz="2800" b="1">
                <a:solidFill>
                  <a:srgbClr val="FFFFFF"/>
                </a:solidFill>
              </a:defRPr>
            </a:pPr>
            <a:r>
              <a:t>Background: Apc Mutation and Genetic Susceptibility</a:t>
            </a:r>
          </a:p>
        </p:txBody>
      </p:sp>
      <p:sp>
        <p:nvSpPr>
          <p:cNvPr id="4" name="TextBox 3"/>
          <p:cNvSpPr txBox="1"/>
          <p:nvPr/>
        </p:nvSpPr>
        <p:spPr>
          <a:xfrm>
            <a:off x="274320" y="1097280"/>
            <a:ext cx="4114800" cy="365760"/>
          </a:xfrm>
          <a:prstGeom prst="rect">
            <a:avLst/>
          </a:prstGeom>
          <a:noFill/>
        </p:spPr>
        <p:txBody>
          <a:bodyPr wrap="none">
            <a:spAutoFit/>
          </a:bodyPr>
          <a:lstStyle/>
          <a:p>
            <a:pPr>
              <a:defRPr sz="1400" b="1">
                <a:solidFill>
                  <a:srgbClr val="0D47A1"/>
                </a:solidFill>
              </a:defRPr>
            </a:pPr>
            <a:r>
              <a:t>Apc Mutation → Constitutive Wnt Activation</a:t>
            </a:r>
          </a:p>
        </p:txBody>
      </p:sp>
      <p:sp>
        <p:nvSpPr>
          <p:cNvPr id="5" name="TextBox 4"/>
          <p:cNvSpPr txBox="1"/>
          <p:nvPr/>
        </p:nvSpPr>
        <p:spPr>
          <a:xfrm>
            <a:off x="457200" y="1463040"/>
            <a:ext cx="1828800" cy="274320"/>
          </a:xfrm>
          <a:prstGeom prst="rect">
            <a:avLst/>
          </a:prstGeom>
          <a:noFill/>
        </p:spPr>
        <p:txBody>
          <a:bodyPr wrap="none">
            <a:spAutoFit/>
          </a:bodyPr>
          <a:lstStyle/>
          <a:p>
            <a:pPr>
              <a:defRPr sz="1200" b="1">
                <a:solidFill>
                  <a:srgbClr val="4CAF50"/>
                </a:solidFill>
              </a:defRPr>
            </a:pPr>
            <a:r>
              <a:t>Normal</a:t>
            </a:r>
          </a:p>
        </p:txBody>
      </p:sp>
      <p:sp>
        <p:nvSpPr>
          <p:cNvPr id="6" name="Rounded Rectangle 5"/>
          <p:cNvSpPr/>
          <p:nvPr/>
        </p:nvSpPr>
        <p:spPr>
          <a:xfrm>
            <a:off x="457200" y="1737360"/>
            <a:ext cx="914400" cy="365760"/>
          </a:xfrm>
          <a:prstGeom prst="roundRect">
            <a:avLst>
              <a:gd name="adj" fmla="val 10000"/>
            </a:avLst>
          </a:prstGeom>
          <a:solidFill>
            <a:srgbClr val="4CAF50"/>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200" b="1">
                <a:solidFill>
                  <a:srgbClr val="FFFFFF"/>
                </a:solidFill>
              </a:defRPr>
            </a:pPr>
            <a:r>
              <a:t>APC</a:t>
            </a:r>
          </a:p>
        </p:txBody>
      </p:sp>
      <p:sp>
        <p:nvSpPr>
          <p:cNvPr id="7" name="Right Arrow 6"/>
          <p:cNvSpPr/>
          <p:nvPr/>
        </p:nvSpPr>
        <p:spPr>
          <a:xfrm>
            <a:off x="1417320" y="1828800"/>
            <a:ext cx="274320" cy="182880"/>
          </a:xfrm>
          <a:prstGeom prs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737360" y="1737360"/>
            <a:ext cx="1097280" cy="365760"/>
          </a:xfrm>
          <a:prstGeom prst="roundRect">
            <a:avLst>
              <a:gd name="adj" fmla="val 10000"/>
            </a:avLst>
          </a:prstGeom>
          <a:solidFill>
            <a:srgbClr val="F5F5F5"/>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000" b="0">
                <a:solidFill>
                  <a:srgbClr val="333333"/>
                </a:solidFill>
              </a:defRPr>
            </a:pPr>
            <a:r>
              <a:t>β-catenin</a:t>
            </a:r>
            <a:br/>
            <a:r>
              <a:t>Degradation</a:t>
            </a:r>
          </a:p>
        </p:txBody>
      </p:sp>
      <p:sp>
        <p:nvSpPr>
          <p:cNvPr id="9" name="Right Arrow 8"/>
          <p:cNvSpPr/>
          <p:nvPr/>
        </p:nvSpPr>
        <p:spPr>
          <a:xfrm>
            <a:off x="2880360" y="1828800"/>
            <a:ext cx="274320" cy="182880"/>
          </a:xfrm>
          <a:prstGeom prs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200400" y="1737360"/>
            <a:ext cx="914400" cy="365760"/>
          </a:xfrm>
          <a:prstGeom prst="roundRect">
            <a:avLst>
              <a:gd name="adj" fmla="val 10000"/>
            </a:avLst>
          </a:prstGeom>
          <a:solidFill>
            <a:srgbClr val="4CAF50"/>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1">
                <a:solidFill>
                  <a:srgbClr val="FFFFFF"/>
                </a:solidFill>
              </a:defRPr>
            </a:pPr>
            <a:r>
              <a:t>Homeostasis</a:t>
            </a:r>
          </a:p>
        </p:txBody>
      </p:sp>
      <p:sp>
        <p:nvSpPr>
          <p:cNvPr id="11" name="TextBox 10"/>
          <p:cNvSpPr txBox="1"/>
          <p:nvPr/>
        </p:nvSpPr>
        <p:spPr>
          <a:xfrm>
            <a:off x="457200" y="2286000"/>
            <a:ext cx="1828800" cy="274320"/>
          </a:xfrm>
          <a:prstGeom prst="rect">
            <a:avLst/>
          </a:prstGeom>
          <a:noFill/>
        </p:spPr>
        <p:txBody>
          <a:bodyPr wrap="none">
            <a:spAutoFit/>
          </a:bodyPr>
          <a:lstStyle/>
          <a:p>
            <a:pPr>
              <a:defRPr sz="1200" b="1">
                <a:solidFill>
                  <a:srgbClr val="E53935"/>
                </a:solidFill>
              </a:defRPr>
            </a:pPr>
            <a:r>
              <a:t>Apc Mutant</a:t>
            </a:r>
          </a:p>
        </p:txBody>
      </p:sp>
      <p:sp>
        <p:nvSpPr>
          <p:cNvPr id="12" name="Rounded Rectangle 11"/>
          <p:cNvSpPr/>
          <p:nvPr/>
        </p:nvSpPr>
        <p:spPr>
          <a:xfrm>
            <a:off x="457200" y="2560320"/>
            <a:ext cx="914400" cy="365760"/>
          </a:xfrm>
          <a:prstGeom prst="roundRect">
            <a:avLst>
              <a:gd name="adj" fmla="val 10000"/>
            </a:avLst>
          </a:prstGeom>
          <a:solidFill>
            <a:srgbClr val="E53935"/>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200" b="1">
                <a:solidFill>
                  <a:srgbClr val="FFFFFF"/>
                </a:solidFill>
              </a:defRPr>
            </a:pPr>
            <a:r>
              <a:t>APC ✗</a:t>
            </a:r>
          </a:p>
        </p:txBody>
      </p:sp>
      <p:sp>
        <p:nvSpPr>
          <p:cNvPr id="13" name="Right Arrow 12"/>
          <p:cNvSpPr/>
          <p:nvPr/>
        </p:nvSpPr>
        <p:spPr>
          <a:xfrm>
            <a:off x="1417320" y="2651760"/>
            <a:ext cx="274320" cy="182880"/>
          </a:xfrm>
          <a:prstGeom prs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737360" y="2560320"/>
            <a:ext cx="1097280" cy="365760"/>
          </a:xfrm>
          <a:prstGeom prst="roundRect">
            <a:avLst>
              <a:gd name="adj" fmla="val 10000"/>
            </a:avLst>
          </a:prstGeom>
          <a:solidFill>
            <a:srgbClr val="FF9800"/>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000" b="0">
                <a:solidFill>
                  <a:srgbClr val="333333"/>
                </a:solidFill>
              </a:defRPr>
            </a:pPr>
            <a:r>
              <a:t>β-catenin</a:t>
            </a:r>
            <a:br/>
            <a:r>
              <a:t>Accumulation</a:t>
            </a:r>
          </a:p>
        </p:txBody>
      </p:sp>
      <p:sp>
        <p:nvSpPr>
          <p:cNvPr id="15" name="Right Arrow 14"/>
          <p:cNvSpPr/>
          <p:nvPr/>
        </p:nvSpPr>
        <p:spPr>
          <a:xfrm>
            <a:off x="2880360" y="2651760"/>
            <a:ext cx="274320" cy="182880"/>
          </a:xfrm>
          <a:prstGeom prs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200400" y="2560320"/>
            <a:ext cx="914400" cy="365760"/>
          </a:xfrm>
          <a:prstGeom prst="roundRect">
            <a:avLst>
              <a:gd name="adj" fmla="val 10000"/>
            </a:avLst>
          </a:prstGeom>
          <a:solidFill>
            <a:srgbClr val="E53935"/>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1">
                <a:solidFill>
                  <a:srgbClr val="FFFFFF"/>
                </a:solidFill>
              </a:defRPr>
            </a:pPr>
            <a:r>
              <a:t>Tumor</a:t>
            </a:r>
          </a:p>
        </p:txBody>
      </p:sp>
      <p:sp>
        <p:nvSpPr>
          <p:cNvPr id="17" name="TextBox 16"/>
          <p:cNvSpPr txBox="1"/>
          <p:nvPr/>
        </p:nvSpPr>
        <p:spPr>
          <a:xfrm>
            <a:off x="4572000" y="1097280"/>
            <a:ext cx="4114800" cy="365760"/>
          </a:xfrm>
          <a:prstGeom prst="rect">
            <a:avLst/>
          </a:prstGeom>
          <a:noFill/>
        </p:spPr>
        <p:txBody>
          <a:bodyPr wrap="none">
            <a:spAutoFit/>
          </a:bodyPr>
          <a:lstStyle/>
          <a:p>
            <a:pPr>
              <a:defRPr sz="1400" b="1">
                <a:solidFill>
                  <a:srgbClr val="0D47A1"/>
                </a:solidFill>
              </a:defRPr>
            </a:pPr>
            <a:r>
              <a:t>G×E Interaction Hypothesis</a:t>
            </a:r>
          </a:p>
        </p:txBody>
      </p:sp>
      <p:sp>
        <p:nvSpPr>
          <p:cNvPr id="18" name="TextBox 17"/>
          <p:cNvSpPr txBox="1"/>
          <p:nvPr/>
        </p:nvSpPr>
        <p:spPr>
          <a:xfrm>
            <a:off x="5486400" y="1463040"/>
            <a:ext cx="1371600" cy="274320"/>
          </a:xfrm>
          <a:prstGeom prst="rect">
            <a:avLst/>
          </a:prstGeom>
          <a:noFill/>
        </p:spPr>
        <p:txBody>
          <a:bodyPr wrap="none">
            <a:spAutoFit/>
          </a:bodyPr>
          <a:lstStyle/>
          <a:p>
            <a:pPr algn="ctr">
              <a:defRPr sz="1200" b="1">
                <a:solidFill>
                  <a:srgbClr val="333333"/>
                </a:solidFill>
              </a:defRPr>
            </a:pPr>
            <a:r>
              <a:t>ApcWT</a:t>
            </a:r>
          </a:p>
        </p:txBody>
      </p:sp>
      <p:sp>
        <p:nvSpPr>
          <p:cNvPr id="19" name="TextBox 18"/>
          <p:cNvSpPr txBox="1"/>
          <p:nvPr/>
        </p:nvSpPr>
        <p:spPr>
          <a:xfrm>
            <a:off x="7132320" y="1463040"/>
            <a:ext cx="1371600" cy="274320"/>
          </a:xfrm>
          <a:prstGeom prst="rect">
            <a:avLst/>
          </a:prstGeom>
          <a:noFill/>
        </p:spPr>
        <p:txBody>
          <a:bodyPr wrap="none">
            <a:spAutoFit/>
          </a:bodyPr>
          <a:lstStyle/>
          <a:p>
            <a:pPr algn="ctr">
              <a:defRPr sz="1200" b="1">
                <a:solidFill>
                  <a:srgbClr val="333333"/>
                </a:solidFill>
              </a:defRPr>
            </a:pPr>
            <a:r>
              <a:t>ApcMUT</a:t>
            </a:r>
          </a:p>
        </p:txBody>
      </p:sp>
      <p:sp>
        <p:nvSpPr>
          <p:cNvPr id="20" name="TextBox 19"/>
          <p:cNvSpPr txBox="1"/>
          <p:nvPr/>
        </p:nvSpPr>
        <p:spPr>
          <a:xfrm>
            <a:off x="4572000" y="1828800"/>
            <a:ext cx="731520" cy="457200"/>
          </a:xfrm>
          <a:prstGeom prst="rect">
            <a:avLst/>
          </a:prstGeom>
          <a:noFill/>
        </p:spPr>
        <p:txBody>
          <a:bodyPr wrap="none">
            <a:spAutoFit/>
          </a:bodyPr>
          <a:lstStyle/>
          <a:p>
            <a:pPr>
              <a:defRPr sz="1200" b="1">
                <a:solidFill>
                  <a:srgbClr val="333333"/>
                </a:solidFill>
              </a:defRPr>
            </a:pPr>
            <a:r>
              <a:t>CagA-</a:t>
            </a:r>
          </a:p>
        </p:txBody>
      </p:sp>
      <p:sp>
        <p:nvSpPr>
          <p:cNvPr id="21" name="TextBox 20"/>
          <p:cNvSpPr txBox="1"/>
          <p:nvPr/>
        </p:nvSpPr>
        <p:spPr>
          <a:xfrm>
            <a:off x="4572000" y="2560320"/>
            <a:ext cx="731520" cy="457200"/>
          </a:xfrm>
          <a:prstGeom prst="rect">
            <a:avLst/>
          </a:prstGeom>
          <a:noFill/>
        </p:spPr>
        <p:txBody>
          <a:bodyPr wrap="none">
            <a:spAutoFit/>
          </a:bodyPr>
          <a:lstStyle/>
          <a:p>
            <a:pPr>
              <a:defRPr sz="1200" b="1">
                <a:solidFill>
                  <a:srgbClr val="333333"/>
                </a:solidFill>
              </a:defRPr>
            </a:pPr>
            <a:r>
              <a:t>CagA+</a:t>
            </a:r>
          </a:p>
        </p:txBody>
      </p:sp>
      <p:sp>
        <p:nvSpPr>
          <p:cNvPr id="22" name="Rounded Rectangle 21"/>
          <p:cNvSpPr/>
          <p:nvPr/>
        </p:nvSpPr>
        <p:spPr>
          <a:xfrm>
            <a:off x="5486400" y="1783080"/>
            <a:ext cx="1371600" cy="548640"/>
          </a:xfrm>
          <a:prstGeom prst="roundRect">
            <a:avLst>
              <a:gd name="adj" fmla="val 10000"/>
            </a:avLst>
          </a:prstGeom>
          <a:solidFill>
            <a:srgbClr val="4CAF50"/>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1">
                <a:solidFill>
                  <a:srgbClr val="FFFFFF"/>
                </a:solidFill>
              </a:defRPr>
            </a:pPr>
            <a:r>
              <a:t>Normal</a:t>
            </a:r>
            <a:br/>
            <a:r>
              <a:t>Microbiota</a:t>
            </a:r>
          </a:p>
        </p:txBody>
      </p:sp>
      <p:sp>
        <p:nvSpPr>
          <p:cNvPr id="23" name="Rounded Rectangle 22"/>
          <p:cNvSpPr/>
          <p:nvPr/>
        </p:nvSpPr>
        <p:spPr>
          <a:xfrm>
            <a:off x="7132320" y="1783080"/>
            <a:ext cx="1371600" cy="548640"/>
          </a:xfrm>
          <a:prstGeom prst="roundRect">
            <a:avLst>
              <a:gd name="adj" fmla="val 10000"/>
            </a:avLst>
          </a:prstGeom>
          <a:solidFill>
            <a:srgbClr val="FF9800"/>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1">
                <a:solidFill>
                  <a:srgbClr val="333333"/>
                </a:solidFill>
              </a:defRPr>
            </a:pPr>
            <a:r>
              <a:t>Mild</a:t>
            </a:r>
            <a:br/>
            <a:r>
              <a:t>Dysbiosis</a:t>
            </a:r>
          </a:p>
        </p:txBody>
      </p:sp>
      <p:sp>
        <p:nvSpPr>
          <p:cNvPr id="24" name="Rounded Rectangle 23"/>
          <p:cNvSpPr/>
          <p:nvPr/>
        </p:nvSpPr>
        <p:spPr>
          <a:xfrm>
            <a:off x="5486400" y="2514600"/>
            <a:ext cx="1371600" cy="548640"/>
          </a:xfrm>
          <a:prstGeom prst="roundRect">
            <a:avLst>
              <a:gd name="adj" fmla="val 10000"/>
            </a:avLst>
          </a:prstGeom>
          <a:solidFill>
            <a:srgbClr val="F5F5F5"/>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1">
                <a:solidFill>
                  <a:srgbClr val="333333"/>
                </a:solidFill>
              </a:defRPr>
            </a:pPr>
            <a:r>
              <a:t>No Effect</a:t>
            </a:r>
            <a:br/>
            <a:r>
              <a:t>P=0.387</a:t>
            </a:r>
          </a:p>
        </p:txBody>
      </p:sp>
      <p:sp>
        <p:nvSpPr>
          <p:cNvPr id="25" name="Rounded Rectangle 24"/>
          <p:cNvSpPr/>
          <p:nvPr/>
        </p:nvSpPr>
        <p:spPr>
          <a:xfrm>
            <a:off x="7132320" y="2514600"/>
            <a:ext cx="1371600" cy="548640"/>
          </a:xfrm>
          <a:prstGeom prst="roundRect">
            <a:avLst>
              <a:gd name="adj" fmla="val 10000"/>
            </a:avLst>
          </a:prstGeom>
          <a:solidFill>
            <a:srgbClr val="E53935"/>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100" b="1">
                <a:solidFill>
                  <a:srgbClr val="FFFFFF"/>
                </a:solidFill>
              </a:defRPr>
            </a:pPr>
            <a:r>
              <a:t>Significant</a:t>
            </a:r>
            <a:br/>
            <a:r>
              <a:t>P=0.039</a:t>
            </a:r>
          </a:p>
        </p:txBody>
      </p:sp>
      <p:sp>
        <p:nvSpPr>
          <p:cNvPr id="26" name="TextBox 25"/>
          <p:cNvSpPr txBox="1"/>
          <p:nvPr/>
        </p:nvSpPr>
        <p:spPr>
          <a:xfrm>
            <a:off x="4572000" y="3200400"/>
            <a:ext cx="4114800" cy="548640"/>
          </a:xfrm>
          <a:prstGeom prst="rect">
            <a:avLst/>
          </a:prstGeom>
          <a:noFill/>
        </p:spPr>
        <p:txBody>
          <a:bodyPr wrap="square">
            <a:spAutoFit/>
          </a:bodyPr>
          <a:lstStyle/>
          <a:p>
            <a:pPr>
              <a:defRPr sz="1300" b="1">
                <a:solidFill>
                  <a:srgbClr val="0D47A1"/>
                </a:solidFill>
              </a:defRPr>
            </a:pPr>
            <a:r>
              <a:t>→ CagA effect requires Apc-mutant susceptible background</a:t>
            </a:r>
          </a:p>
        </p:txBody>
      </p:sp>
      <p:sp>
        <p:nvSpPr>
          <p:cNvPr id="27" name="TextBox 26"/>
          <p:cNvSpPr txBox="1"/>
          <p:nvPr/>
        </p:nvSpPr>
        <p:spPr>
          <a:xfrm>
            <a:off x="274320" y="3200400"/>
            <a:ext cx="4114800" cy="365760"/>
          </a:xfrm>
          <a:prstGeom prst="rect">
            <a:avLst/>
          </a:prstGeom>
          <a:noFill/>
        </p:spPr>
        <p:txBody>
          <a:bodyPr wrap="none">
            <a:spAutoFit/>
          </a:bodyPr>
          <a:lstStyle/>
          <a:p>
            <a:pPr>
              <a:defRPr sz="1400" b="1">
                <a:solidFill>
                  <a:srgbClr val="0D47A1"/>
                </a:solidFill>
              </a:defRPr>
            </a:pPr>
            <a:r>
              <a:t>Experimental Design: 2×3 Factorial</a:t>
            </a:r>
          </a:p>
        </p:txBody>
      </p:sp>
      <p:sp>
        <p:nvSpPr>
          <p:cNvPr id="28" name="Rounded Rectangle 27"/>
          <p:cNvSpPr/>
          <p:nvPr/>
        </p:nvSpPr>
        <p:spPr>
          <a:xfrm>
            <a:off x="457200" y="3566160"/>
            <a:ext cx="1371600" cy="365760"/>
          </a:xfrm>
          <a:prstGeom prst="roundRect">
            <a:avLst>
              <a:gd name="adj" fmla="val 10000"/>
            </a:avLst>
          </a:prstGeom>
          <a:solidFill>
            <a:srgbClr val="BBDEFB"/>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200" b="1">
                <a:solidFill>
                  <a:srgbClr val="333333"/>
                </a:solidFill>
              </a:defRPr>
            </a:pPr>
            <a:r>
              <a:t>ApcWT</a:t>
            </a:r>
          </a:p>
        </p:txBody>
      </p:sp>
      <p:sp>
        <p:nvSpPr>
          <p:cNvPr id="29" name="Rounded Rectangle 28"/>
          <p:cNvSpPr/>
          <p:nvPr/>
        </p:nvSpPr>
        <p:spPr>
          <a:xfrm>
            <a:off x="2011680" y="3566160"/>
            <a:ext cx="1371600" cy="365760"/>
          </a:xfrm>
          <a:prstGeom prst="roundRect">
            <a:avLst>
              <a:gd name="adj" fmla="val 10000"/>
            </a:avLst>
          </a:prstGeom>
          <a:solidFill>
            <a:srgbClr val="FF9800"/>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200" b="1">
                <a:solidFill>
                  <a:srgbClr val="333333"/>
                </a:solidFill>
              </a:defRPr>
            </a:pPr>
            <a:r>
              <a:t>ApcMUT</a:t>
            </a:r>
          </a:p>
        </p:txBody>
      </p:sp>
      <p:sp>
        <p:nvSpPr>
          <p:cNvPr id="30" name="Rounded Rectangle 29"/>
          <p:cNvSpPr/>
          <p:nvPr/>
        </p:nvSpPr>
        <p:spPr>
          <a:xfrm>
            <a:off x="457200" y="4023360"/>
            <a:ext cx="1097280" cy="320040"/>
          </a:xfrm>
          <a:prstGeom prst="roundRect">
            <a:avLst>
              <a:gd name="adj" fmla="val 10000"/>
            </a:avLst>
          </a:prstGeom>
          <a:solidFill>
            <a:srgbClr val="F5F5F5"/>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000" b="0">
                <a:solidFill>
                  <a:srgbClr val="333333"/>
                </a:solidFill>
              </a:defRPr>
            </a:pPr>
            <a:r>
              <a:t>Ctrl</a:t>
            </a:r>
          </a:p>
        </p:txBody>
      </p:sp>
      <p:sp>
        <p:nvSpPr>
          <p:cNvPr id="31" name="Rounded Rectangle 30"/>
          <p:cNvSpPr/>
          <p:nvPr/>
        </p:nvSpPr>
        <p:spPr>
          <a:xfrm>
            <a:off x="1737360" y="4023360"/>
            <a:ext cx="1097280" cy="320040"/>
          </a:xfrm>
          <a:prstGeom prst="roundRect">
            <a:avLst>
              <a:gd name="adj" fmla="val 10000"/>
            </a:avLst>
          </a:prstGeom>
          <a:solidFill>
            <a:srgbClr val="F5F5F5"/>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000" b="0">
                <a:solidFill>
                  <a:srgbClr val="333333"/>
                </a:solidFill>
              </a:defRPr>
            </a:pPr>
            <a:r>
              <a:t>HpKO</a:t>
            </a:r>
          </a:p>
        </p:txBody>
      </p:sp>
      <p:sp>
        <p:nvSpPr>
          <p:cNvPr id="32" name="Rounded Rectangle 31"/>
          <p:cNvSpPr/>
          <p:nvPr/>
        </p:nvSpPr>
        <p:spPr>
          <a:xfrm>
            <a:off x="3017520" y="4023360"/>
            <a:ext cx="1097280" cy="320040"/>
          </a:xfrm>
          <a:prstGeom prst="roundRect">
            <a:avLst>
              <a:gd name="adj" fmla="val 10000"/>
            </a:avLst>
          </a:prstGeom>
          <a:solidFill>
            <a:srgbClr val="F5F5F5"/>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000" b="0">
                <a:solidFill>
                  <a:srgbClr val="333333"/>
                </a:solidFill>
              </a:defRPr>
            </a:pPr>
            <a:r>
              <a:t>HpWT</a:t>
            </a:r>
          </a:p>
        </p:txBody>
      </p:sp>
      <p:sp>
        <p:nvSpPr>
          <p:cNvPr id="33" name="Rounded Rectangle 32"/>
          <p:cNvSpPr/>
          <p:nvPr/>
        </p:nvSpPr>
        <p:spPr>
          <a:xfrm>
            <a:off x="2560320" y="4434840"/>
            <a:ext cx="1554480" cy="320040"/>
          </a:xfrm>
          <a:prstGeom prst="roundRect">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560320" y="4453128"/>
            <a:ext cx="1554480" cy="274320"/>
          </a:xfrm>
          <a:prstGeom prst="rect">
            <a:avLst/>
          </a:prstGeom>
          <a:noFill/>
        </p:spPr>
        <p:txBody>
          <a:bodyPr wrap="none">
            <a:spAutoFit/>
          </a:bodyPr>
          <a:lstStyle/>
          <a:p>
            <a:pPr algn="ctr">
              <a:defRPr sz="1000" b="1">
                <a:solidFill>
                  <a:srgbClr val="FFFFFF"/>
                </a:solidFill>
              </a:defRPr>
            </a:pPr>
            <a:r>
              <a:t>Core Comparison</a:t>
            </a:r>
          </a:p>
        </p:txBody>
      </p:sp>
      <p:sp>
        <p:nvSpPr>
          <p:cNvPr id="35" name="TextBox 34"/>
          <p:cNvSpPr txBox="1"/>
          <p:nvPr/>
        </p:nvSpPr>
        <p:spPr>
          <a:xfrm>
            <a:off x="8229600" y="4594860"/>
            <a:ext cx="731520" cy="365760"/>
          </a:xfrm>
          <a:prstGeom prst="rect">
            <a:avLst/>
          </a:prstGeom>
          <a:noFill/>
        </p:spPr>
        <p:txBody>
          <a:bodyPr wrap="none">
            <a:spAutoFit/>
          </a:bodyPr>
          <a:lstStyle/>
          <a:p>
            <a:pPr algn="r">
              <a:defRPr sz="1400" b="1">
                <a:solidFill>
                  <a:srgbClr val="1465C0"/>
                </a:solidFill>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14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8229600" cy="548640"/>
          </a:xfrm>
          <a:prstGeom prst="rect">
            <a:avLst/>
          </a:prstGeom>
          <a:noFill/>
        </p:spPr>
        <p:txBody>
          <a:bodyPr wrap="none">
            <a:spAutoFit/>
          </a:bodyPr>
          <a:lstStyle/>
          <a:p>
            <a:pPr>
              <a:defRPr sz="2800" b="1">
                <a:solidFill>
                  <a:srgbClr val="FFFFFF"/>
                </a:solidFill>
              </a:defRPr>
            </a:pPr>
            <a:r>
              <a:t>Central Hypothesis: Functional Footprint</a:t>
            </a:r>
          </a:p>
        </p:txBody>
      </p:sp>
      <p:sp>
        <p:nvSpPr>
          <p:cNvPr id="4" name="Oval 3"/>
          <p:cNvSpPr/>
          <p:nvPr/>
        </p:nvSpPr>
        <p:spPr>
          <a:xfrm>
            <a:off x="457200" y="1280160"/>
            <a:ext cx="365760" cy="365760"/>
          </a:xfrm>
          <a:prstGeom prst="ellipse">
            <a:avLst/>
          </a:prstGeom>
          <a:solidFill>
            <a:srgbClr val="1465C0"/>
          </a:solidFill>
          <a:ln>
            <a:noFill/>
          </a:ln>
        </p:spPr>
        <p:style>
          <a:lnRef idx="1">
            <a:schemeClr val="accent1"/>
          </a:lnRef>
          <a:fillRef idx="3">
            <a:schemeClr val="accent1"/>
          </a:fillRef>
          <a:effectRef idx="2">
            <a:schemeClr val="accent1"/>
          </a:effectRef>
          <a:fontRef idx="minor">
            <a:schemeClr val="lt1"/>
          </a:fontRef>
        </p:style>
        <p:txBody>
          <a:bodyPr rtlCol="0" anchor="ctr" anchorCtr="0"/>
          <a:lstStyle/>
          <a:p>
            <a:pPr algn="ctr"/>
            <a:r>
              <a:rPr lang="en-US" dirty="0"/>
              <a:t>1</a:t>
            </a:r>
            <a:endParaRPr dirty="0"/>
          </a:p>
        </p:txBody>
      </p:sp>
      <p:sp>
        <p:nvSpPr>
          <p:cNvPr id="6" name="Rounded Rectangle 5"/>
          <p:cNvSpPr/>
          <p:nvPr/>
        </p:nvSpPr>
        <p:spPr>
          <a:xfrm>
            <a:off x="457200" y="1737360"/>
            <a:ext cx="1645920" cy="640080"/>
          </a:xfrm>
          <a:prstGeom prst="roundRect">
            <a:avLst>
              <a:gd name="adj" fmla="val 10000"/>
            </a:avLst>
          </a:prstGeom>
          <a:solidFill>
            <a:srgbClr val="F5F5F5"/>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200" b="1">
                <a:solidFill>
                  <a:srgbClr val="1465C0"/>
                </a:solidFill>
              </a:defRPr>
            </a:pPr>
            <a:r>
              <a:t>CagA Infection</a:t>
            </a:r>
            <a:br/>
            <a:r>
              <a:t>Restructures Microbiota</a:t>
            </a:r>
          </a:p>
        </p:txBody>
      </p:sp>
      <p:sp>
        <p:nvSpPr>
          <p:cNvPr id="7" name="Right Arrow 6"/>
          <p:cNvSpPr/>
          <p:nvPr/>
        </p:nvSpPr>
        <p:spPr>
          <a:xfrm>
            <a:off x="2148840" y="1965960"/>
            <a:ext cx="640080" cy="228600"/>
          </a:xfrm>
          <a:prstGeom prs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2468880" y="1280160"/>
            <a:ext cx="365760" cy="365760"/>
          </a:xfrm>
          <a:prstGeom prst="ellipse">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nchorCtr="0"/>
          <a:lstStyle/>
          <a:p>
            <a:pPr algn="ctr"/>
            <a:r>
              <a:rPr lang="en-US" dirty="0"/>
              <a:t>2</a:t>
            </a:r>
            <a:endParaRPr dirty="0"/>
          </a:p>
        </p:txBody>
      </p:sp>
      <p:sp>
        <p:nvSpPr>
          <p:cNvPr id="10" name="Rounded Rectangle 9"/>
          <p:cNvSpPr/>
          <p:nvPr/>
        </p:nvSpPr>
        <p:spPr>
          <a:xfrm>
            <a:off x="2468880" y="1737360"/>
            <a:ext cx="1645920" cy="640080"/>
          </a:xfrm>
          <a:prstGeom prst="roundRect">
            <a:avLst>
              <a:gd name="adj" fmla="val 10000"/>
            </a:avLst>
          </a:prstGeom>
          <a:solidFill>
            <a:srgbClr val="F5F5F5"/>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200" b="1">
                <a:solidFill>
                  <a:srgbClr val="009688"/>
                </a:solidFill>
              </a:defRPr>
            </a:pPr>
            <a:r>
              <a:t>Microbiota Produces</a:t>
            </a:r>
            <a:br/>
            <a:r>
              <a:t>Specific Molecules</a:t>
            </a:r>
          </a:p>
        </p:txBody>
      </p:sp>
      <p:sp>
        <p:nvSpPr>
          <p:cNvPr id="11" name="Right Arrow 10"/>
          <p:cNvSpPr/>
          <p:nvPr/>
        </p:nvSpPr>
        <p:spPr>
          <a:xfrm>
            <a:off x="4160520" y="1965960"/>
            <a:ext cx="640080" cy="228600"/>
          </a:xfrm>
          <a:prstGeom prs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480560" y="1280160"/>
            <a:ext cx="365760" cy="365760"/>
          </a:xfrm>
          <a:prstGeom prst="ellipse">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nchorCtr="0"/>
          <a:lstStyle/>
          <a:p>
            <a:pPr algn="ctr"/>
            <a:r>
              <a:rPr lang="en-US" dirty="0"/>
              <a:t>3</a:t>
            </a:r>
            <a:endParaRPr dirty="0"/>
          </a:p>
        </p:txBody>
      </p:sp>
      <p:sp>
        <p:nvSpPr>
          <p:cNvPr id="14" name="Rounded Rectangle 13"/>
          <p:cNvSpPr/>
          <p:nvPr/>
        </p:nvSpPr>
        <p:spPr>
          <a:xfrm>
            <a:off x="4480560" y="1737360"/>
            <a:ext cx="1645920" cy="640080"/>
          </a:xfrm>
          <a:prstGeom prst="roundRect">
            <a:avLst>
              <a:gd name="adj" fmla="val 10000"/>
            </a:avLst>
          </a:prstGeom>
          <a:solidFill>
            <a:srgbClr val="F5F5F5"/>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200" b="1">
                <a:solidFill>
                  <a:srgbClr val="FF9800"/>
                </a:solidFill>
              </a:defRPr>
            </a:pPr>
            <a:r>
              <a:t>Persistent CD8+</a:t>
            </a:r>
            <a:br/>
            <a:r>
              <a:t>T-cell Activation</a:t>
            </a:r>
          </a:p>
        </p:txBody>
      </p:sp>
      <p:sp>
        <p:nvSpPr>
          <p:cNvPr id="15" name="Right Arrow 14"/>
          <p:cNvSpPr/>
          <p:nvPr/>
        </p:nvSpPr>
        <p:spPr>
          <a:xfrm>
            <a:off x="6172200" y="1965960"/>
            <a:ext cx="640080" cy="228600"/>
          </a:xfrm>
          <a:prstGeom prst="rightArrow">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492240" y="1280160"/>
            <a:ext cx="365760" cy="365760"/>
          </a:xfrm>
          <a:prstGeom prst="ellipse">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anchorCtr="0"/>
          <a:lstStyle/>
          <a:p>
            <a:pPr algn="ctr"/>
            <a:r>
              <a:rPr lang="en-US" dirty="0"/>
              <a:t>4</a:t>
            </a:r>
            <a:endParaRPr dirty="0"/>
          </a:p>
        </p:txBody>
      </p:sp>
      <p:sp>
        <p:nvSpPr>
          <p:cNvPr id="18" name="Rounded Rectangle 17"/>
          <p:cNvSpPr/>
          <p:nvPr/>
        </p:nvSpPr>
        <p:spPr>
          <a:xfrm>
            <a:off x="6492240" y="1737360"/>
            <a:ext cx="1645920" cy="640080"/>
          </a:xfrm>
          <a:prstGeom prst="roundRect">
            <a:avLst>
              <a:gd name="adj" fmla="val 10000"/>
            </a:avLst>
          </a:prstGeom>
          <a:solidFill>
            <a:srgbClr val="F5F5F5"/>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200" b="1">
                <a:solidFill>
                  <a:srgbClr val="E53935"/>
                </a:solidFill>
              </a:defRPr>
            </a:pPr>
            <a:r>
              <a:t>Tumor</a:t>
            </a:r>
            <a:br/>
            <a:r>
              <a:t>Promotion</a:t>
            </a:r>
          </a:p>
        </p:txBody>
      </p:sp>
      <p:sp>
        <p:nvSpPr>
          <p:cNvPr id="19" name="TextBox 18"/>
          <p:cNvSpPr txBox="1"/>
          <p:nvPr/>
        </p:nvSpPr>
        <p:spPr>
          <a:xfrm>
            <a:off x="457200" y="2651760"/>
            <a:ext cx="8229600" cy="365760"/>
          </a:xfrm>
          <a:prstGeom prst="rect">
            <a:avLst/>
          </a:prstGeom>
          <a:noFill/>
        </p:spPr>
        <p:txBody>
          <a:bodyPr wrap="none">
            <a:spAutoFit/>
          </a:bodyPr>
          <a:lstStyle/>
          <a:p>
            <a:pPr>
              <a:defRPr sz="1400" b="1">
                <a:solidFill>
                  <a:srgbClr val="0D47A1"/>
                </a:solidFill>
              </a:defRPr>
            </a:pPr>
            <a:r>
              <a:t>Scope of This Study</a:t>
            </a:r>
          </a:p>
        </p:txBody>
      </p:sp>
      <p:sp>
        <p:nvSpPr>
          <p:cNvPr id="20" name="Rounded Rectangle 19"/>
          <p:cNvSpPr/>
          <p:nvPr/>
        </p:nvSpPr>
        <p:spPr>
          <a:xfrm>
            <a:off x="457200" y="3017520"/>
            <a:ext cx="3840480" cy="1371600"/>
          </a:xfrm>
          <a:prstGeom prst="roundRect">
            <a:avLst/>
          </a:prstGeom>
          <a:solidFill>
            <a:srgbClr val="E8F5E9"/>
          </a:solidFill>
          <a:ln w="254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3108960"/>
            <a:ext cx="3474720" cy="274320"/>
          </a:xfrm>
          <a:prstGeom prst="rect">
            <a:avLst/>
          </a:prstGeom>
          <a:noFill/>
        </p:spPr>
        <p:txBody>
          <a:bodyPr wrap="none">
            <a:spAutoFit/>
          </a:bodyPr>
          <a:lstStyle/>
          <a:p>
            <a:pPr>
              <a:defRPr sz="1400" b="1">
                <a:solidFill>
                  <a:srgbClr val="4CAF50"/>
                </a:solidFill>
              </a:defRPr>
            </a:pPr>
            <a:r>
              <a:t>✓ Verified</a:t>
            </a:r>
          </a:p>
        </p:txBody>
      </p:sp>
      <p:sp>
        <p:nvSpPr>
          <p:cNvPr id="22" name="TextBox 21"/>
          <p:cNvSpPr txBox="1"/>
          <p:nvPr/>
        </p:nvSpPr>
        <p:spPr>
          <a:xfrm>
            <a:off x="640080" y="3383280"/>
            <a:ext cx="3474720" cy="914400"/>
          </a:xfrm>
          <a:prstGeom prst="rect">
            <a:avLst/>
          </a:prstGeom>
          <a:noFill/>
        </p:spPr>
        <p:txBody>
          <a:bodyPr wrap="square">
            <a:spAutoFit/>
          </a:bodyPr>
          <a:lstStyle/>
          <a:p>
            <a:pPr>
              <a:defRPr sz="1200">
                <a:solidFill>
                  <a:srgbClr val="333333"/>
                </a:solidFill>
              </a:defRPr>
            </a:pPr>
            <a:r>
              <a:t>• Microbiota restructured (P=0.012)</a:t>
            </a:r>
            <a:br/>
            <a:r>
              <a:t>• G×E interaction confirmed (9/9 verified)</a:t>
            </a:r>
            <a:br/>
            <a:r>
              <a:t>• Functional redundancy (GO/PFAM verified)</a:t>
            </a:r>
            <a:br/>
            <a:r>
              <a:t>• Network collapse (Modularity -62%)</a:t>
            </a:r>
          </a:p>
        </p:txBody>
      </p:sp>
      <p:sp>
        <p:nvSpPr>
          <p:cNvPr id="23" name="Rounded Rectangle 22"/>
          <p:cNvSpPr/>
          <p:nvPr/>
        </p:nvSpPr>
        <p:spPr>
          <a:xfrm>
            <a:off x="4572000" y="3017520"/>
            <a:ext cx="4114800" cy="1371600"/>
          </a:xfrm>
          <a:prstGeom prst="roundRect">
            <a:avLst/>
          </a:prstGeom>
          <a:solidFill>
            <a:srgbClr val="FFF3E0"/>
          </a:solidFill>
          <a:ln w="25400">
            <a:solidFill>
              <a:srgbClr val="FF9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54880" y="3108960"/>
            <a:ext cx="3749039" cy="274320"/>
          </a:xfrm>
          <a:prstGeom prst="rect">
            <a:avLst/>
          </a:prstGeom>
          <a:noFill/>
        </p:spPr>
        <p:txBody>
          <a:bodyPr wrap="none">
            <a:spAutoFit/>
          </a:bodyPr>
          <a:lstStyle/>
          <a:p>
            <a:pPr>
              <a:defRPr sz="1400" b="1">
                <a:solidFill>
                  <a:srgbClr val="FF9800"/>
                </a:solidFill>
              </a:defRPr>
            </a:pPr>
            <a:r>
              <a:t>○ Pending</a:t>
            </a:r>
          </a:p>
        </p:txBody>
      </p:sp>
      <p:sp>
        <p:nvSpPr>
          <p:cNvPr id="25" name="TextBox 24"/>
          <p:cNvSpPr txBox="1"/>
          <p:nvPr/>
        </p:nvSpPr>
        <p:spPr>
          <a:xfrm>
            <a:off x="4754880" y="3383280"/>
            <a:ext cx="3749039" cy="914400"/>
          </a:xfrm>
          <a:prstGeom prst="rect">
            <a:avLst/>
          </a:prstGeom>
          <a:noFill/>
        </p:spPr>
        <p:txBody>
          <a:bodyPr wrap="square">
            <a:spAutoFit/>
          </a:bodyPr>
          <a:lstStyle/>
          <a:p>
            <a:pPr>
              <a:defRPr sz="1200">
                <a:solidFill>
                  <a:srgbClr val="333333"/>
                </a:solidFill>
              </a:defRPr>
            </a:pPr>
            <a:r>
              <a:t>• Metabolomics: Specific metabolite ID</a:t>
            </a:r>
            <a:br/>
            <a:r>
              <a:t>• Transcriptomics: Gene expression validation</a:t>
            </a:r>
            <a:br/>
            <a:r>
              <a:t>• Integration with tumor/T-cell phenotypes</a:t>
            </a:r>
          </a:p>
        </p:txBody>
      </p:sp>
      <p:sp>
        <p:nvSpPr>
          <p:cNvPr id="26" name="TextBox 25"/>
          <p:cNvSpPr txBox="1"/>
          <p:nvPr/>
        </p:nvSpPr>
        <p:spPr>
          <a:xfrm>
            <a:off x="8229600" y="4594860"/>
            <a:ext cx="731520" cy="365760"/>
          </a:xfrm>
          <a:prstGeom prst="rect">
            <a:avLst/>
          </a:prstGeom>
          <a:noFill/>
        </p:spPr>
        <p:txBody>
          <a:bodyPr wrap="none">
            <a:spAutoFit/>
          </a:bodyPr>
          <a:lstStyle/>
          <a:p>
            <a:pPr algn="r">
              <a:defRPr sz="1400" b="1">
                <a:solidFill>
                  <a:srgbClr val="1465C0"/>
                </a:solidFill>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14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8229600" cy="548640"/>
          </a:xfrm>
          <a:prstGeom prst="rect">
            <a:avLst/>
          </a:prstGeom>
          <a:noFill/>
        </p:spPr>
        <p:txBody>
          <a:bodyPr wrap="none">
            <a:spAutoFit/>
          </a:bodyPr>
          <a:lstStyle/>
          <a:p>
            <a:pPr>
              <a:defRPr sz="2800" b="1">
                <a:solidFill>
                  <a:srgbClr val="FFFFFF"/>
                </a:solidFill>
              </a:defRPr>
            </a:pPr>
            <a:r>
              <a:t>Analysis Pipeline Overview</a:t>
            </a:r>
          </a:p>
        </p:txBody>
      </p:sp>
      <p:sp>
        <p:nvSpPr>
          <p:cNvPr id="4" name="Rounded Rectangle 3"/>
          <p:cNvSpPr/>
          <p:nvPr/>
        </p:nvSpPr>
        <p:spPr>
          <a:xfrm>
            <a:off x="3474720" y="1188720"/>
            <a:ext cx="2194560" cy="457200"/>
          </a:xfrm>
          <a:prstGeom prst="roundRect">
            <a:avLst>
              <a:gd name="adj" fmla="val 10000"/>
            </a:avLst>
          </a:prstGeom>
          <a:solidFill>
            <a:srgbClr val="1465C0"/>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400" b="1">
                <a:solidFill>
                  <a:srgbClr val="FFFFFF"/>
                </a:solidFill>
              </a:defRPr>
            </a:pPr>
            <a:r>
              <a:t>Cecum Samples (n=27)</a:t>
            </a:r>
          </a:p>
        </p:txBody>
      </p:sp>
      <p:sp>
        <p:nvSpPr>
          <p:cNvPr id="5" name="Rounded Rectangle 4"/>
          <p:cNvSpPr/>
          <p:nvPr/>
        </p:nvSpPr>
        <p:spPr>
          <a:xfrm>
            <a:off x="274320" y="1828800"/>
            <a:ext cx="2743200" cy="411480"/>
          </a:xfrm>
          <a:prstGeom prst="roundRect">
            <a:avLst/>
          </a:prstGeom>
          <a:solidFill>
            <a:srgbClr val="14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1874519"/>
            <a:ext cx="2743200" cy="365760"/>
          </a:xfrm>
          <a:prstGeom prst="rect">
            <a:avLst/>
          </a:prstGeom>
          <a:noFill/>
        </p:spPr>
        <p:txBody>
          <a:bodyPr wrap="none">
            <a:spAutoFit/>
          </a:bodyPr>
          <a:lstStyle/>
          <a:p>
            <a:pPr algn="ctr">
              <a:defRPr sz="1300" b="1">
                <a:solidFill>
                  <a:srgbClr val="FFFFFF"/>
                </a:solidFill>
              </a:defRPr>
            </a:pPr>
            <a:r>
              <a:t>01 Species Analysis</a:t>
            </a:r>
          </a:p>
        </p:txBody>
      </p:sp>
      <p:sp>
        <p:nvSpPr>
          <p:cNvPr id="7" name="TextBox 6"/>
          <p:cNvSpPr txBox="1"/>
          <p:nvPr/>
        </p:nvSpPr>
        <p:spPr>
          <a:xfrm>
            <a:off x="274320" y="2286000"/>
            <a:ext cx="2743200" cy="320040"/>
          </a:xfrm>
          <a:prstGeom prst="rect">
            <a:avLst/>
          </a:prstGeom>
          <a:noFill/>
        </p:spPr>
        <p:txBody>
          <a:bodyPr wrap="none">
            <a:spAutoFit/>
          </a:bodyPr>
          <a:lstStyle/>
          <a:p>
            <a:pPr algn="ctr">
              <a:defRPr sz="1100" i="1">
                <a:solidFill>
                  <a:srgbClr val="333333"/>
                </a:solidFill>
              </a:defRPr>
            </a:pPr>
            <a:r>
              <a:t>Kraken2/Bracken</a:t>
            </a:r>
          </a:p>
        </p:txBody>
      </p:sp>
      <p:sp>
        <p:nvSpPr>
          <p:cNvPr id="8" name="Rounded Rectangle 7"/>
          <p:cNvSpPr/>
          <p:nvPr/>
        </p:nvSpPr>
        <p:spPr>
          <a:xfrm>
            <a:off x="548640" y="2651760"/>
            <a:ext cx="2194560" cy="640080"/>
          </a:xfrm>
          <a:prstGeom prst="roundRect">
            <a:avLst/>
          </a:prstGeom>
          <a:solidFill>
            <a:srgbClr val="F5F5F5"/>
          </a:solidFill>
          <a:ln>
            <a:solidFill>
              <a:srgbClr val="1465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2697480"/>
            <a:ext cx="2194560" cy="594360"/>
          </a:xfrm>
          <a:prstGeom prst="rect">
            <a:avLst/>
          </a:prstGeom>
          <a:noFill/>
        </p:spPr>
        <p:txBody>
          <a:bodyPr wrap="square">
            <a:spAutoFit/>
          </a:bodyPr>
          <a:lstStyle/>
          <a:p>
            <a:pPr algn="ctr">
              <a:defRPr sz="1200">
                <a:solidFill>
                  <a:srgbClr val="333333"/>
                </a:solidFill>
              </a:defRPr>
            </a:pPr>
            <a:r>
              <a:t>Community</a:t>
            </a:r>
            <a:br/>
            <a:r>
              <a:t>G×E Interaction</a:t>
            </a:r>
          </a:p>
        </p:txBody>
      </p:sp>
      <p:sp>
        <p:nvSpPr>
          <p:cNvPr id="10" name="Rounded Rectangle 9"/>
          <p:cNvSpPr/>
          <p:nvPr/>
        </p:nvSpPr>
        <p:spPr>
          <a:xfrm>
            <a:off x="822959" y="3383280"/>
            <a:ext cx="1645920" cy="365760"/>
          </a:xfrm>
          <a:prstGeom prst="roundRect">
            <a:avLst/>
          </a:prstGeom>
          <a:solidFill>
            <a:srgbClr val="14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59" y="3410712"/>
            <a:ext cx="1645920" cy="320040"/>
          </a:xfrm>
          <a:prstGeom prst="rect">
            <a:avLst/>
          </a:prstGeom>
          <a:noFill/>
        </p:spPr>
        <p:txBody>
          <a:bodyPr wrap="none">
            <a:spAutoFit/>
          </a:bodyPr>
          <a:lstStyle/>
          <a:p>
            <a:pPr algn="ctr">
              <a:defRPr sz="1200" b="1">
                <a:solidFill>
                  <a:srgbClr val="FFFFFF"/>
                </a:solidFill>
              </a:defRPr>
            </a:pPr>
            <a:r>
              <a:t>5/9 Sig.</a:t>
            </a:r>
          </a:p>
        </p:txBody>
      </p:sp>
      <p:sp>
        <p:nvSpPr>
          <p:cNvPr id="12" name="Rounded Rectangle 11"/>
          <p:cNvSpPr/>
          <p:nvPr/>
        </p:nvSpPr>
        <p:spPr>
          <a:xfrm>
            <a:off x="3200400" y="1828800"/>
            <a:ext cx="2743200" cy="411480"/>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200400" y="1874519"/>
            <a:ext cx="2743200" cy="365760"/>
          </a:xfrm>
          <a:prstGeom prst="rect">
            <a:avLst/>
          </a:prstGeom>
          <a:noFill/>
        </p:spPr>
        <p:txBody>
          <a:bodyPr wrap="none">
            <a:spAutoFit/>
          </a:bodyPr>
          <a:lstStyle/>
          <a:p>
            <a:pPr algn="ctr">
              <a:defRPr sz="1300" b="1">
                <a:solidFill>
                  <a:srgbClr val="FFFFFF"/>
                </a:solidFill>
              </a:defRPr>
            </a:pPr>
            <a:r>
              <a:t>02 Functional Analysis</a:t>
            </a:r>
          </a:p>
        </p:txBody>
      </p:sp>
      <p:sp>
        <p:nvSpPr>
          <p:cNvPr id="14" name="TextBox 13"/>
          <p:cNvSpPr txBox="1"/>
          <p:nvPr/>
        </p:nvSpPr>
        <p:spPr>
          <a:xfrm>
            <a:off x="3200400" y="2286000"/>
            <a:ext cx="2743200" cy="320040"/>
          </a:xfrm>
          <a:prstGeom prst="rect">
            <a:avLst/>
          </a:prstGeom>
          <a:noFill/>
        </p:spPr>
        <p:txBody>
          <a:bodyPr wrap="none">
            <a:spAutoFit/>
          </a:bodyPr>
          <a:lstStyle/>
          <a:p>
            <a:pPr algn="ctr">
              <a:defRPr sz="1100" i="1">
                <a:solidFill>
                  <a:srgbClr val="333333"/>
                </a:solidFill>
              </a:defRPr>
            </a:pPr>
            <a:r>
              <a:t>HUMAnN4</a:t>
            </a:r>
          </a:p>
        </p:txBody>
      </p:sp>
      <p:sp>
        <p:nvSpPr>
          <p:cNvPr id="15" name="Rounded Rectangle 14"/>
          <p:cNvSpPr/>
          <p:nvPr/>
        </p:nvSpPr>
        <p:spPr>
          <a:xfrm>
            <a:off x="3474720" y="2651760"/>
            <a:ext cx="2194560" cy="640080"/>
          </a:xfrm>
          <a:prstGeom prst="roundRect">
            <a:avLst/>
          </a:prstGeom>
          <a:solidFill>
            <a:srgbClr val="F5F5F5"/>
          </a:solidFill>
          <a:ln>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74720" y="2697480"/>
            <a:ext cx="2194560" cy="594360"/>
          </a:xfrm>
          <a:prstGeom prst="rect">
            <a:avLst/>
          </a:prstGeom>
          <a:noFill/>
        </p:spPr>
        <p:txBody>
          <a:bodyPr wrap="square">
            <a:spAutoFit/>
          </a:bodyPr>
          <a:lstStyle/>
          <a:p>
            <a:pPr algn="ctr">
              <a:defRPr sz="1200">
                <a:solidFill>
                  <a:srgbClr val="333333"/>
                </a:solidFill>
              </a:defRPr>
            </a:pPr>
            <a:r>
              <a:t>Pathway→KO</a:t>
            </a:r>
            <a:br/>
            <a:r>
              <a:t>→GO→PFAM</a:t>
            </a:r>
          </a:p>
        </p:txBody>
      </p:sp>
      <p:sp>
        <p:nvSpPr>
          <p:cNvPr id="17" name="Rounded Rectangle 16"/>
          <p:cNvSpPr/>
          <p:nvPr/>
        </p:nvSpPr>
        <p:spPr>
          <a:xfrm>
            <a:off x="3749039" y="3383280"/>
            <a:ext cx="1645920" cy="365760"/>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49039" y="3410712"/>
            <a:ext cx="1645920" cy="320040"/>
          </a:xfrm>
          <a:prstGeom prst="rect">
            <a:avLst/>
          </a:prstGeom>
          <a:noFill/>
        </p:spPr>
        <p:txBody>
          <a:bodyPr wrap="none">
            <a:spAutoFit/>
          </a:bodyPr>
          <a:lstStyle/>
          <a:p>
            <a:pPr algn="ctr">
              <a:defRPr sz="1200" b="1">
                <a:solidFill>
                  <a:srgbClr val="FFFFFF"/>
                </a:solidFill>
              </a:defRPr>
            </a:pPr>
            <a:r>
              <a:t>Redundancy</a:t>
            </a:r>
          </a:p>
        </p:txBody>
      </p:sp>
      <p:sp>
        <p:nvSpPr>
          <p:cNvPr id="19" name="Rounded Rectangle 18"/>
          <p:cNvSpPr/>
          <p:nvPr/>
        </p:nvSpPr>
        <p:spPr>
          <a:xfrm>
            <a:off x="6126480" y="1828800"/>
            <a:ext cx="2743200" cy="411480"/>
          </a:xfrm>
          <a:prstGeom prst="round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26480" y="1874519"/>
            <a:ext cx="2743200" cy="365760"/>
          </a:xfrm>
          <a:prstGeom prst="rect">
            <a:avLst/>
          </a:prstGeom>
          <a:noFill/>
        </p:spPr>
        <p:txBody>
          <a:bodyPr wrap="none">
            <a:spAutoFit/>
          </a:bodyPr>
          <a:lstStyle/>
          <a:p>
            <a:pPr algn="ctr">
              <a:defRPr sz="1300" b="1">
                <a:solidFill>
                  <a:srgbClr val="FFFFFF"/>
                </a:solidFill>
              </a:defRPr>
            </a:pPr>
            <a:r>
              <a:t>03 Network/Phage</a:t>
            </a:r>
          </a:p>
        </p:txBody>
      </p:sp>
      <p:sp>
        <p:nvSpPr>
          <p:cNvPr id="21" name="TextBox 20"/>
          <p:cNvSpPr txBox="1"/>
          <p:nvPr/>
        </p:nvSpPr>
        <p:spPr>
          <a:xfrm>
            <a:off x="6126480" y="2286000"/>
            <a:ext cx="2743200" cy="320040"/>
          </a:xfrm>
          <a:prstGeom prst="rect">
            <a:avLst/>
          </a:prstGeom>
          <a:noFill/>
        </p:spPr>
        <p:txBody>
          <a:bodyPr wrap="none">
            <a:spAutoFit/>
          </a:bodyPr>
          <a:lstStyle/>
          <a:p>
            <a:pPr algn="ctr">
              <a:defRPr sz="1100" i="1">
                <a:solidFill>
                  <a:srgbClr val="333333"/>
                </a:solidFill>
              </a:defRPr>
            </a:pPr>
            <a:r>
              <a:t>igraph/Lyrebird</a:t>
            </a:r>
          </a:p>
        </p:txBody>
      </p:sp>
      <p:sp>
        <p:nvSpPr>
          <p:cNvPr id="22" name="Rounded Rectangle 21"/>
          <p:cNvSpPr/>
          <p:nvPr/>
        </p:nvSpPr>
        <p:spPr>
          <a:xfrm>
            <a:off x="6400800" y="2651760"/>
            <a:ext cx="2194560" cy="640080"/>
          </a:xfrm>
          <a:prstGeom prst="roundRect">
            <a:avLst/>
          </a:prstGeom>
          <a:solidFill>
            <a:srgbClr val="F5F5F5"/>
          </a:solidFill>
          <a:ln>
            <a:solidFill>
              <a:srgbClr val="7B1F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0" y="2697480"/>
            <a:ext cx="2194560" cy="594360"/>
          </a:xfrm>
          <a:prstGeom prst="rect">
            <a:avLst/>
          </a:prstGeom>
          <a:noFill/>
        </p:spPr>
        <p:txBody>
          <a:bodyPr wrap="square">
            <a:spAutoFit/>
          </a:bodyPr>
          <a:lstStyle/>
          <a:p>
            <a:pPr algn="ctr">
              <a:defRPr sz="1200">
                <a:solidFill>
                  <a:srgbClr val="333333"/>
                </a:solidFill>
              </a:defRPr>
            </a:pPr>
            <a:r>
              <a:t>Co-occurrence</a:t>
            </a:r>
            <a:br/>
            <a:r>
              <a:t>Bacteria-Phage</a:t>
            </a:r>
          </a:p>
        </p:txBody>
      </p:sp>
      <p:sp>
        <p:nvSpPr>
          <p:cNvPr id="24" name="Rounded Rectangle 23"/>
          <p:cNvSpPr/>
          <p:nvPr/>
        </p:nvSpPr>
        <p:spPr>
          <a:xfrm>
            <a:off x="6675120" y="3383280"/>
            <a:ext cx="1645920" cy="365760"/>
          </a:xfrm>
          <a:prstGeom prst="round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75120" y="3410712"/>
            <a:ext cx="1645920" cy="320040"/>
          </a:xfrm>
          <a:prstGeom prst="rect">
            <a:avLst/>
          </a:prstGeom>
          <a:noFill/>
        </p:spPr>
        <p:txBody>
          <a:bodyPr wrap="none">
            <a:spAutoFit/>
          </a:bodyPr>
          <a:lstStyle/>
          <a:p>
            <a:pPr algn="ctr">
              <a:defRPr sz="1200" b="1">
                <a:solidFill>
                  <a:srgbClr val="FFFFFF"/>
                </a:solidFill>
              </a:defRPr>
            </a:pPr>
            <a:r>
              <a:t>Mod -62%</a:t>
            </a:r>
          </a:p>
        </p:txBody>
      </p:sp>
      <p:sp>
        <p:nvSpPr>
          <p:cNvPr id="30" name="Rounded Rectangle 29"/>
          <p:cNvSpPr/>
          <p:nvPr/>
        </p:nvSpPr>
        <p:spPr>
          <a:xfrm>
            <a:off x="457200" y="3931920"/>
            <a:ext cx="8229600" cy="82296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 y="4023360"/>
            <a:ext cx="7863840" cy="685800"/>
          </a:xfrm>
          <a:prstGeom prst="rect">
            <a:avLst/>
          </a:prstGeom>
          <a:noFill/>
        </p:spPr>
        <p:txBody>
          <a:bodyPr wrap="square">
            <a:spAutoFit/>
          </a:bodyPr>
          <a:lstStyle/>
          <a:p>
            <a:pPr algn="ctr">
              <a:defRPr sz="1500" b="1">
                <a:solidFill>
                  <a:srgbClr val="FFFFFF"/>
                </a:solidFill>
              </a:defRPr>
            </a:pPr>
            <a:r>
              <a:t>Integration: CagA restructures bacteria → Functional redundancy (all levels) → Network collapse → Phage coordination</a:t>
            </a:r>
          </a:p>
        </p:txBody>
      </p:sp>
      <p:sp>
        <p:nvSpPr>
          <p:cNvPr id="32" name="TextBox 31"/>
          <p:cNvSpPr txBox="1"/>
          <p:nvPr/>
        </p:nvSpPr>
        <p:spPr>
          <a:xfrm>
            <a:off x="8229600" y="4594860"/>
            <a:ext cx="731520" cy="365760"/>
          </a:xfrm>
          <a:prstGeom prst="rect">
            <a:avLst/>
          </a:prstGeom>
          <a:noFill/>
        </p:spPr>
        <p:txBody>
          <a:bodyPr wrap="none">
            <a:spAutoFit/>
          </a:bodyPr>
          <a:lstStyle/>
          <a:p>
            <a:pPr algn="r">
              <a:defRPr sz="1400" b="1">
                <a:solidFill>
                  <a:srgbClr val="1465C0"/>
                </a:solidFill>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14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8229600" cy="548640"/>
          </a:xfrm>
          <a:prstGeom prst="rect">
            <a:avLst/>
          </a:prstGeom>
          <a:noFill/>
        </p:spPr>
        <p:txBody>
          <a:bodyPr wrap="none">
            <a:spAutoFit/>
          </a:bodyPr>
          <a:lstStyle/>
          <a:p>
            <a:pPr>
              <a:defRPr sz="2800" b="1">
                <a:solidFill>
                  <a:srgbClr val="FFFFFF"/>
                </a:solidFill>
              </a:defRPr>
            </a:pPr>
            <a:r>
              <a:t>Result 1: CagA Restructures Gut Microbiota</a:t>
            </a:r>
          </a:p>
        </p:txBody>
      </p:sp>
      <p:sp>
        <p:nvSpPr>
          <p:cNvPr id="4" name="TextBox 3"/>
          <p:cNvSpPr txBox="1"/>
          <p:nvPr/>
        </p:nvSpPr>
        <p:spPr>
          <a:xfrm>
            <a:off x="457200" y="2211215"/>
            <a:ext cx="4114800" cy="1508105"/>
          </a:xfrm>
          <a:prstGeom prst="rect">
            <a:avLst/>
          </a:prstGeom>
          <a:noFill/>
        </p:spPr>
        <p:txBody>
          <a:bodyPr wrap="square">
            <a:spAutoFit/>
          </a:bodyPr>
          <a:lstStyle/>
          <a:p>
            <a:pPr>
              <a:spcBef>
                <a:spcPts val="800"/>
              </a:spcBef>
            </a:pPr>
            <a:r>
              <a:rPr sz="1800" dirty="0">
                <a:solidFill>
                  <a:srgbClr val="333333"/>
                </a:solidFill>
              </a:rPr>
              <a:t>• Beta diversity: </a:t>
            </a:r>
            <a:r>
              <a:rPr sz="1800" b="1" dirty="0">
                <a:solidFill>
                  <a:srgbClr val="4CAF50"/>
                </a:solidFill>
              </a:rPr>
              <a:t>P=0.012</a:t>
            </a:r>
            <a:r>
              <a:rPr sz="1800" dirty="0">
                <a:solidFill>
                  <a:srgbClr val="333333"/>
                </a:solidFill>
              </a:rPr>
              <a:t>, R²=33.6%</a:t>
            </a:r>
          </a:p>
          <a:p>
            <a:pPr>
              <a:spcBef>
                <a:spcPts val="800"/>
              </a:spcBef>
            </a:pPr>
            <a:r>
              <a:rPr sz="1800" dirty="0">
                <a:solidFill>
                  <a:srgbClr val="333333"/>
                </a:solidFill>
              </a:rPr>
              <a:t>• G×E interaction: </a:t>
            </a:r>
            <a:r>
              <a:rPr sz="1800" b="1" dirty="0">
                <a:solidFill>
                  <a:srgbClr val="4CAF50"/>
                </a:solidFill>
              </a:rPr>
              <a:t>P=0.024</a:t>
            </a:r>
            <a:r>
              <a:rPr sz="1800" dirty="0">
                <a:solidFill>
                  <a:srgbClr val="333333"/>
                </a:solidFill>
              </a:rPr>
              <a:t> (significant)</a:t>
            </a:r>
          </a:p>
          <a:p>
            <a:pPr>
              <a:spcBef>
                <a:spcPts val="800"/>
              </a:spcBef>
            </a:pPr>
            <a:r>
              <a:rPr sz="1800" dirty="0">
                <a:solidFill>
                  <a:srgbClr val="333333"/>
                </a:solidFill>
              </a:rPr>
              <a:t>• </a:t>
            </a:r>
            <a:r>
              <a:rPr sz="1800" dirty="0" err="1">
                <a:solidFill>
                  <a:srgbClr val="333333"/>
                </a:solidFill>
              </a:rPr>
              <a:t>CagA</a:t>
            </a:r>
            <a:r>
              <a:rPr sz="1800" dirty="0">
                <a:solidFill>
                  <a:srgbClr val="333333"/>
                </a:solidFill>
              </a:rPr>
              <a:t> </a:t>
            </a:r>
            <a:r>
              <a:rPr sz="1800" dirty="0" err="1">
                <a:solidFill>
                  <a:srgbClr val="333333"/>
                </a:solidFill>
              </a:rPr>
              <a:t>effect@ApcMUT</a:t>
            </a:r>
            <a:r>
              <a:rPr sz="1800" dirty="0">
                <a:solidFill>
                  <a:srgbClr val="333333"/>
                </a:solidFill>
              </a:rPr>
              <a:t>: </a:t>
            </a:r>
            <a:r>
              <a:rPr sz="1800" b="1" dirty="0">
                <a:solidFill>
                  <a:srgbClr val="4CAF50"/>
                </a:solidFill>
              </a:rPr>
              <a:t>significant</a:t>
            </a:r>
          </a:p>
          <a:p>
            <a:pPr>
              <a:spcBef>
                <a:spcPts val="800"/>
              </a:spcBef>
              <a:defRPr sz="1800">
                <a:solidFill>
                  <a:srgbClr val="333333"/>
                </a:solidFill>
              </a:defRPr>
            </a:pPr>
            <a:r>
              <a:rPr dirty="0"/>
              <a:t>• </a:t>
            </a:r>
            <a:r>
              <a:rPr dirty="0" err="1"/>
              <a:t>CagA</a:t>
            </a:r>
            <a:r>
              <a:rPr dirty="0"/>
              <a:t> </a:t>
            </a:r>
            <a:r>
              <a:rPr dirty="0" err="1"/>
              <a:t>effect@ApcWT</a:t>
            </a:r>
            <a:r>
              <a:rPr dirty="0"/>
              <a:t>: not significant</a:t>
            </a:r>
            <a:endParaRPr lang="en-US" dirty="0"/>
          </a:p>
        </p:txBody>
      </p:sp>
      <p:pic>
        <p:nvPicPr>
          <p:cNvPr id="5" name="Picture 4" descr="47_part4_summary_figure.png"/>
          <p:cNvPicPr>
            <a:picLocks noChangeAspect="1"/>
          </p:cNvPicPr>
          <p:nvPr/>
        </p:nvPicPr>
        <p:blipFill>
          <a:blip r:embed="rId3"/>
          <a:stretch>
            <a:fillRect/>
          </a:stretch>
        </p:blipFill>
        <p:spPr>
          <a:xfrm>
            <a:off x="4754880" y="1280160"/>
            <a:ext cx="3931920" cy="3370217"/>
          </a:xfrm>
          <a:prstGeom prst="rect">
            <a:avLst/>
          </a:prstGeom>
        </p:spPr>
      </p:pic>
      <p:sp>
        <p:nvSpPr>
          <p:cNvPr id="6" name="TextBox 5"/>
          <p:cNvSpPr txBox="1"/>
          <p:nvPr/>
        </p:nvSpPr>
        <p:spPr>
          <a:xfrm>
            <a:off x="8229600" y="4594860"/>
            <a:ext cx="731520" cy="365760"/>
          </a:xfrm>
          <a:prstGeom prst="rect">
            <a:avLst/>
          </a:prstGeom>
          <a:noFill/>
        </p:spPr>
        <p:txBody>
          <a:bodyPr wrap="none">
            <a:spAutoFit/>
          </a:bodyPr>
          <a:lstStyle/>
          <a:p>
            <a:pPr algn="r">
              <a:defRPr sz="1400" b="1">
                <a:solidFill>
                  <a:srgbClr val="1465C0"/>
                </a:solidFill>
              </a:defRPr>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14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8229600" cy="548640"/>
          </a:xfrm>
          <a:prstGeom prst="rect">
            <a:avLst/>
          </a:prstGeom>
          <a:noFill/>
        </p:spPr>
        <p:txBody>
          <a:bodyPr wrap="none">
            <a:spAutoFit/>
          </a:bodyPr>
          <a:lstStyle/>
          <a:p>
            <a:pPr>
              <a:defRPr sz="2800" b="1">
                <a:solidFill>
                  <a:srgbClr val="FFFFFF"/>
                </a:solidFill>
              </a:defRPr>
            </a:pPr>
            <a:r>
              <a:t>Result 2: CagA Targets Bacteria, Not Viruses</a:t>
            </a:r>
          </a:p>
        </p:txBody>
      </p:sp>
      <p:sp>
        <p:nvSpPr>
          <p:cNvPr id="4" name="TextBox 3"/>
          <p:cNvSpPr txBox="1"/>
          <p:nvPr/>
        </p:nvSpPr>
        <p:spPr>
          <a:xfrm>
            <a:off x="457200" y="1188720"/>
            <a:ext cx="8229600" cy="457200"/>
          </a:xfrm>
          <a:prstGeom prst="rect">
            <a:avLst/>
          </a:prstGeom>
          <a:noFill/>
        </p:spPr>
        <p:txBody>
          <a:bodyPr wrap="none">
            <a:spAutoFit/>
          </a:bodyPr>
          <a:lstStyle/>
          <a:p>
            <a:pPr>
              <a:defRPr sz="1600" i="1">
                <a:solidFill>
                  <a:srgbClr val="0D47A1"/>
                </a:solidFill>
              </a:defRPr>
            </a:pPr>
            <a:r>
              <a:t>Q: What does CagA reshape? Bacteria or Viruses?</a:t>
            </a:r>
          </a:p>
        </p:txBody>
      </p:sp>
      <p:sp>
        <p:nvSpPr>
          <p:cNvPr id="5" name="TextBox 4"/>
          <p:cNvSpPr txBox="1"/>
          <p:nvPr/>
        </p:nvSpPr>
        <p:spPr>
          <a:xfrm>
            <a:off x="457200" y="1737360"/>
            <a:ext cx="3657600" cy="365760"/>
          </a:xfrm>
          <a:prstGeom prst="rect">
            <a:avLst/>
          </a:prstGeom>
          <a:noFill/>
        </p:spPr>
        <p:txBody>
          <a:bodyPr wrap="none">
            <a:spAutoFit/>
          </a:bodyPr>
          <a:lstStyle/>
          <a:p>
            <a:pPr>
              <a:defRPr sz="1600" b="1">
                <a:solidFill>
                  <a:srgbClr val="1465C0"/>
                </a:solidFill>
              </a:defRPr>
            </a:pPr>
            <a:r>
              <a:t>Standard (Bacteria)</a:t>
            </a:r>
          </a:p>
        </p:txBody>
      </p:sp>
      <p:sp>
        <p:nvSpPr>
          <p:cNvPr id="6" name="Rounded Rectangle 5"/>
          <p:cNvSpPr/>
          <p:nvPr/>
        </p:nvSpPr>
        <p:spPr>
          <a:xfrm>
            <a:off x="457200" y="2103120"/>
            <a:ext cx="3657600" cy="1828800"/>
          </a:xfrm>
          <a:prstGeom prst="roundRect">
            <a:avLst/>
          </a:prstGeom>
          <a:solidFill>
            <a:srgbClr val="E3F2FD"/>
          </a:solidFill>
          <a:ln w="25400">
            <a:solidFill>
              <a:srgbClr val="1465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2501994"/>
            <a:ext cx="3291840" cy="1031051"/>
          </a:xfrm>
          <a:prstGeom prst="rect">
            <a:avLst/>
          </a:prstGeom>
          <a:noFill/>
        </p:spPr>
        <p:txBody>
          <a:bodyPr wrap="square" anchor="ctr" anchorCtr="0">
            <a:spAutoFit/>
          </a:bodyPr>
          <a:lstStyle/>
          <a:p>
            <a:pPr>
              <a:defRPr sz="1300" b="1">
                <a:solidFill>
                  <a:srgbClr val="333333"/>
                </a:solidFill>
              </a:defRPr>
            </a:pPr>
            <a:r>
              <a:rPr dirty="0"/>
              <a:t>9 Pairwise Comparisons:</a:t>
            </a:r>
          </a:p>
          <a:p>
            <a:pPr>
              <a:defRPr sz="1200">
                <a:solidFill>
                  <a:srgbClr val="333333"/>
                </a:solidFill>
              </a:defRPr>
            </a:pPr>
            <a:r>
              <a:rPr dirty="0"/>
              <a:t>• FDR Significant: 5/9 (55.6%)</a:t>
            </a:r>
          </a:p>
          <a:p>
            <a:pPr>
              <a:defRPr sz="1200" b="1">
                <a:solidFill>
                  <a:srgbClr val="4CAF50"/>
                </a:solidFill>
              </a:defRPr>
            </a:pPr>
            <a:r>
              <a:rPr dirty="0"/>
              <a:t>• </a:t>
            </a:r>
            <a:r>
              <a:rPr dirty="0" err="1"/>
              <a:t>CagA@ApcMUT</a:t>
            </a:r>
            <a:r>
              <a:rPr dirty="0"/>
              <a:t>: P=0.039 ⭐</a:t>
            </a:r>
          </a:p>
          <a:p>
            <a:pPr>
              <a:defRPr sz="1200">
                <a:solidFill>
                  <a:srgbClr val="333333"/>
                </a:solidFill>
              </a:defRPr>
            </a:pPr>
            <a:r>
              <a:rPr dirty="0"/>
              <a:t>• </a:t>
            </a:r>
            <a:r>
              <a:rPr dirty="0" err="1"/>
              <a:t>CagA@ApcWT</a:t>
            </a:r>
            <a:r>
              <a:rPr dirty="0"/>
              <a:t>: P=0.387</a:t>
            </a:r>
          </a:p>
          <a:p>
            <a:pPr>
              <a:defRPr sz="1200" b="1">
                <a:solidFill>
                  <a:srgbClr val="1465C0"/>
                </a:solidFill>
              </a:defRPr>
            </a:pPr>
            <a:r>
              <a:rPr dirty="0"/>
              <a:t>→ G×E Fully Verified</a:t>
            </a:r>
          </a:p>
        </p:txBody>
      </p:sp>
      <p:sp>
        <p:nvSpPr>
          <p:cNvPr id="8" name="TextBox 7"/>
          <p:cNvSpPr txBox="1"/>
          <p:nvPr/>
        </p:nvSpPr>
        <p:spPr>
          <a:xfrm>
            <a:off x="4846320" y="1737360"/>
            <a:ext cx="3657600" cy="365760"/>
          </a:xfrm>
          <a:prstGeom prst="rect">
            <a:avLst/>
          </a:prstGeom>
          <a:noFill/>
        </p:spPr>
        <p:txBody>
          <a:bodyPr wrap="none">
            <a:spAutoFit/>
          </a:bodyPr>
          <a:lstStyle/>
          <a:p>
            <a:pPr>
              <a:defRPr sz="1600" b="1">
                <a:solidFill>
                  <a:srgbClr val="7B1FA2"/>
                </a:solidFill>
              </a:defRPr>
            </a:pPr>
            <a:r>
              <a:t>Virus (Viruses)</a:t>
            </a:r>
          </a:p>
        </p:txBody>
      </p:sp>
      <p:sp>
        <p:nvSpPr>
          <p:cNvPr id="9" name="Rounded Rectangle 8"/>
          <p:cNvSpPr/>
          <p:nvPr/>
        </p:nvSpPr>
        <p:spPr>
          <a:xfrm>
            <a:off x="4846320" y="2103120"/>
            <a:ext cx="3657600" cy="1828800"/>
          </a:xfrm>
          <a:prstGeom prst="roundRect">
            <a:avLst/>
          </a:prstGeom>
          <a:solidFill>
            <a:srgbClr val="F3E5F5"/>
          </a:solidFill>
          <a:ln w="25400">
            <a:solidFill>
              <a:srgbClr val="7B1F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0" y="2501994"/>
            <a:ext cx="3291840" cy="1031051"/>
          </a:xfrm>
          <a:prstGeom prst="rect">
            <a:avLst/>
          </a:prstGeom>
          <a:noFill/>
        </p:spPr>
        <p:txBody>
          <a:bodyPr wrap="square" anchor="ctr" anchorCtr="0">
            <a:spAutoFit/>
          </a:bodyPr>
          <a:lstStyle/>
          <a:p>
            <a:pPr>
              <a:defRPr sz="1300" b="1">
                <a:solidFill>
                  <a:srgbClr val="333333"/>
                </a:solidFill>
              </a:defRPr>
            </a:pPr>
            <a:r>
              <a:rPr dirty="0"/>
              <a:t>9 Pairwise Comparisons:</a:t>
            </a:r>
          </a:p>
          <a:p>
            <a:pPr>
              <a:defRPr sz="1200">
                <a:solidFill>
                  <a:srgbClr val="333333"/>
                </a:solidFill>
              </a:defRPr>
            </a:pPr>
            <a:r>
              <a:rPr dirty="0"/>
              <a:t>• FDR Significant: 0/9 (0%)</a:t>
            </a:r>
          </a:p>
          <a:p>
            <a:pPr>
              <a:defRPr sz="1200">
                <a:solidFill>
                  <a:srgbClr val="333333"/>
                </a:solidFill>
              </a:defRPr>
            </a:pPr>
            <a:r>
              <a:rPr dirty="0"/>
              <a:t>• </a:t>
            </a:r>
            <a:r>
              <a:rPr dirty="0" err="1"/>
              <a:t>CagA@ApcMUT</a:t>
            </a:r>
            <a:r>
              <a:rPr dirty="0"/>
              <a:t>: P=0.604</a:t>
            </a:r>
          </a:p>
          <a:p>
            <a:pPr>
              <a:defRPr sz="1200">
                <a:solidFill>
                  <a:srgbClr val="333333"/>
                </a:solidFill>
              </a:defRPr>
            </a:pPr>
            <a:r>
              <a:rPr dirty="0"/>
              <a:t>• </a:t>
            </a:r>
            <a:r>
              <a:rPr dirty="0" err="1"/>
              <a:t>CagA@ApcWT</a:t>
            </a:r>
            <a:r>
              <a:rPr dirty="0"/>
              <a:t>: P=0.978</a:t>
            </a:r>
          </a:p>
          <a:p>
            <a:pPr>
              <a:defRPr sz="1200" b="1">
                <a:solidFill>
                  <a:srgbClr val="7B1FA2"/>
                </a:solidFill>
              </a:defRPr>
            </a:pPr>
            <a:r>
              <a:rPr dirty="0"/>
              <a:t>→ No Significant Effect</a:t>
            </a:r>
          </a:p>
        </p:txBody>
      </p:sp>
      <p:sp>
        <p:nvSpPr>
          <p:cNvPr id="11" name="Oval 10"/>
          <p:cNvSpPr/>
          <p:nvPr/>
        </p:nvSpPr>
        <p:spPr>
          <a:xfrm>
            <a:off x="4160520" y="2743200"/>
            <a:ext cx="640080" cy="640080"/>
          </a:xfrm>
          <a:prstGeom prst="ellipse">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60520" y="2880360"/>
            <a:ext cx="640080" cy="365760"/>
          </a:xfrm>
          <a:prstGeom prst="rect">
            <a:avLst/>
          </a:prstGeom>
          <a:noFill/>
        </p:spPr>
        <p:txBody>
          <a:bodyPr wrap="none">
            <a:spAutoFit/>
          </a:bodyPr>
          <a:lstStyle/>
          <a:p>
            <a:pPr algn="ctr">
              <a:defRPr sz="1400" b="1">
                <a:solidFill>
                  <a:srgbClr val="FFFFFF"/>
                </a:solidFill>
              </a:defRPr>
            </a:pPr>
            <a:r>
              <a:t>VS</a:t>
            </a:r>
          </a:p>
        </p:txBody>
      </p:sp>
      <p:sp>
        <p:nvSpPr>
          <p:cNvPr id="13" name="Rounded Rectangle 12"/>
          <p:cNvSpPr/>
          <p:nvPr/>
        </p:nvSpPr>
        <p:spPr>
          <a:xfrm>
            <a:off x="457200" y="4114800"/>
            <a:ext cx="8229600" cy="64008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4206240"/>
            <a:ext cx="7863840" cy="457200"/>
          </a:xfrm>
          <a:prstGeom prst="rect">
            <a:avLst/>
          </a:prstGeom>
          <a:noFill/>
        </p:spPr>
        <p:txBody>
          <a:bodyPr wrap="none">
            <a:spAutoFit/>
          </a:bodyPr>
          <a:lstStyle/>
          <a:p>
            <a:pPr algn="ctr">
              <a:defRPr sz="1500" b="1">
                <a:solidFill>
                  <a:srgbClr val="FFFFFF"/>
                </a:solidFill>
              </a:defRPr>
            </a:pPr>
            <a:r>
              <a:t>Conclusion: CagA reshapes gut environment mainly via bacteria, not directly via viruses</a:t>
            </a:r>
          </a:p>
        </p:txBody>
      </p:sp>
      <p:sp>
        <p:nvSpPr>
          <p:cNvPr id="15" name="TextBox 14"/>
          <p:cNvSpPr txBox="1"/>
          <p:nvPr/>
        </p:nvSpPr>
        <p:spPr>
          <a:xfrm>
            <a:off x="8229600" y="4594860"/>
            <a:ext cx="731520" cy="365760"/>
          </a:xfrm>
          <a:prstGeom prst="rect">
            <a:avLst/>
          </a:prstGeom>
          <a:noFill/>
        </p:spPr>
        <p:txBody>
          <a:bodyPr wrap="none">
            <a:spAutoFit/>
          </a:bodyPr>
          <a:lstStyle/>
          <a:p>
            <a:pPr algn="r">
              <a:defRPr sz="1400" b="1">
                <a:solidFill>
                  <a:srgbClr val="1465C0"/>
                </a:solidFill>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14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8229600" cy="548640"/>
          </a:xfrm>
          <a:prstGeom prst="rect">
            <a:avLst/>
          </a:prstGeom>
          <a:noFill/>
        </p:spPr>
        <p:txBody>
          <a:bodyPr wrap="none">
            <a:spAutoFit/>
          </a:bodyPr>
          <a:lstStyle/>
          <a:p>
            <a:pPr>
              <a:defRPr sz="2800" b="1">
                <a:solidFill>
                  <a:srgbClr val="FFFFFF"/>
                </a:solidFill>
              </a:defRPr>
            </a:pPr>
            <a:r>
              <a:t>Result 3: Functional Redundancy — All Levels Verified</a:t>
            </a:r>
          </a:p>
        </p:txBody>
      </p:sp>
      <p:sp>
        <p:nvSpPr>
          <p:cNvPr id="4" name="TextBox 3"/>
          <p:cNvSpPr txBox="1"/>
          <p:nvPr/>
        </p:nvSpPr>
        <p:spPr>
          <a:xfrm>
            <a:off x="274320" y="1188720"/>
            <a:ext cx="4114800" cy="365760"/>
          </a:xfrm>
          <a:prstGeom prst="rect">
            <a:avLst/>
          </a:prstGeom>
          <a:noFill/>
        </p:spPr>
        <p:txBody>
          <a:bodyPr wrap="none">
            <a:spAutoFit/>
          </a:bodyPr>
          <a:lstStyle/>
          <a:p>
            <a:pPr>
              <a:defRPr sz="1400" b="1">
                <a:solidFill>
                  <a:srgbClr val="0D47A1"/>
                </a:solidFill>
              </a:defRPr>
            </a:pPr>
            <a:r>
              <a:t>HUMAnN4 Functional Hierarchy</a:t>
            </a:r>
          </a:p>
        </p:txBody>
      </p:sp>
      <p:sp>
        <p:nvSpPr>
          <p:cNvPr id="5" name="Rectangle 4"/>
          <p:cNvSpPr/>
          <p:nvPr/>
        </p:nvSpPr>
        <p:spPr>
          <a:xfrm>
            <a:off x="365760" y="1554480"/>
            <a:ext cx="1097280" cy="365760"/>
          </a:xfrm>
          <a:prstGeom prst="rect">
            <a:avLst/>
          </a:prstGeom>
          <a:solidFill>
            <a:srgbClr val="1465C0"/>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1627632"/>
            <a:ext cx="1097280" cy="274320"/>
          </a:xfrm>
          <a:prstGeom prst="rect">
            <a:avLst/>
          </a:prstGeom>
          <a:noFill/>
        </p:spPr>
        <p:txBody>
          <a:bodyPr wrap="none">
            <a:spAutoFit/>
          </a:bodyPr>
          <a:lstStyle/>
          <a:p>
            <a:pPr algn="ctr">
              <a:defRPr sz="1000" b="1">
                <a:solidFill>
                  <a:srgbClr val="FFFFFF"/>
                </a:solidFill>
              </a:defRPr>
            </a:pPr>
            <a:r>
              <a:t>层级</a:t>
            </a:r>
          </a:p>
        </p:txBody>
      </p:sp>
      <p:sp>
        <p:nvSpPr>
          <p:cNvPr id="7" name="Rectangle 6"/>
          <p:cNvSpPr/>
          <p:nvPr/>
        </p:nvSpPr>
        <p:spPr>
          <a:xfrm>
            <a:off x="1463040" y="1554480"/>
            <a:ext cx="1005840" cy="365760"/>
          </a:xfrm>
          <a:prstGeom prst="rect">
            <a:avLst/>
          </a:prstGeom>
          <a:solidFill>
            <a:srgbClr val="1465C0"/>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463040" y="1627632"/>
            <a:ext cx="1005840" cy="274320"/>
          </a:xfrm>
          <a:prstGeom prst="rect">
            <a:avLst/>
          </a:prstGeom>
          <a:noFill/>
        </p:spPr>
        <p:txBody>
          <a:bodyPr wrap="none">
            <a:spAutoFit/>
          </a:bodyPr>
          <a:lstStyle/>
          <a:p>
            <a:pPr algn="ctr">
              <a:defRPr sz="1000" b="1">
                <a:solidFill>
                  <a:srgbClr val="FFFFFF"/>
                </a:solidFill>
              </a:defRPr>
            </a:pPr>
            <a:r>
              <a:t>特征数</a:t>
            </a:r>
          </a:p>
        </p:txBody>
      </p:sp>
      <p:sp>
        <p:nvSpPr>
          <p:cNvPr id="9" name="Rectangle 8"/>
          <p:cNvSpPr/>
          <p:nvPr/>
        </p:nvSpPr>
        <p:spPr>
          <a:xfrm>
            <a:off x="2468879" y="1554480"/>
            <a:ext cx="822960" cy="365760"/>
          </a:xfrm>
          <a:prstGeom prst="rect">
            <a:avLst/>
          </a:prstGeom>
          <a:solidFill>
            <a:srgbClr val="1465C0"/>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68879" y="1627632"/>
            <a:ext cx="822960" cy="274320"/>
          </a:xfrm>
          <a:prstGeom prst="rect">
            <a:avLst/>
          </a:prstGeom>
          <a:noFill/>
        </p:spPr>
        <p:txBody>
          <a:bodyPr wrap="none">
            <a:spAutoFit/>
          </a:bodyPr>
          <a:lstStyle/>
          <a:p>
            <a:pPr algn="ctr">
              <a:defRPr sz="1000" b="1">
                <a:solidFill>
                  <a:srgbClr val="FFFFFF"/>
                </a:solidFill>
              </a:defRPr>
            </a:pPr>
            <a:r>
              <a:t>P&lt;0.05</a:t>
            </a:r>
          </a:p>
        </p:txBody>
      </p:sp>
      <p:sp>
        <p:nvSpPr>
          <p:cNvPr id="11" name="Rectangle 10"/>
          <p:cNvSpPr/>
          <p:nvPr/>
        </p:nvSpPr>
        <p:spPr>
          <a:xfrm>
            <a:off x="3291840" y="1554480"/>
            <a:ext cx="914400" cy="365760"/>
          </a:xfrm>
          <a:prstGeom prst="rect">
            <a:avLst/>
          </a:prstGeom>
          <a:solidFill>
            <a:srgbClr val="1465C0"/>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91840" y="1627632"/>
            <a:ext cx="914400" cy="274320"/>
          </a:xfrm>
          <a:prstGeom prst="rect">
            <a:avLst/>
          </a:prstGeom>
          <a:noFill/>
        </p:spPr>
        <p:txBody>
          <a:bodyPr wrap="none">
            <a:spAutoFit/>
          </a:bodyPr>
          <a:lstStyle/>
          <a:p>
            <a:pPr algn="ctr">
              <a:defRPr sz="1000" b="1">
                <a:solidFill>
                  <a:srgbClr val="FFFFFF"/>
                </a:solidFill>
              </a:defRPr>
            </a:pPr>
            <a:r>
              <a:t>FDR&lt;0.05</a:t>
            </a:r>
          </a:p>
        </p:txBody>
      </p:sp>
      <p:sp>
        <p:nvSpPr>
          <p:cNvPr id="13" name="Rectangle 12"/>
          <p:cNvSpPr/>
          <p:nvPr/>
        </p:nvSpPr>
        <p:spPr>
          <a:xfrm>
            <a:off x="4206240" y="1554480"/>
            <a:ext cx="822960" cy="365760"/>
          </a:xfrm>
          <a:prstGeom prst="rect">
            <a:avLst/>
          </a:prstGeom>
          <a:solidFill>
            <a:srgbClr val="1465C0"/>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206240" y="1627632"/>
            <a:ext cx="822960" cy="274320"/>
          </a:xfrm>
          <a:prstGeom prst="rect">
            <a:avLst/>
          </a:prstGeom>
          <a:noFill/>
        </p:spPr>
        <p:txBody>
          <a:bodyPr wrap="none">
            <a:spAutoFit/>
          </a:bodyPr>
          <a:lstStyle/>
          <a:p>
            <a:pPr algn="ctr">
              <a:defRPr sz="1000" b="1">
                <a:solidFill>
                  <a:srgbClr val="FFFFFF"/>
                </a:solidFill>
              </a:defRPr>
            </a:pPr>
            <a:r>
              <a:t>结论</a:t>
            </a:r>
          </a:p>
        </p:txBody>
      </p:sp>
      <p:sp>
        <p:nvSpPr>
          <p:cNvPr id="15" name="Rectangle 14"/>
          <p:cNvSpPr/>
          <p:nvPr/>
        </p:nvSpPr>
        <p:spPr>
          <a:xfrm>
            <a:off x="365760" y="1920240"/>
            <a:ext cx="1097280" cy="365760"/>
          </a:xfrm>
          <a:prstGeom prst="rect">
            <a:avLst/>
          </a:prstGeom>
          <a:solidFill>
            <a:srgbClr val="FFFFFF"/>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5760" y="1993392"/>
            <a:ext cx="1097280" cy="274320"/>
          </a:xfrm>
          <a:prstGeom prst="rect">
            <a:avLst/>
          </a:prstGeom>
          <a:noFill/>
        </p:spPr>
        <p:txBody>
          <a:bodyPr wrap="none">
            <a:spAutoFit/>
          </a:bodyPr>
          <a:lstStyle/>
          <a:p>
            <a:pPr algn="ctr">
              <a:defRPr sz="1000" b="0">
                <a:solidFill>
                  <a:srgbClr val="333333"/>
                </a:solidFill>
              </a:defRPr>
            </a:pPr>
            <a:r>
              <a:t>Pathway</a:t>
            </a:r>
          </a:p>
        </p:txBody>
      </p:sp>
      <p:sp>
        <p:nvSpPr>
          <p:cNvPr id="17" name="Rectangle 16"/>
          <p:cNvSpPr/>
          <p:nvPr/>
        </p:nvSpPr>
        <p:spPr>
          <a:xfrm>
            <a:off x="1463040" y="1920240"/>
            <a:ext cx="1005840" cy="365760"/>
          </a:xfrm>
          <a:prstGeom prst="rect">
            <a:avLst/>
          </a:prstGeom>
          <a:solidFill>
            <a:srgbClr val="FFFFFF"/>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463040" y="1993392"/>
            <a:ext cx="1005840" cy="274320"/>
          </a:xfrm>
          <a:prstGeom prst="rect">
            <a:avLst/>
          </a:prstGeom>
          <a:noFill/>
        </p:spPr>
        <p:txBody>
          <a:bodyPr wrap="none">
            <a:spAutoFit/>
          </a:bodyPr>
          <a:lstStyle/>
          <a:p>
            <a:pPr algn="ctr">
              <a:defRPr sz="1000" b="0">
                <a:solidFill>
                  <a:srgbClr val="333333"/>
                </a:solidFill>
              </a:defRPr>
            </a:pPr>
            <a:r>
              <a:t>~500</a:t>
            </a:r>
          </a:p>
        </p:txBody>
      </p:sp>
      <p:sp>
        <p:nvSpPr>
          <p:cNvPr id="19" name="Rectangle 18"/>
          <p:cNvSpPr/>
          <p:nvPr/>
        </p:nvSpPr>
        <p:spPr>
          <a:xfrm>
            <a:off x="2468879" y="1920240"/>
            <a:ext cx="822960" cy="365760"/>
          </a:xfrm>
          <a:prstGeom prst="rect">
            <a:avLst/>
          </a:prstGeom>
          <a:solidFill>
            <a:srgbClr val="FFFFFF"/>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468879" y="1993392"/>
            <a:ext cx="822960" cy="274320"/>
          </a:xfrm>
          <a:prstGeom prst="rect">
            <a:avLst/>
          </a:prstGeom>
          <a:noFill/>
        </p:spPr>
        <p:txBody>
          <a:bodyPr wrap="none">
            <a:spAutoFit/>
          </a:bodyPr>
          <a:lstStyle/>
          <a:p>
            <a:pPr algn="ctr">
              <a:defRPr sz="1000" b="0">
                <a:solidFill>
                  <a:srgbClr val="333333"/>
                </a:solidFill>
              </a:defRPr>
            </a:pPr>
            <a:r>
              <a:t>多个</a:t>
            </a:r>
          </a:p>
        </p:txBody>
      </p:sp>
      <p:sp>
        <p:nvSpPr>
          <p:cNvPr id="21" name="Rectangle 20"/>
          <p:cNvSpPr/>
          <p:nvPr/>
        </p:nvSpPr>
        <p:spPr>
          <a:xfrm>
            <a:off x="3291840" y="1920240"/>
            <a:ext cx="914400" cy="365760"/>
          </a:xfrm>
          <a:prstGeom prst="rect">
            <a:avLst/>
          </a:prstGeom>
          <a:solidFill>
            <a:srgbClr val="FFFFFF"/>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291840" y="1993392"/>
            <a:ext cx="914400" cy="274320"/>
          </a:xfrm>
          <a:prstGeom prst="rect">
            <a:avLst/>
          </a:prstGeom>
          <a:noFill/>
        </p:spPr>
        <p:txBody>
          <a:bodyPr wrap="none">
            <a:spAutoFit/>
          </a:bodyPr>
          <a:lstStyle/>
          <a:p>
            <a:pPr algn="ctr">
              <a:defRPr sz="1000" b="0">
                <a:solidFill>
                  <a:srgbClr val="333333"/>
                </a:solidFill>
              </a:defRPr>
            </a:pPr>
            <a:r>
              <a:t>0</a:t>
            </a:r>
          </a:p>
        </p:txBody>
      </p:sp>
      <p:sp>
        <p:nvSpPr>
          <p:cNvPr id="23" name="Rectangle 22"/>
          <p:cNvSpPr/>
          <p:nvPr/>
        </p:nvSpPr>
        <p:spPr>
          <a:xfrm>
            <a:off x="4206240" y="1920240"/>
            <a:ext cx="822960" cy="365760"/>
          </a:xfrm>
          <a:prstGeom prst="rect">
            <a:avLst/>
          </a:prstGeom>
          <a:solidFill>
            <a:srgbClr val="E8F5E9"/>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206240" y="1993392"/>
            <a:ext cx="822960" cy="274320"/>
          </a:xfrm>
          <a:prstGeom prst="rect">
            <a:avLst/>
          </a:prstGeom>
          <a:noFill/>
        </p:spPr>
        <p:txBody>
          <a:bodyPr wrap="none">
            <a:spAutoFit/>
          </a:bodyPr>
          <a:lstStyle/>
          <a:p>
            <a:pPr algn="ctr">
              <a:defRPr sz="1000" b="1">
                <a:solidFill>
                  <a:srgbClr val="4CAF50"/>
                </a:solidFill>
              </a:defRPr>
            </a:pPr>
            <a:r>
              <a:t>✓ 冗余</a:t>
            </a:r>
          </a:p>
        </p:txBody>
      </p:sp>
      <p:sp>
        <p:nvSpPr>
          <p:cNvPr id="25" name="Rectangle 24"/>
          <p:cNvSpPr/>
          <p:nvPr/>
        </p:nvSpPr>
        <p:spPr>
          <a:xfrm>
            <a:off x="365760" y="2286000"/>
            <a:ext cx="1097280" cy="365760"/>
          </a:xfrm>
          <a:prstGeom prst="rect">
            <a:avLst/>
          </a:prstGeom>
          <a:solidFill>
            <a:srgbClr val="F5F5F5"/>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5760" y="2359152"/>
            <a:ext cx="1097280" cy="274320"/>
          </a:xfrm>
          <a:prstGeom prst="rect">
            <a:avLst/>
          </a:prstGeom>
          <a:noFill/>
        </p:spPr>
        <p:txBody>
          <a:bodyPr wrap="none">
            <a:spAutoFit/>
          </a:bodyPr>
          <a:lstStyle/>
          <a:p>
            <a:pPr algn="ctr">
              <a:defRPr sz="1000" b="0">
                <a:solidFill>
                  <a:srgbClr val="333333"/>
                </a:solidFill>
              </a:defRPr>
            </a:pPr>
            <a:r>
              <a:t>KO</a:t>
            </a:r>
          </a:p>
        </p:txBody>
      </p:sp>
      <p:sp>
        <p:nvSpPr>
          <p:cNvPr id="27" name="Rectangle 26"/>
          <p:cNvSpPr/>
          <p:nvPr/>
        </p:nvSpPr>
        <p:spPr>
          <a:xfrm>
            <a:off x="1463040" y="2286000"/>
            <a:ext cx="1005840" cy="365760"/>
          </a:xfrm>
          <a:prstGeom prst="rect">
            <a:avLst/>
          </a:prstGeom>
          <a:solidFill>
            <a:srgbClr val="F5F5F5"/>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463040" y="2359152"/>
            <a:ext cx="1005840" cy="274320"/>
          </a:xfrm>
          <a:prstGeom prst="rect">
            <a:avLst/>
          </a:prstGeom>
          <a:noFill/>
        </p:spPr>
        <p:txBody>
          <a:bodyPr wrap="none">
            <a:spAutoFit/>
          </a:bodyPr>
          <a:lstStyle/>
          <a:p>
            <a:pPr algn="ctr">
              <a:defRPr sz="1000" b="0">
                <a:solidFill>
                  <a:srgbClr val="333333"/>
                </a:solidFill>
              </a:defRPr>
            </a:pPr>
            <a:r>
              <a:t>~6,000</a:t>
            </a:r>
          </a:p>
        </p:txBody>
      </p:sp>
      <p:sp>
        <p:nvSpPr>
          <p:cNvPr id="29" name="Rectangle 28"/>
          <p:cNvSpPr/>
          <p:nvPr/>
        </p:nvSpPr>
        <p:spPr>
          <a:xfrm>
            <a:off x="2468879" y="2286000"/>
            <a:ext cx="822960" cy="365760"/>
          </a:xfrm>
          <a:prstGeom prst="rect">
            <a:avLst/>
          </a:prstGeom>
          <a:solidFill>
            <a:srgbClr val="F5F5F5"/>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468879" y="2359152"/>
            <a:ext cx="822960" cy="274320"/>
          </a:xfrm>
          <a:prstGeom prst="rect">
            <a:avLst/>
          </a:prstGeom>
          <a:noFill/>
        </p:spPr>
        <p:txBody>
          <a:bodyPr wrap="none">
            <a:spAutoFit/>
          </a:bodyPr>
          <a:lstStyle/>
          <a:p>
            <a:pPr algn="ctr">
              <a:defRPr sz="1000" b="0">
                <a:solidFill>
                  <a:srgbClr val="333333"/>
                </a:solidFill>
              </a:defRPr>
            </a:pPr>
            <a:r>
              <a:t>多个</a:t>
            </a:r>
          </a:p>
        </p:txBody>
      </p:sp>
      <p:sp>
        <p:nvSpPr>
          <p:cNvPr id="31" name="Rectangle 30"/>
          <p:cNvSpPr/>
          <p:nvPr/>
        </p:nvSpPr>
        <p:spPr>
          <a:xfrm>
            <a:off x="3291840" y="2286000"/>
            <a:ext cx="914400" cy="365760"/>
          </a:xfrm>
          <a:prstGeom prst="rect">
            <a:avLst/>
          </a:prstGeom>
          <a:solidFill>
            <a:srgbClr val="F5F5F5"/>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291840" y="2359152"/>
            <a:ext cx="914400" cy="274320"/>
          </a:xfrm>
          <a:prstGeom prst="rect">
            <a:avLst/>
          </a:prstGeom>
          <a:noFill/>
        </p:spPr>
        <p:txBody>
          <a:bodyPr wrap="none">
            <a:spAutoFit/>
          </a:bodyPr>
          <a:lstStyle/>
          <a:p>
            <a:pPr algn="ctr">
              <a:defRPr sz="1000" b="0">
                <a:solidFill>
                  <a:srgbClr val="333333"/>
                </a:solidFill>
              </a:defRPr>
            </a:pPr>
            <a:r>
              <a:t>0</a:t>
            </a:r>
          </a:p>
        </p:txBody>
      </p:sp>
      <p:sp>
        <p:nvSpPr>
          <p:cNvPr id="33" name="Rectangle 32"/>
          <p:cNvSpPr/>
          <p:nvPr/>
        </p:nvSpPr>
        <p:spPr>
          <a:xfrm>
            <a:off x="4206240" y="2286000"/>
            <a:ext cx="822960" cy="365760"/>
          </a:xfrm>
          <a:prstGeom prst="rect">
            <a:avLst/>
          </a:prstGeom>
          <a:solidFill>
            <a:srgbClr val="E8F5E9"/>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206240" y="2359152"/>
            <a:ext cx="822960" cy="274320"/>
          </a:xfrm>
          <a:prstGeom prst="rect">
            <a:avLst/>
          </a:prstGeom>
          <a:noFill/>
        </p:spPr>
        <p:txBody>
          <a:bodyPr wrap="none">
            <a:spAutoFit/>
          </a:bodyPr>
          <a:lstStyle/>
          <a:p>
            <a:pPr algn="ctr">
              <a:defRPr sz="1000" b="1">
                <a:solidFill>
                  <a:srgbClr val="4CAF50"/>
                </a:solidFill>
              </a:defRPr>
            </a:pPr>
            <a:r>
              <a:t>✓ 冗余</a:t>
            </a:r>
          </a:p>
        </p:txBody>
      </p:sp>
      <p:sp>
        <p:nvSpPr>
          <p:cNvPr id="35" name="Rectangle 34"/>
          <p:cNvSpPr/>
          <p:nvPr/>
        </p:nvSpPr>
        <p:spPr>
          <a:xfrm>
            <a:off x="365760" y="2651760"/>
            <a:ext cx="1097280" cy="365760"/>
          </a:xfrm>
          <a:prstGeom prst="rect">
            <a:avLst/>
          </a:prstGeom>
          <a:solidFill>
            <a:srgbClr val="FFFFFF"/>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65760" y="2724912"/>
            <a:ext cx="1097280" cy="274320"/>
          </a:xfrm>
          <a:prstGeom prst="rect">
            <a:avLst/>
          </a:prstGeom>
          <a:noFill/>
        </p:spPr>
        <p:txBody>
          <a:bodyPr wrap="none">
            <a:spAutoFit/>
          </a:bodyPr>
          <a:lstStyle/>
          <a:p>
            <a:pPr algn="ctr">
              <a:defRPr sz="1000" b="0">
                <a:solidFill>
                  <a:srgbClr val="333333"/>
                </a:solidFill>
              </a:defRPr>
            </a:pPr>
            <a:r>
              <a:t>GO</a:t>
            </a:r>
          </a:p>
        </p:txBody>
      </p:sp>
      <p:sp>
        <p:nvSpPr>
          <p:cNvPr id="37" name="Rectangle 36"/>
          <p:cNvSpPr/>
          <p:nvPr/>
        </p:nvSpPr>
        <p:spPr>
          <a:xfrm>
            <a:off x="1463040" y="2651760"/>
            <a:ext cx="1005840" cy="365760"/>
          </a:xfrm>
          <a:prstGeom prst="rect">
            <a:avLst/>
          </a:prstGeom>
          <a:solidFill>
            <a:srgbClr val="FFFFFF"/>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463040" y="2724912"/>
            <a:ext cx="1005840" cy="274320"/>
          </a:xfrm>
          <a:prstGeom prst="rect">
            <a:avLst/>
          </a:prstGeom>
          <a:noFill/>
        </p:spPr>
        <p:txBody>
          <a:bodyPr wrap="none">
            <a:spAutoFit/>
          </a:bodyPr>
          <a:lstStyle/>
          <a:p>
            <a:pPr algn="ctr">
              <a:defRPr sz="1000" b="0">
                <a:solidFill>
                  <a:srgbClr val="333333"/>
                </a:solidFill>
              </a:defRPr>
            </a:pPr>
            <a:r>
              <a:t>~13,000</a:t>
            </a:r>
          </a:p>
        </p:txBody>
      </p:sp>
      <p:sp>
        <p:nvSpPr>
          <p:cNvPr id="39" name="Rectangle 38"/>
          <p:cNvSpPr/>
          <p:nvPr/>
        </p:nvSpPr>
        <p:spPr>
          <a:xfrm>
            <a:off x="2468879" y="2651760"/>
            <a:ext cx="822960" cy="365760"/>
          </a:xfrm>
          <a:prstGeom prst="rect">
            <a:avLst/>
          </a:prstGeom>
          <a:solidFill>
            <a:srgbClr val="FFFFFF"/>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468879" y="2724912"/>
            <a:ext cx="822960" cy="274320"/>
          </a:xfrm>
          <a:prstGeom prst="rect">
            <a:avLst/>
          </a:prstGeom>
          <a:noFill/>
        </p:spPr>
        <p:txBody>
          <a:bodyPr wrap="none">
            <a:spAutoFit/>
          </a:bodyPr>
          <a:lstStyle/>
          <a:p>
            <a:pPr algn="ctr">
              <a:defRPr sz="1000" b="0">
                <a:solidFill>
                  <a:srgbClr val="333333"/>
                </a:solidFill>
              </a:defRPr>
            </a:pPr>
            <a:r>
              <a:t>1,577</a:t>
            </a:r>
          </a:p>
        </p:txBody>
      </p:sp>
      <p:sp>
        <p:nvSpPr>
          <p:cNvPr id="41" name="Rectangle 40"/>
          <p:cNvSpPr/>
          <p:nvPr/>
        </p:nvSpPr>
        <p:spPr>
          <a:xfrm>
            <a:off x="3291840" y="2651760"/>
            <a:ext cx="914400" cy="365760"/>
          </a:xfrm>
          <a:prstGeom prst="rect">
            <a:avLst/>
          </a:prstGeom>
          <a:solidFill>
            <a:srgbClr val="FFFFFF"/>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291840" y="2724912"/>
            <a:ext cx="914400" cy="274320"/>
          </a:xfrm>
          <a:prstGeom prst="rect">
            <a:avLst/>
          </a:prstGeom>
          <a:noFill/>
        </p:spPr>
        <p:txBody>
          <a:bodyPr wrap="none">
            <a:spAutoFit/>
          </a:bodyPr>
          <a:lstStyle/>
          <a:p>
            <a:pPr algn="ctr">
              <a:defRPr sz="1000" b="0">
                <a:solidFill>
                  <a:srgbClr val="333333"/>
                </a:solidFill>
              </a:defRPr>
            </a:pPr>
            <a:r>
              <a:t>0</a:t>
            </a:r>
          </a:p>
        </p:txBody>
      </p:sp>
      <p:sp>
        <p:nvSpPr>
          <p:cNvPr id="43" name="Rectangle 42"/>
          <p:cNvSpPr/>
          <p:nvPr/>
        </p:nvSpPr>
        <p:spPr>
          <a:xfrm>
            <a:off x="4206240" y="2651760"/>
            <a:ext cx="822960" cy="365760"/>
          </a:xfrm>
          <a:prstGeom prst="rect">
            <a:avLst/>
          </a:prstGeom>
          <a:solidFill>
            <a:srgbClr val="E8F5E9"/>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206240" y="2724912"/>
            <a:ext cx="822960" cy="274320"/>
          </a:xfrm>
          <a:prstGeom prst="rect">
            <a:avLst/>
          </a:prstGeom>
          <a:noFill/>
        </p:spPr>
        <p:txBody>
          <a:bodyPr wrap="none">
            <a:spAutoFit/>
          </a:bodyPr>
          <a:lstStyle/>
          <a:p>
            <a:pPr algn="ctr">
              <a:defRPr sz="1000" b="1">
                <a:solidFill>
                  <a:srgbClr val="4CAF50"/>
                </a:solidFill>
              </a:defRPr>
            </a:pPr>
            <a:r>
              <a:t>✓ 冗余</a:t>
            </a:r>
          </a:p>
        </p:txBody>
      </p:sp>
      <p:sp>
        <p:nvSpPr>
          <p:cNvPr id="45" name="Rectangle 44"/>
          <p:cNvSpPr/>
          <p:nvPr/>
        </p:nvSpPr>
        <p:spPr>
          <a:xfrm>
            <a:off x="365760" y="3017520"/>
            <a:ext cx="1097280" cy="365760"/>
          </a:xfrm>
          <a:prstGeom prst="rect">
            <a:avLst/>
          </a:prstGeom>
          <a:solidFill>
            <a:srgbClr val="F5F5F5"/>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65760" y="3090672"/>
            <a:ext cx="1097280" cy="274320"/>
          </a:xfrm>
          <a:prstGeom prst="rect">
            <a:avLst/>
          </a:prstGeom>
          <a:noFill/>
        </p:spPr>
        <p:txBody>
          <a:bodyPr wrap="none">
            <a:spAutoFit/>
          </a:bodyPr>
          <a:lstStyle/>
          <a:p>
            <a:pPr algn="ctr">
              <a:defRPr sz="1000" b="0">
                <a:solidFill>
                  <a:srgbClr val="333333"/>
                </a:solidFill>
              </a:defRPr>
            </a:pPr>
            <a:r>
              <a:t>PFAM</a:t>
            </a:r>
          </a:p>
        </p:txBody>
      </p:sp>
      <p:sp>
        <p:nvSpPr>
          <p:cNvPr id="47" name="Rectangle 46"/>
          <p:cNvSpPr/>
          <p:nvPr/>
        </p:nvSpPr>
        <p:spPr>
          <a:xfrm>
            <a:off x="1463040" y="3017520"/>
            <a:ext cx="1005840" cy="365760"/>
          </a:xfrm>
          <a:prstGeom prst="rect">
            <a:avLst/>
          </a:prstGeom>
          <a:solidFill>
            <a:srgbClr val="F5F5F5"/>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463040" y="3090672"/>
            <a:ext cx="1005840" cy="274320"/>
          </a:xfrm>
          <a:prstGeom prst="rect">
            <a:avLst/>
          </a:prstGeom>
          <a:noFill/>
        </p:spPr>
        <p:txBody>
          <a:bodyPr wrap="none">
            <a:spAutoFit/>
          </a:bodyPr>
          <a:lstStyle/>
          <a:p>
            <a:pPr algn="ctr">
              <a:defRPr sz="1000" b="0">
                <a:solidFill>
                  <a:srgbClr val="333333"/>
                </a:solidFill>
              </a:defRPr>
            </a:pPr>
            <a:r>
              <a:t>~7,600</a:t>
            </a:r>
          </a:p>
        </p:txBody>
      </p:sp>
      <p:sp>
        <p:nvSpPr>
          <p:cNvPr id="49" name="Rectangle 48"/>
          <p:cNvSpPr/>
          <p:nvPr/>
        </p:nvSpPr>
        <p:spPr>
          <a:xfrm>
            <a:off x="2468879" y="3017520"/>
            <a:ext cx="822960" cy="365760"/>
          </a:xfrm>
          <a:prstGeom prst="rect">
            <a:avLst/>
          </a:prstGeom>
          <a:solidFill>
            <a:srgbClr val="F5F5F5"/>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2468879" y="3090672"/>
            <a:ext cx="822960" cy="274320"/>
          </a:xfrm>
          <a:prstGeom prst="rect">
            <a:avLst/>
          </a:prstGeom>
          <a:noFill/>
        </p:spPr>
        <p:txBody>
          <a:bodyPr wrap="none">
            <a:spAutoFit/>
          </a:bodyPr>
          <a:lstStyle/>
          <a:p>
            <a:pPr algn="ctr">
              <a:defRPr sz="1000" b="0">
                <a:solidFill>
                  <a:srgbClr val="333333"/>
                </a:solidFill>
              </a:defRPr>
            </a:pPr>
            <a:r>
              <a:t>849</a:t>
            </a:r>
          </a:p>
        </p:txBody>
      </p:sp>
      <p:sp>
        <p:nvSpPr>
          <p:cNvPr id="51" name="Rectangle 50"/>
          <p:cNvSpPr/>
          <p:nvPr/>
        </p:nvSpPr>
        <p:spPr>
          <a:xfrm>
            <a:off x="3291840" y="3017520"/>
            <a:ext cx="914400" cy="365760"/>
          </a:xfrm>
          <a:prstGeom prst="rect">
            <a:avLst/>
          </a:prstGeom>
          <a:solidFill>
            <a:srgbClr val="F5F5F5"/>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291840" y="3090672"/>
            <a:ext cx="914400" cy="274320"/>
          </a:xfrm>
          <a:prstGeom prst="rect">
            <a:avLst/>
          </a:prstGeom>
          <a:noFill/>
        </p:spPr>
        <p:txBody>
          <a:bodyPr wrap="none">
            <a:spAutoFit/>
          </a:bodyPr>
          <a:lstStyle/>
          <a:p>
            <a:pPr algn="ctr">
              <a:defRPr sz="1000" b="0">
                <a:solidFill>
                  <a:srgbClr val="333333"/>
                </a:solidFill>
              </a:defRPr>
            </a:pPr>
            <a:r>
              <a:t>0</a:t>
            </a:r>
          </a:p>
        </p:txBody>
      </p:sp>
      <p:sp>
        <p:nvSpPr>
          <p:cNvPr id="53" name="Rectangle 52"/>
          <p:cNvSpPr/>
          <p:nvPr/>
        </p:nvSpPr>
        <p:spPr>
          <a:xfrm>
            <a:off x="4206240" y="3017520"/>
            <a:ext cx="822960" cy="365760"/>
          </a:xfrm>
          <a:prstGeom prst="rect">
            <a:avLst/>
          </a:prstGeom>
          <a:solidFill>
            <a:srgbClr val="E8F5E9"/>
          </a:solidFill>
          <a:ln w="635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4206240" y="3090672"/>
            <a:ext cx="822960" cy="274320"/>
          </a:xfrm>
          <a:prstGeom prst="rect">
            <a:avLst/>
          </a:prstGeom>
          <a:noFill/>
        </p:spPr>
        <p:txBody>
          <a:bodyPr wrap="none">
            <a:spAutoFit/>
          </a:bodyPr>
          <a:lstStyle/>
          <a:p>
            <a:pPr algn="ctr">
              <a:defRPr sz="1000" b="1">
                <a:solidFill>
                  <a:srgbClr val="4CAF50"/>
                </a:solidFill>
              </a:defRPr>
            </a:pPr>
            <a:r>
              <a:t>✓ 冗余</a:t>
            </a:r>
          </a:p>
        </p:txBody>
      </p:sp>
      <p:sp>
        <p:nvSpPr>
          <p:cNvPr id="55" name="TextBox 54"/>
          <p:cNvSpPr txBox="1"/>
          <p:nvPr/>
        </p:nvSpPr>
        <p:spPr>
          <a:xfrm>
            <a:off x="5029200" y="1188720"/>
            <a:ext cx="3657600" cy="365760"/>
          </a:xfrm>
          <a:prstGeom prst="rect">
            <a:avLst/>
          </a:prstGeom>
          <a:noFill/>
        </p:spPr>
        <p:txBody>
          <a:bodyPr wrap="none">
            <a:spAutoFit/>
          </a:bodyPr>
          <a:lstStyle/>
          <a:p>
            <a:pPr>
              <a:defRPr sz="1400" b="1">
                <a:solidFill>
                  <a:srgbClr val="0D47A1"/>
                </a:solidFill>
              </a:defRPr>
            </a:pPr>
            <a:r>
              <a:t>Silent Shift: Driver Species Change</a:t>
            </a:r>
          </a:p>
        </p:txBody>
      </p:sp>
      <p:pic>
        <p:nvPicPr>
          <p:cNvPr id="56" name="Picture 55" descr="91_part9_driver_species_shift.png"/>
          <p:cNvPicPr>
            <a:picLocks noChangeAspect="1"/>
          </p:cNvPicPr>
          <p:nvPr/>
        </p:nvPicPr>
        <p:blipFill>
          <a:blip r:embed="rId3"/>
          <a:stretch>
            <a:fillRect/>
          </a:stretch>
        </p:blipFill>
        <p:spPr>
          <a:xfrm>
            <a:off x="5710120" y="1538151"/>
            <a:ext cx="4023360" cy="2873829"/>
          </a:xfrm>
          <a:prstGeom prst="rect">
            <a:avLst/>
          </a:prstGeom>
        </p:spPr>
      </p:pic>
      <p:sp>
        <p:nvSpPr>
          <p:cNvPr id="57" name="Rounded Rectangle 56"/>
          <p:cNvSpPr/>
          <p:nvPr/>
        </p:nvSpPr>
        <p:spPr>
          <a:xfrm>
            <a:off x="457200" y="3840480"/>
            <a:ext cx="8229600" cy="91440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40080" y="3931920"/>
            <a:ext cx="7863840" cy="731520"/>
          </a:xfrm>
          <a:prstGeom prst="rect">
            <a:avLst/>
          </a:prstGeom>
          <a:noFill/>
        </p:spPr>
        <p:txBody>
          <a:bodyPr wrap="square">
            <a:spAutoFit/>
          </a:bodyPr>
          <a:lstStyle/>
          <a:p>
            <a:pPr algn="ctr">
              <a:defRPr sz="1400" b="1">
                <a:solidFill>
                  <a:srgbClr val="FFFFFF"/>
                </a:solidFill>
              </a:defRPr>
            </a:pPr>
            <a:r>
              <a:t>Conclusion: No FDR-significant differences at any level (Pathway→KO→GO→PFAM)</a:t>
            </a:r>
            <a:br/>
            <a:r>
              <a:t>Functional redundancy fully verified, but executors silently shifted</a:t>
            </a:r>
          </a:p>
        </p:txBody>
      </p:sp>
      <p:sp>
        <p:nvSpPr>
          <p:cNvPr id="59" name="TextBox 58"/>
          <p:cNvSpPr txBox="1"/>
          <p:nvPr/>
        </p:nvSpPr>
        <p:spPr>
          <a:xfrm>
            <a:off x="8229600" y="4594860"/>
            <a:ext cx="731520" cy="365760"/>
          </a:xfrm>
          <a:prstGeom prst="rect">
            <a:avLst/>
          </a:prstGeom>
          <a:noFill/>
        </p:spPr>
        <p:txBody>
          <a:bodyPr wrap="none">
            <a:spAutoFit/>
          </a:bodyPr>
          <a:lstStyle/>
          <a:p>
            <a:pPr algn="r">
              <a:defRPr sz="1400" b="1">
                <a:solidFill>
                  <a:srgbClr val="1465C0"/>
                </a:solidFill>
              </a:defRPr>
            </a:pPr>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14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8229600" cy="548640"/>
          </a:xfrm>
          <a:prstGeom prst="rect">
            <a:avLst/>
          </a:prstGeom>
          <a:noFill/>
        </p:spPr>
        <p:txBody>
          <a:bodyPr wrap="none">
            <a:spAutoFit/>
          </a:bodyPr>
          <a:lstStyle/>
          <a:p>
            <a:pPr>
              <a:defRPr sz="2800" b="1">
                <a:solidFill>
                  <a:srgbClr val="FFFFFF"/>
                </a:solidFill>
              </a:defRPr>
            </a:pPr>
            <a:r>
              <a:t>Result 4: Co-occurrence Network — Module Collapse</a:t>
            </a:r>
          </a:p>
        </p:txBody>
      </p:sp>
      <p:sp>
        <p:nvSpPr>
          <p:cNvPr id="4" name="TextBox 3"/>
          <p:cNvSpPr txBox="1"/>
          <p:nvPr/>
        </p:nvSpPr>
        <p:spPr>
          <a:xfrm>
            <a:off x="274320" y="1188720"/>
            <a:ext cx="4114800" cy="365760"/>
          </a:xfrm>
          <a:prstGeom prst="rect">
            <a:avLst/>
          </a:prstGeom>
          <a:noFill/>
        </p:spPr>
        <p:txBody>
          <a:bodyPr wrap="none">
            <a:spAutoFit/>
          </a:bodyPr>
          <a:lstStyle/>
          <a:p>
            <a:pPr>
              <a:defRPr sz="1400" b="1">
                <a:solidFill>
                  <a:srgbClr val="0D47A1"/>
                </a:solidFill>
              </a:defRPr>
            </a:pPr>
            <a:r>
              <a:t>Network Topology Change (Top 100 Species)</a:t>
            </a:r>
          </a:p>
        </p:txBody>
      </p:sp>
      <p:sp>
        <p:nvSpPr>
          <p:cNvPr id="5" name="Rounded Rectangle 4"/>
          <p:cNvSpPr/>
          <p:nvPr/>
        </p:nvSpPr>
        <p:spPr>
          <a:xfrm>
            <a:off x="365760" y="1600200"/>
            <a:ext cx="2011680" cy="1463040"/>
          </a:xfrm>
          <a:prstGeom prst="roundRect">
            <a:avLst/>
          </a:prstGeom>
          <a:solidFill>
            <a:srgbClr val="E8F5E9"/>
          </a:solidFill>
          <a:ln w="254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645920"/>
            <a:ext cx="1828800" cy="274320"/>
          </a:xfrm>
          <a:prstGeom prst="rect">
            <a:avLst/>
          </a:prstGeom>
          <a:noFill/>
        </p:spPr>
        <p:txBody>
          <a:bodyPr wrap="none">
            <a:spAutoFit/>
          </a:bodyPr>
          <a:lstStyle/>
          <a:p>
            <a:pPr>
              <a:defRPr sz="1200" b="1">
                <a:solidFill>
                  <a:srgbClr val="4CAF50"/>
                </a:solidFill>
              </a:defRPr>
            </a:pPr>
            <a:r>
              <a:t>HpKO (Control)</a:t>
            </a:r>
          </a:p>
        </p:txBody>
      </p:sp>
      <p:sp>
        <p:nvSpPr>
          <p:cNvPr id="7" name="TextBox 6"/>
          <p:cNvSpPr txBox="1"/>
          <p:nvPr/>
        </p:nvSpPr>
        <p:spPr>
          <a:xfrm>
            <a:off x="457200" y="1920240"/>
            <a:ext cx="1828800" cy="1097280"/>
          </a:xfrm>
          <a:prstGeom prst="rect">
            <a:avLst/>
          </a:prstGeom>
          <a:noFill/>
        </p:spPr>
        <p:txBody>
          <a:bodyPr wrap="square">
            <a:spAutoFit/>
          </a:bodyPr>
          <a:lstStyle/>
          <a:p>
            <a:pPr>
              <a:defRPr sz="1100">
                <a:solidFill>
                  <a:srgbClr val="333333"/>
                </a:solidFill>
              </a:defRPr>
            </a:pPr>
            <a:r>
              <a:t>Nodes: 80</a:t>
            </a:r>
          </a:p>
          <a:p>
            <a:pPr>
              <a:defRPr sz="1100">
                <a:solidFill>
                  <a:srgbClr val="333333"/>
                </a:solidFill>
              </a:defRPr>
            </a:pPr>
            <a:r>
              <a:t>Edges: 1,280</a:t>
            </a:r>
          </a:p>
          <a:p>
            <a:pPr>
              <a:defRPr sz="1100" b="1">
                <a:solidFill>
                  <a:srgbClr val="4CAF50"/>
                </a:solidFill>
              </a:defRPr>
            </a:pPr>
            <a:r>
              <a:t>Modularity: 0.468</a:t>
            </a:r>
          </a:p>
          <a:p>
            <a:pPr>
              <a:defRPr sz="1100">
                <a:solidFill>
                  <a:srgbClr val="333333"/>
                </a:solidFill>
              </a:defRPr>
            </a:pPr>
            <a:r>
              <a:t>→ Clear modules</a:t>
            </a:r>
          </a:p>
        </p:txBody>
      </p:sp>
      <p:sp>
        <p:nvSpPr>
          <p:cNvPr id="8" name="Right Arrow 7"/>
          <p:cNvSpPr/>
          <p:nvPr/>
        </p:nvSpPr>
        <p:spPr>
          <a:xfrm>
            <a:off x="2468880" y="2194560"/>
            <a:ext cx="365760" cy="274320"/>
          </a:xfrm>
          <a:prstGeom prst="rightArrow">
            <a:avLst/>
          </a:prstGeom>
          <a:solidFill>
            <a:srgbClr val="E539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926080" y="1600200"/>
            <a:ext cx="2011680" cy="1463040"/>
          </a:xfrm>
          <a:prstGeom prst="roundRect">
            <a:avLst/>
          </a:prstGeom>
          <a:solidFill>
            <a:srgbClr val="FFEBEE"/>
          </a:solidFill>
          <a:ln w="25400">
            <a:solidFill>
              <a:srgbClr val="E53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017520" y="1645920"/>
            <a:ext cx="1828800" cy="274320"/>
          </a:xfrm>
          <a:prstGeom prst="rect">
            <a:avLst/>
          </a:prstGeom>
          <a:noFill/>
        </p:spPr>
        <p:txBody>
          <a:bodyPr wrap="none">
            <a:spAutoFit/>
          </a:bodyPr>
          <a:lstStyle/>
          <a:p>
            <a:pPr>
              <a:defRPr sz="1200" b="1">
                <a:solidFill>
                  <a:srgbClr val="E53935"/>
                </a:solidFill>
              </a:defRPr>
            </a:pPr>
            <a:r>
              <a:t>HpWT (CagA+)</a:t>
            </a:r>
          </a:p>
        </p:txBody>
      </p:sp>
      <p:sp>
        <p:nvSpPr>
          <p:cNvPr id="11" name="TextBox 10"/>
          <p:cNvSpPr txBox="1"/>
          <p:nvPr/>
        </p:nvSpPr>
        <p:spPr>
          <a:xfrm>
            <a:off x="3017520" y="1920240"/>
            <a:ext cx="1828800" cy="1097280"/>
          </a:xfrm>
          <a:prstGeom prst="rect">
            <a:avLst/>
          </a:prstGeom>
          <a:noFill/>
        </p:spPr>
        <p:txBody>
          <a:bodyPr wrap="square">
            <a:spAutoFit/>
          </a:bodyPr>
          <a:lstStyle/>
          <a:p>
            <a:pPr>
              <a:defRPr sz="1100">
                <a:solidFill>
                  <a:srgbClr val="333333"/>
                </a:solidFill>
              </a:defRPr>
            </a:pPr>
            <a:r>
              <a:t>Nodes: 100</a:t>
            </a:r>
          </a:p>
          <a:p>
            <a:pPr>
              <a:defRPr sz="1100">
                <a:solidFill>
                  <a:srgbClr val="333333"/>
                </a:solidFill>
              </a:defRPr>
            </a:pPr>
            <a:r>
              <a:t>Edges: 2,190 (+71%)</a:t>
            </a:r>
          </a:p>
          <a:p>
            <a:pPr>
              <a:defRPr sz="1100" b="1">
                <a:solidFill>
                  <a:srgbClr val="E53935"/>
                </a:solidFill>
              </a:defRPr>
            </a:pPr>
            <a:r>
              <a:t>Modularity: 0.177</a:t>
            </a:r>
          </a:p>
          <a:p>
            <a:pPr>
              <a:defRPr sz="1100">
                <a:solidFill>
                  <a:srgbClr val="333333"/>
                </a:solidFill>
              </a:defRPr>
            </a:pPr>
            <a:r>
              <a:t>→ Module collapse</a:t>
            </a:r>
          </a:p>
        </p:txBody>
      </p:sp>
      <p:sp>
        <p:nvSpPr>
          <p:cNvPr id="12" name="Rounded Rectangle 11"/>
          <p:cNvSpPr/>
          <p:nvPr/>
        </p:nvSpPr>
        <p:spPr>
          <a:xfrm>
            <a:off x="365760" y="3200400"/>
            <a:ext cx="4572000" cy="640080"/>
          </a:xfrm>
          <a:prstGeom prst="round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3291840"/>
            <a:ext cx="4389120" cy="457200"/>
          </a:xfrm>
          <a:prstGeom prst="rect">
            <a:avLst/>
          </a:prstGeom>
          <a:noFill/>
        </p:spPr>
        <p:txBody>
          <a:bodyPr wrap="none">
            <a:spAutoFit/>
          </a:bodyPr>
          <a:lstStyle/>
          <a:p>
            <a:pPr algn="ctr">
              <a:defRPr sz="1600" b="1">
                <a:solidFill>
                  <a:srgbClr val="FFFFFF"/>
                </a:solidFill>
              </a:defRPr>
            </a:pPr>
            <a:r>
              <a:t>Modularity: 0.468 → 0.177 (-62%)</a:t>
            </a:r>
          </a:p>
        </p:txBody>
      </p:sp>
      <p:sp>
        <p:nvSpPr>
          <p:cNvPr id="14" name="TextBox 13"/>
          <p:cNvSpPr txBox="1"/>
          <p:nvPr/>
        </p:nvSpPr>
        <p:spPr>
          <a:xfrm>
            <a:off x="5303520" y="1188720"/>
            <a:ext cx="3383280" cy="365760"/>
          </a:xfrm>
          <a:prstGeom prst="rect">
            <a:avLst/>
          </a:prstGeom>
          <a:noFill/>
        </p:spPr>
        <p:txBody>
          <a:bodyPr wrap="none">
            <a:spAutoFit/>
          </a:bodyPr>
          <a:lstStyle/>
          <a:p>
            <a:pPr>
              <a:defRPr sz="1400" b="1">
                <a:solidFill>
                  <a:srgbClr val="0D47A1"/>
                </a:solidFill>
              </a:defRPr>
            </a:pPr>
            <a:r>
              <a:t>Hub Species (Network Hubs)</a:t>
            </a:r>
          </a:p>
        </p:txBody>
      </p:sp>
      <p:sp>
        <p:nvSpPr>
          <p:cNvPr id="15" name="Rounded Rectangle 14"/>
          <p:cNvSpPr/>
          <p:nvPr/>
        </p:nvSpPr>
        <p:spPr>
          <a:xfrm>
            <a:off x="5303520" y="1554480"/>
            <a:ext cx="3383280" cy="2286000"/>
          </a:xfrm>
          <a:prstGeom prst="roundRect">
            <a:avLst/>
          </a:prstGeom>
          <a:solidFill>
            <a:srgbClr val="F5F5F5"/>
          </a:solidFill>
          <a:ln w="12700">
            <a:solidFill>
              <a:srgbClr val="7B1FA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40680" y="1645920"/>
            <a:ext cx="3108960" cy="2103120"/>
          </a:xfrm>
          <a:prstGeom prst="rect">
            <a:avLst/>
          </a:prstGeom>
          <a:noFill/>
        </p:spPr>
        <p:txBody>
          <a:bodyPr wrap="square">
            <a:spAutoFit/>
          </a:bodyPr>
          <a:lstStyle/>
          <a:p>
            <a:pPr>
              <a:defRPr sz="1000" b="1">
                <a:solidFill>
                  <a:srgbClr val="7B1FA2"/>
                </a:solidFill>
              </a:defRPr>
            </a:pPr>
            <a:r>
              <a:t>Top 5 Hub Species (by degree):</a:t>
            </a:r>
          </a:p>
          <a:p>
            <a:pPr>
              <a:defRPr sz="1000">
                <a:solidFill>
                  <a:srgbClr val="333333"/>
                </a:solidFill>
              </a:defRPr>
            </a:pPr>
            <a:r>
              <a:t>• Blautia obeum (d=44)</a:t>
            </a:r>
          </a:p>
          <a:p>
            <a:pPr>
              <a:defRPr sz="1000">
                <a:solidFill>
                  <a:srgbClr val="333333"/>
                </a:solidFill>
              </a:defRPr>
            </a:pPr>
            <a:r>
              <a:t>• Roseburia hominis (d=42)</a:t>
            </a:r>
          </a:p>
          <a:p>
            <a:pPr>
              <a:defRPr sz="1000">
                <a:solidFill>
                  <a:srgbClr val="333333"/>
                </a:solidFill>
              </a:defRPr>
            </a:pPr>
            <a:r>
              <a:t>• Hungatella hathewayi (d=42)</a:t>
            </a:r>
          </a:p>
          <a:p>
            <a:pPr>
              <a:defRPr sz="1000">
                <a:solidFill>
                  <a:srgbClr val="333333"/>
                </a:solidFill>
              </a:defRPr>
            </a:pPr>
            <a:endParaRPr/>
          </a:p>
          <a:p>
            <a:pPr>
              <a:defRPr sz="1000" b="1">
                <a:solidFill>
                  <a:srgbClr val="7B1FA2"/>
                </a:solidFill>
              </a:defRPr>
            </a:pPr>
            <a:r>
              <a:t>Feature: Mainly anaerobic Clostridia</a:t>
            </a:r>
          </a:p>
          <a:p>
            <a:pPr>
              <a:defRPr sz="1000">
                <a:solidFill>
                  <a:srgbClr val="333333"/>
                </a:solidFill>
              </a:defRPr>
            </a:pPr>
            <a:r>
              <a:t>Function: SCFA producers</a:t>
            </a:r>
          </a:p>
          <a:p>
            <a:pPr>
              <a:defRPr sz="1000">
                <a:solidFill>
                  <a:srgbClr val="333333"/>
                </a:solidFill>
              </a:defRPr>
            </a:pPr>
            <a:endParaRPr/>
          </a:p>
          <a:p>
            <a:pPr>
              <a:defRPr sz="1000" b="1">
                <a:solidFill>
                  <a:srgbClr val="7B1FA2"/>
                </a:solidFill>
              </a:defRPr>
            </a:pPr>
            <a:r>
              <a:t>Bridge species:</a:t>
            </a:r>
          </a:p>
          <a:p>
            <a:pPr>
              <a:defRPr sz="1000">
                <a:solidFill>
                  <a:srgbClr val="333333"/>
                </a:solidFill>
              </a:defRPr>
            </a:pPr>
            <a:r>
              <a:t>• P. distasonis (btw=402)</a:t>
            </a:r>
          </a:p>
        </p:txBody>
      </p:sp>
      <p:sp>
        <p:nvSpPr>
          <p:cNvPr id="17" name="Rounded Rectangle 16"/>
          <p:cNvSpPr/>
          <p:nvPr/>
        </p:nvSpPr>
        <p:spPr>
          <a:xfrm>
            <a:off x="457200" y="3977639"/>
            <a:ext cx="8229600" cy="777240"/>
          </a:xfrm>
          <a:prstGeom prst="round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4069080"/>
            <a:ext cx="7863840" cy="640080"/>
          </a:xfrm>
          <a:prstGeom prst="rect">
            <a:avLst/>
          </a:prstGeom>
          <a:noFill/>
        </p:spPr>
        <p:txBody>
          <a:bodyPr wrap="square">
            <a:spAutoFit/>
          </a:bodyPr>
          <a:lstStyle/>
          <a:p>
            <a:pPr algn="ctr">
              <a:defRPr sz="1400" b="1">
                <a:solidFill>
                  <a:srgbClr val="FFFFFF"/>
                </a:solidFill>
              </a:defRPr>
            </a:pPr>
            <a:r>
              <a:t>Conclusion: CagA causes 62% modularity drop, blurred species boundaries</a:t>
            </a:r>
            <a:br/>
            <a:r>
              <a:t>→ Increased niche overlap → Explains functional redundancy mechanism</a:t>
            </a:r>
          </a:p>
        </p:txBody>
      </p:sp>
      <p:sp>
        <p:nvSpPr>
          <p:cNvPr id="19" name="TextBox 18"/>
          <p:cNvSpPr txBox="1"/>
          <p:nvPr/>
        </p:nvSpPr>
        <p:spPr>
          <a:xfrm>
            <a:off x="8229600" y="4594860"/>
            <a:ext cx="731520" cy="365760"/>
          </a:xfrm>
          <a:prstGeom prst="rect">
            <a:avLst/>
          </a:prstGeom>
          <a:noFill/>
        </p:spPr>
        <p:txBody>
          <a:bodyPr wrap="none">
            <a:spAutoFit/>
          </a:bodyPr>
          <a:lstStyle/>
          <a:p>
            <a:pPr algn="r">
              <a:defRPr sz="1400" b="1">
                <a:solidFill>
                  <a:srgbClr val="1465C0"/>
                </a:solidFill>
              </a:defRPr>
            </a:pPr>
            <a: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14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8229600" cy="548640"/>
          </a:xfrm>
          <a:prstGeom prst="rect">
            <a:avLst/>
          </a:prstGeom>
          <a:noFill/>
        </p:spPr>
        <p:txBody>
          <a:bodyPr wrap="none">
            <a:spAutoFit/>
          </a:bodyPr>
          <a:lstStyle/>
          <a:p>
            <a:pPr>
              <a:defRPr sz="2800" b="1">
                <a:solidFill>
                  <a:srgbClr val="FFFFFF"/>
                </a:solidFill>
              </a:defRPr>
            </a:pPr>
            <a:r>
              <a:t>Result 5: Bacteria-Phage Coordination</a:t>
            </a:r>
          </a:p>
        </p:txBody>
      </p:sp>
      <p:sp>
        <p:nvSpPr>
          <p:cNvPr id="4" name="TextBox 3"/>
          <p:cNvSpPr txBox="1"/>
          <p:nvPr/>
        </p:nvSpPr>
        <p:spPr>
          <a:xfrm>
            <a:off x="457200" y="1280160"/>
            <a:ext cx="4114800" cy="3200400"/>
          </a:xfrm>
          <a:prstGeom prst="rect">
            <a:avLst/>
          </a:prstGeom>
          <a:noFill/>
        </p:spPr>
        <p:txBody>
          <a:bodyPr wrap="square">
            <a:spAutoFit/>
          </a:bodyPr>
          <a:lstStyle/>
          <a:p>
            <a:pPr>
              <a:defRPr sz="1600" b="1">
                <a:solidFill>
                  <a:srgbClr val="4CAF50"/>
                </a:solidFill>
              </a:defRPr>
            </a:pPr>
            <a:r>
              <a:t>Phage diversity significantly decreased (P=0.032)</a:t>
            </a:r>
          </a:p>
          <a:p>
            <a:pPr>
              <a:defRPr sz="1600">
                <a:solidFill>
                  <a:srgbClr val="333333"/>
                </a:solidFill>
              </a:defRPr>
            </a:pPr>
            <a:endParaRPr/>
          </a:p>
          <a:p>
            <a:pPr>
              <a:defRPr sz="1600">
                <a:solidFill>
                  <a:srgbClr val="333333"/>
                </a:solidFill>
              </a:defRPr>
            </a:pPr>
            <a:r>
              <a:t>Bacteria-phage highly coordinated:</a:t>
            </a:r>
          </a:p>
          <a:p>
            <a:pPr>
              <a:defRPr sz="1600" b="1">
                <a:solidFill>
                  <a:srgbClr val="4CAF50"/>
                </a:solidFill>
              </a:defRPr>
            </a:pPr>
            <a:r>
              <a:t>  • Mantel r=0.52, P=0.001</a:t>
            </a:r>
          </a:p>
          <a:p>
            <a:pPr>
              <a:defRPr sz="1600" b="1">
                <a:solidFill>
                  <a:srgbClr val="4CAF50"/>
                </a:solidFill>
              </a:defRPr>
            </a:pPr>
            <a:r>
              <a:t>  • Procrustes P=0.002</a:t>
            </a:r>
          </a:p>
          <a:p>
            <a:pPr>
              <a:defRPr sz="1600">
                <a:solidFill>
                  <a:srgbClr val="333333"/>
                </a:solidFill>
              </a:defRPr>
            </a:pPr>
            <a:endParaRPr/>
          </a:p>
          <a:p>
            <a:pPr>
              <a:defRPr sz="1600">
                <a:solidFill>
                  <a:srgbClr val="333333"/>
                </a:solidFill>
              </a:defRPr>
            </a:pPr>
            <a:r>
              <a:t>Tripartite network: 17,848 edges</a:t>
            </a:r>
          </a:p>
          <a:p>
            <a:pPr>
              <a:defRPr sz="1600">
                <a:solidFill>
                  <a:srgbClr val="333333"/>
                </a:solidFill>
              </a:defRPr>
            </a:pPr>
            <a:endParaRPr/>
          </a:p>
          <a:p>
            <a:pPr>
              <a:defRPr sz="1600" b="1">
                <a:solidFill>
                  <a:srgbClr val="1465C0"/>
                </a:solidFill>
              </a:defRPr>
            </a:pPr>
            <a:r>
              <a:t>Cascade effect:</a:t>
            </a:r>
          </a:p>
          <a:p>
            <a:pPr>
              <a:defRPr sz="1600">
                <a:solidFill>
                  <a:srgbClr val="333333"/>
                </a:solidFill>
              </a:defRPr>
            </a:pPr>
            <a:r>
              <a:t>  CagA → Bacteria → Phage</a:t>
            </a:r>
          </a:p>
        </p:txBody>
      </p:sp>
      <p:sp>
        <p:nvSpPr>
          <p:cNvPr id="5" name="TextBox 4"/>
          <p:cNvSpPr txBox="1"/>
          <p:nvPr/>
        </p:nvSpPr>
        <p:spPr>
          <a:xfrm>
            <a:off x="4572000" y="1188720"/>
            <a:ext cx="4114800" cy="365760"/>
          </a:xfrm>
          <a:prstGeom prst="rect">
            <a:avLst/>
          </a:prstGeom>
          <a:noFill/>
        </p:spPr>
        <p:txBody>
          <a:bodyPr wrap="none">
            <a:spAutoFit/>
          </a:bodyPr>
          <a:lstStyle/>
          <a:p>
            <a:pPr>
              <a:defRPr sz="1400" b="1">
                <a:solidFill>
                  <a:srgbClr val="0D47A1"/>
                </a:solidFill>
              </a:defRPr>
            </a:pPr>
            <a:r>
              <a:t>Mantel &amp; Procrustes Analysis</a:t>
            </a:r>
          </a:p>
        </p:txBody>
      </p:sp>
      <p:pic>
        <p:nvPicPr>
          <p:cNvPr id="6" name="Picture 5" descr="28_host_virus_association.png"/>
          <p:cNvPicPr>
            <a:picLocks noChangeAspect="1"/>
          </p:cNvPicPr>
          <p:nvPr/>
        </p:nvPicPr>
        <p:blipFill>
          <a:blip r:embed="rId3"/>
          <a:stretch>
            <a:fillRect/>
          </a:stretch>
        </p:blipFill>
        <p:spPr>
          <a:xfrm>
            <a:off x="4572000" y="1554480"/>
            <a:ext cx="4297680" cy="1841863"/>
          </a:xfrm>
          <a:prstGeom prst="rect">
            <a:avLst/>
          </a:prstGeom>
        </p:spPr>
      </p:pic>
      <p:sp>
        <p:nvSpPr>
          <p:cNvPr id="7" name="TextBox 6"/>
          <p:cNvSpPr txBox="1"/>
          <p:nvPr/>
        </p:nvSpPr>
        <p:spPr>
          <a:xfrm>
            <a:off x="8229600" y="4594860"/>
            <a:ext cx="731520" cy="365760"/>
          </a:xfrm>
          <a:prstGeom prst="rect">
            <a:avLst/>
          </a:prstGeom>
          <a:noFill/>
        </p:spPr>
        <p:txBody>
          <a:bodyPr wrap="none">
            <a:spAutoFit/>
          </a:bodyPr>
          <a:lstStyle/>
          <a:p>
            <a:pPr algn="r">
              <a:defRPr sz="1400" b="1">
                <a:solidFill>
                  <a:srgbClr val="1465C0"/>
                </a:solidFill>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05840"/>
          </a:xfrm>
          <a:prstGeom prst="rect">
            <a:avLst/>
          </a:prstGeom>
          <a:solidFill>
            <a:srgbClr val="14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74320"/>
            <a:ext cx="8229600" cy="548640"/>
          </a:xfrm>
          <a:prstGeom prst="rect">
            <a:avLst/>
          </a:prstGeom>
          <a:noFill/>
        </p:spPr>
        <p:txBody>
          <a:bodyPr wrap="none">
            <a:spAutoFit/>
          </a:bodyPr>
          <a:lstStyle/>
          <a:p>
            <a:pPr>
              <a:defRPr sz="2800" b="1">
                <a:solidFill>
                  <a:srgbClr val="FFFFFF"/>
                </a:solidFill>
              </a:defRPr>
            </a:pPr>
            <a:r>
              <a:t>Conclusions &amp; Future Directions</a:t>
            </a:r>
          </a:p>
        </p:txBody>
      </p:sp>
      <p:sp>
        <p:nvSpPr>
          <p:cNvPr id="4" name="Oval 3"/>
          <p:cNvSpPr/>
          <p:nvPr/>
        </p:nvSpPr>
        <p:spPr>
          <a:xfrm>
            <a:off x="457200" y="1234440"/>
            <a:ext cx="411480" cy="411480"/>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261872"/>
            <a:ext cx="411480" cy="365760"/>
          </a:xfrm>
          <a:prstGeom prst="rect">
            <a:avLst/>
          </a:prstGeom>
          <a:noFill/>
        </p:spPr>
        <p:txBody>
          <a:bodyPr wrap="none">
            <a:spAutoFit/>
          </a:bodyPr>
          <a:lstStyle/>
          <a:p>
            <a:pPr algn="ctr">
              <a:defRPr sz="1800" b="1">
                <a:solidFill>
                  <a:srgbClr val="FFFFFF"/>
                </a:solidFill>
              </a:defRPr>
            </a:pPr>
            <a:r>
              <a:t>1</a:t>
            </a:r>
          </a:p>
        </p:txBody>
      </p:sp>
      <p:sp>
        <p:nvSpPr>
          <p:cNvPr id="6" name="TextBox 5"/>
          <p:cNvSpPr txBox="1"/>
          <p:nvPr/>
        </p:nvSpPr>
        <p:spPr>
          <a:xfrm>
            <a:off x="1005840" y="1234440"/>
            <a:ext cx="7680960" cy="594360"/>
          </a:xfrm>
          <a:prstGeom prst="rect">
            <a:avLst/>
          </a:prstGeom>
          <a:noFill/>
        </p:spPr>
        <p:txBody>
          <a:bodyPr wrap="square">
            <a:spAutoFit/>
          </a:bodyPr>
          <a:lstStyle/>
          <a:p>
            <a:pPr>
              <a:defRPr sz="1300">
                <a:solidFill>
                  <a:srgbClr val="333333"/>
                </a:solidFill>
              </a:defRPr>
            </a:pPr>
            <a:r>
              <a:t>CagA restructures gut microbiota: Beta P=0.012, selective regulation</a:t>
            </a:r>
          </a:p>
        </p:txBody>
      </p:sp>
      <p:sp>
        <p:nvSpPr>
          <p:cNvPr id="7" name="Oval 6"/>
          <p:cNvSpPr/>
          <p:nvPr/>
        </p:nvSpPr>
        <p:spPr>
          <a:xfrm>
            <a:off x="457200" y="1920240"/>
            <a:ext cx="411480" cy="411480"/>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947672"/>
            <a:ext cx="411480" cy="365760"/>
          </a:xfrm>
          <a:prstGeom prst="rect">
            <a:avLst/>
          </a:prstGeom>
          <a:noFill/>
        </p:spPr>
        <p:txBody>
          <a:bodyPr wrap="none">
            <a:spAutoFit/>
          </a:bodyPr>
          <a:lstStyle/>
          <a:p>
            <a:pPr algn="ctr">
              <a:defRPr sz="1800" b="1">
                <a:solidFill>
                  <a:srgbClr val="FFFFFF"/>
                </a:solidFill>
              </a:defRPr>
            </a:pPr>
            <a:r>
              <a:t>2</a:t>
            </a:r>
          </a:p>
        </p:txBody>
      </p:sp>
      <p:sp>
        <p:nvSpPr>
          <p:cNvPr id="9" name="TextBox 8"/>
          <p:cNvSpPr txBox="1"/>
          <p:nvPr/>
        </p:nvSpPr>
        <p:spPr>
          <a:xfrm>
            <a:off x="1005840" y="1920240"/>
            <a:ext cx="7680960" cy="594360"/>
          </a:xfrm>
          <a:prstGeom prst="rect">
            <a:avLst/>
          </a:prstGeom>
          <a:noFill/>
        </p:spPr>
        <p:txBody>
          <a:bodyPr wrap="square">
            <a:spAutoFit/>
          </a:bodyPr>
          <a:lstStyle/>
          <a:p>
            <a:pPr>
              <a:defRPr sz="1300">
                <a:solidFill>
                  <a:srgbClr val="333333"/>
                </a:solidFill>
              </a:defRPr>
            </a:pPr>
            <a:r>
              <a:t>Functional redundancy at all levels: Pathway→KO→GO→PFAM, no FDR significance</a:t>
            </a:r>
          </a:p>
        </p:txBody>
      </p:sp>
      <p:sp>
        <p:nvSpPr>
          <p:cNvPr id="10" name="Oval 9"/>
          <p:cNvSpPr/>
          <p:nvPr/>
        </p:nvSpPr>
        <p:spPr>
          <a:xfrm>
            <a:off x="457200" y="2606040"/>
            <a:ext cx="411480" cy="411480"/>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2633472"/>
            <a:ext cx="411480" cy="365760"/>
          </a:xfrm>
          <a:prstGeom prst="rect">
            <a:avLst/>
          </a:prstGeom>
          <a:noFill/>
        </p:spPr>
        <p:txBody>
          <a:bodyPr wrap="none">
            <a:spAutoFit/>
          </a:bodyPr>
          <a:lstStyle/>
          <a:p>
            <a:pPr algn="ctr">
              <a:defRPr sz="1800" b="1">
                <a:solidFill>
                  <a:srgbClr val="FFFFFF"/>
                </a:solidFill>
              </a:defRPr>
            </a:pPr>
            <a:r>
              <a:t>3</a:t>
            </a:r>
          </a:p>
        </p:txBody>
      </p:sp>
      <p:sp>
        <p:nvSpPr>
          <p:cNvPr id="12" name="TextBox 11"/>
          <p:cNvSpPr txBox="1"/>
          <p:nvPr/>
        </p:nvSpPr>
        <p:spPr>
          <a:xfrm>
            <a:off x="1005840" y="2606040"/>
            <a:ext cx="7680960" cy="594360"/>
          </a:xfrm>
          <a:prstGeom prst="rect">
            <a:avLst/>
          </a:prstGeom>
          <a:noFill/>
        </p:spPr>
        <p:txBody>
          <a:bodyPr wrap="square">
            <a:spAutoFit/>
          </a:bodyPr>
          <a:lstStyle/>
          <a:p>
            <a:pPr>
              <a:defRPr sz="1300">
                <a:solidFill>
                  <a:srgbClr val="333333"/>
                </a:solidFill>
              </a:defRPr>
            </a:pPr>
            <a:r>
              <a:t>Network module collapse: Modularity -62%, explains redundancy mechanism</a:t>
            </a:r>
          </a:p>
        </p:txBody>
      </p:sp>
      <p:sp>
        <p:nvSpPr>
          <p:cNvPr id="13" name="Oval 12"/>
          <p:cNvSpPr/>
          <p:nvPr/>
        </p:nvSpPr>
        <p:spPr>
          <a:xfrm>
            <a:off x="457200" y="3291840"/>
            <a:ext cx="411480" cy="411480"/>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3319272"/>
            <a:ext cx="411480" cy="365760"/>
          </a:xfrm>
          <a:prstGeom prst="rect">
            <a:avLst/>
          </a:prstGeom>
          <a:noFill/>
        </p:spPr>
        <p:txBody>
          <a:bodyPr wrap="none">
            <a:spAutoFit/>
          </a:bodyPr>
          <a:lstStyle/>
          <a:p>
            <a:pPr algn="ctr">
              <a:defRPr sz="1800" b="1">
                <a:solidFill>
                  <a:srgbClr val="FFFFFF"/>
                </a:solidFill>
              </a:defRPr>
            </a:pPr>
            <a:r>
              <a:t>4</a:t>
            </a:r>
          </a:p>
        </p:txBody>
      </p:sp>
      <p:sp>
        <p:nvSpPr>
          <p:cNvPr id="15" name="TextBox 14"/>
          <p:cNvSpPr txBox="1"/>
          <p:nvPr/>
        </p:nvSpPr>
        <p:spPr>
          <a:xfrm>
            <a:off x="1005840" y="3291840"/>
            <a:ext cx="7680960" cy="594360"/>
          </a:xfrm>
          <a:prstGeom prst="rect">
            <a:avLst/>
          </a:prstGeom>
          <a:noFill/>
        </p:spPr>
        <p:txBody>
          <a:bodyPr wrap="square">
            <a:spAutoFit/>
          </a:bodyPr>
          <a:lstStyle/>
          <a:p>
            <a:pPr>
              <a:defRPr sz="1300">
                <a:solidFill>
                  <a:srgbClr val="333333"/>
                </a:solidFill>
              </a:defRPr>
            </a:pPr>
            <a:r>
              <a:t>Silent Driver shift: Probiotics↓ Pathobionts↑, altering immune stimulation</a:t>
            </a:r>
          </a:p>
        </p:txBody>
      </p:sp>
      <p:sp>
        <p:nvSpPr>
          <p:cNvPr id="16" name="Oval 15"/>
          <p:cNvSpPr/>
          <p:nvPr/>
        </p:nvSpPr>
        <p:spPr>
          <a:xfrm>
            <a:off x="457200" y="3977639"/>
            <a:ext cx="411480" cy="411480"/>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4005072"/>
            <a:ext cx="411480" cy="365760"/>
          </a:xfrm>
          <a:prstGeom prst="rect">
            <a:avLst/>
          </a:prstGeom>
          <a:noFill/>
        </p:spPr>
        <p:txBody>
          <a:bodyPr wrap="none">
            <a:spAutoFit/>
          </a:bodyPr>
          <a:lstStyle/>
          <a:p>
            <a:pPr algn="ctr">
              <a:defRPr sz="1800" b="1">
                <a:solidFill>
                  <a:srgbClr val="FFFFFF"/>
                </a:solidFill>
              </a:defRPr>
            </a:pPr>
            <a:r>
              <a:t>5</a:t>
            </a:r>
          </a:p>
        </p:txBody>
      </p:sp>
      <p:sp>
        <p:nvSpPr>
          <p:cNvPr id="18" name="TextBox 17"/>
          <p:cNvSpPr txBox="1"/>
          <p:nvPr/>
        </p:nvSpPr>
        <p:spPr>
          <a:xfrm>
            <a:off x="1005840" y="3977639"/>
            <a:ext cx="7680960" cy="594360"/>
          </a:xfrm>
          <a:prstGeom prst="rect">
            <a:avLst/>
          </a:prstGeom>
          <a:noFill/>
        </p:spPr>
        <p:txBody>
          <a:bodyPr wrap="square">
            <a:spAutoFit/>
          </a:bodyPr>
          <a:lstStyle/>
          <a:p>
            <a:pPr>
              <a:defRPr sz="1300">
                <a:solidFill>
                  <a:srgbClr val="333333"/>
                </a:solidFill>
              </a:defRPr>
            </a:pPr>
            <a:r>
              <a:t>Bacteria-phage coordination: Mantel P=0.001, cascade effect</a:t>
            </a:r>
          </a:p>
        </p:txBody>
      </p:sp>
      <p:sp>
        <p:nvSpPr>
          <p:cNvPr id="19" name="Oval 18"/>
          <p:cNvSpPr/>
          <p:nvPr/>
        </p:nvSpPr>
        <p:spPr>
          <a:xfrm>
            <a:off x="457200" y="4663440"/>
            <a:ext cx="411480" cy="411480"/>
          </a:xfrm>
          <a:prstGeom prst="ellipse">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4690872"/>
            <a:ext cx="411480" cy="365760"/>
          </a:xfrm>
          <a:prstGeom prst="rect">
            <a:avLst/>
          </a:prstGeom>
          <a:noFill/>
        </p:spPr>
        <p:txBody>
          <a:bodyPr wrap="none">
            <a:spAutoFit/>
          </a:bodyPr>
          <a:lstStyle/>
          <a:p>
            <a:pPr algn="ctr">
              <a:defRPr sz="1800" b="1">
                <a:solidFill>
                  <a:srgbClr val="FFFFFF"/>
                </a:solidFill>
              </a:defRPr>
            </a:pPr>
            <a:r>
              <a:t>6</a:t>
            </a:r>
          </a:p>
        </p:txBody>
      </p:sp>
      <p:sp>
        <p:nvSpPr>
          <p:cNvPr id="21" name="TextBox 20"/>
          <p:cNvSpPr txBox="1"/>
          <p:nvPr/>
        </p:nvSpPr>
        <p:spPr>
          <a:xfrm>
            <a:off x="1005840" y="4663440"/>
            <a:ext cx="7680960" cy="594360"/>
          </a:xfrm>
          <a:prstGeom prst="rect">
            <a:avLst/>
          </a:prstGeom>
          <a:noFill/>
        </p:spPr>
        <p:txBody>
          <a:bodyPr wrap="square">
            <a:spAutoFit/>
          </a:bodyPr>
          <a:lstStyle/>
          <a:p>
            <a:pPr>
              <a:defRPr sz="1300">
                <a:solidFill>
                  <a:srgbClr val="333333"/>
                </a:solidFill>
              </a:defRPr>
            </a:pPr>
            <a:r>
              <a:t>Next: Metabolomics validation + Tumor/T-cell phenotype integration</a:t>
            </a:r>
          </a:p>
        </p:txBody>
      </p:sp>
      <p:sp>
        <p:nvSpPr>
          <p:cNvPr id="22" name="TextBox 21"/>
          <p:cNvSpPr txBox="1"/>
          <p:nvPr/>
        </p:nvSpPr>
        <p:spPr>
          <a:xfrm>
            <a:off x="8229600" y="4594860"/>
            <a:ext cx="731520" cy="365760"/>
          </a:xfrm>
          <a:prstGeom prst="rect">
            <a:avLst/>
          </a:prstGeom>
          <a:noFill/>
        </p:spPr>
        <p:txBody>
          <a:bodyPr wrap="none">
            <a:spAutoFit/>
          </a:bodyPr>
          <a:lstStyle/>
          <a:p>
            <a:pPr algn="r">
              <a:defRPr sz="1400" b="1">
                <a:solidFill>
                  <a:srgbClr val="1465C0"/>
                </a:solidFill>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14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286000"/>
            <a:ext cx="8229600" cy="914400"/>
          </a:xfrm>
          <a:prstGeom prst="rect">
            <a:avLst/>
          </a:prstGeom>
          <a:noFill/>
        </p:spPr>
        <p:txBody>
          <a:bodyPr wrap="none">
            <a:spAutoFit/>
          </a:bodyPr>
          <a:lstStyle/>
          <a:p>
            <a:pPr algn="ctr">
              <a:defRPr sz="4400" b="1">
                <a:solidFill>
                  <a:srgbClr val="FFFFFF"/>
                </a:solidFill>
              </a:defRPr>
            </a:pPr>
            <a:r>
              <a:t>Thank You</a:t>
            </a:r>
          </a:p>
        </p:txBody>
      </p:sp>
      <p:sp>
        <p:nvSpPr>
          <p:cNvPr id="4" name="TextBox 3"/>
          <p:cNvSpPr txBox="1"/>
          <p:nvPr/>
        </p:nvSpPr>
        <p:spPr>
          <a:xfrm>
            <a:off x="457200" y="3474720"/>
            <a:ext cx="8229600" cy="548640"/>
          </a:xfrm>
          <a:prstGeom prst="rect">
            <a:avLst/>
          </a:prstGeom>
          <a:noFill/>
        </p:spPr>
        <p:txBody>
          <a:bodyPr wrap="none">
            <a:spAutoFit/>
          </a:bodyPr>
          <a:lstStyle/>
          <a:p>
            <a:pPr algn="ctr">
              <a:defRPr sz="2000">
                <a:solidFill>
                  <a:srgbClr val="FFFFFF"/>
                </a:solidFill>
              </a:defRPr>
            </a:pPr>
            <a:r>
              <a:t>Questions &amp; Discussion</a:t>
            </a:r>
          </a:p>
        </p:txBody>
      </p:sp>
      <p:sp>
        <p:nvSpPr>
          <p:cNvPr id="5" name="TextBox 4"/>
          <p:cNvSpPr txBox="1"/>
          <p:nvPr/>
        </p:nvSpPr>
        <p:spPr>
          <a:xfrm>
            <a:off x="8229600" y="4594860"/>
            <a:ext cx="731520" cy="365760"/>
          </a:xfrm>
          <a:prstGeom prst="rect">
            <a:avLst/>
          </a:prstGeom>
          <a:noFill/>
        </p:spPr>
        <p:txBody>
          <a:bodyPr wrap="none">
            <a:spAutoFit/>
          </a:bodyPr>
          <a:lstStyle/>
          <a:p>
            <a:pPr algn="r">
              <a:defRPr sz="1400" b="1">
                <a:solidFill>
                  <a:srgbClr val="1465C0"/>
                </a:solidFill>
              </a:defRPr>
            </a:pPr>
            <a: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TotalTime>
  <Words>2870</Words>
  <Application>Microsoft Office PowerPoint</Application>
  <PresentationFormat>全屏显示(16:9)</PresentationFormat>
  <Paragraphs>290</Paragraphs>
  <Slides>12</Slides>
  <Notes>10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12</vt:i4>
      </vt:variant>
    </vt:vector>
  </HeadingPairs>
  <TitlesOfParts>
    <vt:vector size="16" baseType="lpstr">
      <vt:lpstr>等线</vt: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Yuhang Gong</cp:lastModifiedBy>
  <cp:revision>4</cp:revision>
  <dcterms:created xsi:type="dcterms:W3CDTF">2013-01-27T09:14:16Z</dcterms:created>
  <dcterms:modified xsi:type="dcterms:W3CDTF">2026-01-21T21:58:05Z</dcterms:modified>
  <cp:category/>
</cp:coreProperties>
</file>