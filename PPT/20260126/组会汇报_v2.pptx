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首先介绍一下研究背景。</a:t>
            </a:r>
          </a:p>
          <a:p/>
          <a:p>
            <a:r>
              <a:t>幽门螺杆菌的CagA蛋白是公认的I类致癌因子。它通过IV型分泌系统注入宿主细胞后，可以干扰Wnt和NF-κB等关键信号通路，同时导致肠道菌群失调，最终促进肿瘤发生。</a:t>
            </a:r>
          </a:p>
          <a:p/>
          <a:p>
            <a:r>
              <a:t>右侧列出了支持这一机制的关键文献。特别是Jones等人2017年的研究，在果蝇模型中证明CagA单独表达就足以诱导菌群失调和上皮过度增殖。</a:t>
            </a:r>
          </a:p>
          <a:p/>
          <a:p>
            <a:r>
              <a:t>这就引出了我们的核心科学问题：在CagA抗原清除后，肠道内是什么因素维持着CD8+ T细胞的持续激活？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接下来介绍Apc突变与遗传易感性。</a:t>
            </a:r>
          </a:p>
          <a:p/>
          <a:p>
            <a:r>
              <a:t>左侧展示了Apc-Wnt通路的关系。正常情况下，APC蛋白负责降解β-catenin，维持肠道稳态。当Apc发生突变时，β-catenin持续累积，最终导致肿瘤发生。这是结直肠癌的经典"守门人"机制。</a:t>
            </a:r>
          </a:p>
          <a:p/>
          <a:p>
            <a:r>
              <a:t>右侧是我们的G×E交互作用假说。我们的预实验发现一个有趣的现象：CagA感染的效应高度依赖宿主遗传背景。在野生型背景下，CagA感染几乎没有效果；但在Apc突变背景下，CagA显著重塑了肠道菌群。</a:t>
            </a:r>
          </a:p>
          <a:p/>
          <a:p>
            <a:r>
              <a:t>因此我们设计了2×3因子实验，核心比较是Apc突变背景下的CagA阳性和CagA阴性感染组。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这是我们的核心假说——Functional Footprint假说。</a:t>
            </a:r>
          </a:p>
          <a:p/>
          <a:p>
            <a:r>
              <a:t>假说的逻辑链条是：第一步，CagA感染重塑肠道菌群；第二步，改变后的菌群产生特异性分子；第三步，这些分子持续激活CD8+ T细胞；第四步，最终促进肿瘤发生。</a:t>
            </a:r>
          </a:p>
          <a:p/>
          <a:p>
            <a:r>
              <a:t>本次汇报涵盖的是假说的前半部分验证。我们已经确认了菌群结构的显著重塑，发现了G×E交互作用，揭示了功能冗余下的Driver物种更替，以及噬菌体的协同变化。</a:t>
            </a:r>
          </a:p>
          <a:p/>
          <a:p>
            <a:r>
              <a:t>假说的后半部分——代谢物鉴定和与肿瘤/T细胞表型的关联——需要后续的代谢组学和表型数据整合来验证。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这张幻灯片展示了我们的分析流程。</a:t>
            </a:r>
          </a:p>
          <a:p/>
          <a:p>
            <a:r>
              <a:t>从27个盲肠样本出发，我们进行了三大类分析：</a:t>
            </a:r>
          </a:p>
          <a:p/>
          <a:p>
            <a:r>
              <a:t>第一，物种组成分析，使用Kraken2和Bracken进行物种分类，重点关注群落结构和G×E交互作用，核心结果是P=0.012的显著差异。</a:t>
            </a:r>
          </a:p>
          <a:p/>
          <a:p>
            <a:r>
              <a:t>第二，功能潜力分析，使用HUMAnN4注释代谢通路，重点关注功能冗余和Driver物种更替现象。</a:t>
            </a:r>
          </a:p>
          <a:p/>
          <a:p>
            <a:r>
              <a:t>第三，OTU和噬菌体分析，使用SingleM和Lyrebird，关注系统发育结构和细菌-噬菌体的协同变化，发现了P=0.001的强关联。</a:t>
            </a:r>
          </a:p>
          <a:p/>
          <a:p>
            <a:r>
              <a:t>三个分析模块的结论整合起来就是：CagA通过G×E交互重塑菌群，虽然功能表现出冗余但Driver物种发生了更替，同时细菌和噬菌体高度协同变化。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现在进入具体结果部分。</a:t>
            </a:r>
          </a:p>
          <a:p/>
          <a:p>
            <a:r>
              <a:t>首先是物种组成分析。核心比较显示Beta多样性存在显著差异，P值0.012。</a:t>
            </a:r>
          </a:p>
          <a:p/>
          <a:p>
            <a:r>
              <a:t>2×3因子分析揭示了显著的Genotype与Infection交互作用，P值0.024。</a:t>
            </a:r>
          </a:p>
          <a:p/>
          <a:p>
            <a:r>
              <a:t>关键发现是：在Apc突变背景下，CagA效应显著（P=0.007，解释33.6%变异）；而在野生型背景下，效应完全消失（P=0.338）。</a:t>
            </a:r>
          </a:p>
          <a:p/>
          <a:p>
            <a:r>
              <a:t>这证实了我们的假说：CagA的菌群重塑效应需要Apc突变的"易感遗传背景"。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第二个核心结果是功能冗余与静默更替现象。</a:t>
            </a:r>
          </a:p>
          <a:p/>
          <a:p>
            <a:r>
              <a:t>物种水平的交互作用显著（P=0.024），但功能水平不显著（P=0.223），这是典型的功能冗余现象。</a:t>
            </a:r>
          </a:p>
          <a:p/>
          <a:p>
            <a:r>
              <a:t>Part 9的分层分析揭示了"静默更替"：功能总量看似不变，但执行这些功能的物种已经发生重大更替。益生菌如Lactobacillus johnsonii贡献下降50%，而炎症相关的Mucispirillum schaedleri上升57%。</a:t>
            </a:r>
          </a:p>
          <a:p/>
          <a:p>
            <a:r>
              <a:t>这意味着：功能稳定的表象下，执行者已从益生菌转向了潜在致病菌。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第三个重要发现是噬菌体的协同变化。</a:t>
            </a:r>
          </a:p>
          <a:p/>
          <a:p>
            <a:r>
              <a:t>首先，CagA感染显著降低了噬菌体的alpha多样性，P值0.032。</a:t>
            </a:r>
          </a:p>
          <a:p/>
          <a:p>
            <a:r>
              <a:t>更重要的是，细菌和噬菌体群落高度协同变化。Mantel检验相关系数0.52，P值0.001；Procrustes分析也达到P=0.002。</a:t>
            </a:r>
          </a:p>
          <a:p/>
          <a:p>
            <a:r>
              <a:t>我们构建的三角互作网络共有17,848条边，细菌-噬菌体关联最强。这表明CagA的效应通过细菌-噬菌体-功能三角网络传递和放大。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最后总结核心结论。</a:t>
            </a:r>
          </a:p>
          <a:p/>
          <a:p>
            <a:r>
              <a:t>第一，确认了G×E交互作用，CagA效应需要Apc突变背景。</a:t>
            </a:r>
          </a:p>
          <a:p/>
          <a:p>
            <a:r>
              <a:t>第二，发现功能冗余与静默更替，功能稳定但执行者已改变。</a:t>
            </a:r>
          </a:p>
          <a:p/>
          <a:p>
            <a:r>
              <a:t>第三，揭示噬菌体协同变化，细菌-噬菌体高度关联。</a:t>
            </a:r>
          </a:p>
          <a:p/>
          <a:p>
            <a:r>
              <a:t>后续计划进行代谢组学验证和整合肿瘤/T细胞表型数据。</a:t>
            </a:r>
          </a:p>
          <a:p/>
          <a:p>
            <a:r>
              <a:t>感谢大家聆听！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CagA依赖性肠道微生物组重塑</a:t>
            </a:r>
            <a:br/>
            <a:r>
              <a:t>及其功能冗余特征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微生物组分析进展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2026-01-18</a:t>
            </a:r>
            <a:br/>
            <a:r>
              <a:t>汇报人：龚宇航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研究背景：CagA与肠道肿瘤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致病机制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感染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CagA蛋白</a:t>
            </a:r>
            <a:br/>
            <a:r>
              <a:t>注入宿主细胞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干扰Wnt/NF-κB</a:t>
            </a:r>
            <a:br/>
            <a:r>
              <a:t>信号通路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肠道菌群</a:t>
            </a:r>
            <a:br/>
            <a:r>
              <a:t>失调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促进肿瘤发生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关键文献支持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果蝇模型：CagA单独表达即可</a:t>
            </a:r>
            <a:br/>
            <a:r>
              <a:t>诱导菌群失调和上皮过度增殖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临床研究：CagA+菌株通过</a:t>
            </a:r>
            <a:br/>
            <a:r>
              <a:t>调节肠道菌群影响结直肠病变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噬菌体可靶向清除促肿瘤</a:t>
            </a:r>
            <a:br/>
            <a:r>
              <a:t>细菌并恢复化疗敏感性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核心问题：CagA抗原清除后，肠道内什么因素维持CD8+ T细胞的持续激活？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研究背景：Apc突变与遗传易感性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Apc突变 → Wnt通路持续激活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正常状态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降解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稳态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Apc突变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累积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肿瘤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交互作用假说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正常</a:t>
            </a:r>
            <a:br/>
            <a:r>
              <a:t>菌群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轻度</a:t>
            </a:r>
            <a:br/>
            <a:r>
              <a:t>失调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无效应</a:t>
            </a:r>
            <a:br/>
            <a:r>
              <a:t>P=0.338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显著重塑</a:t>
            </a:r>
            <a:br/>
            <a:r>
              <a:t>P=0.007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CagA效应需要Apc突变的易感背景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实验设计：2×3因子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核心比较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核心假说：Functional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CagA感染</a:t>
            </a:r>
            <a:br/>
            <a:r>
              <a:t>重塑菌群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菌群产生</a:t>
            </a:r>
            <a:br/>
            <a:r>
              <a:t>特异性分子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持续激活</a:t>
            </a:r>
            <a:br/>
            <a:r>
              <a:t>CD8+ T细胞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促进</a:t>
            </a:r>
            <a:br/>
            <a:r>
              <a:t>肿瘤发生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本研究验证范围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已验证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菌群结构显著重塑 (P=0.012)</a:t>
            </a:r>
            <a:br/>
            <a:r>
              <a:t>• G×E交互作用确认 (P=0.024)</a:t>
            </a:r>
            <a:br/>
            <a:r>
              <a:t>• 功能冗余与Driver更替</a:t>
            </a:r>
            <a:br/>
            <a:r>
              <a:t>• 噬菌体协同变化 (P=0.001)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待验证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代谢组学：特定代谢物鉴定</a:t>
            </a:r>
            <a:br/>
            <a:r>
              <a:t>• 转录组学：功能基因表达验证</a:t>
            </a:r>
            <a:br/>
            <a:r>
              <a:t>• 整合肿瘤/T细胞表型数据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分析流程概览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盲肠样本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物种组成分析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群落结构</a:t>
            </a:r>
            <a:br/>
            <a:r>
              <a:t>G×E交互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功能潜力分析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代谢通路</a:t>
            </a:r>
            <a:br/>
            <a:r>
              <a:t>Driver更替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功能冗余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OTU/噬菌体分析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SingleM/Lyrebird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系统发育</a:t>
            </a:r>
            <a:br/>
            <a:r>
              <a:t>细菌-噬菌体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P=0.001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整合结论：CagA通过G×E交互重塑菌群 → 功能冗余但Driver更替 → 细菌-噬菌体协同变化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结果1：物种组成 - G×E交互作用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核心比较：Beta多样性 </a:t>
            </a:r>
            <a:r>
              <a:rPr sz="1800" b="1">
                <a:solidFill>
                  <a:srgbClr val="4CAF50"/>
                </a:solidFill>
              </a:rPr>
              <a:t>P=0.012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2×3因子：交互作用 </a:t>
            </a:r>
            <a:r>
              <a:rPr sz="1800" b="1">
                <a:solidFill>
                  <a:srgbClr val="4CAF50"/>
                </a:solidFill>
              </a:rPr>
              <a:t>P=0.024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ApcMUT背景：</a:t>
            </a:r>
            <a:r>
              <a:rPr sz="1800" b="1">
                <a:solidFill>
                  <a:srgbClr val="4CAF50"/>
                </a:solidFill>
              </a:rPr>
              <a:t>P=0.007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ApcWT背景：P=0.338，效应消失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结论：CagA效应依赖</a:t>
            </a:r>
            <a:r>
              <a:rPr sz="1800" b="1">
                <a:solidFill>
                  <a:srgbClr val="4CAF50"/>
                </a:solidFill>
              </a:rPr>
              <a:t>Apc突变背景</a:t>
            </a:r>
            <a:r>
              <a:rPr sz="1800">
                <a:solidFill>
                  <a:srgbClr val="333333"/>
                </a:solidFill>
              </a:rPr>
              <a:t/>
            </a:r>
          </a:p>
        </p:txBody>
      </p:sp>
      <p:pic>
        <p:nvPicPr>
          <p:cNvPr id="5" name="Picture 4" descr="43_part4_pcoa_full_6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结果2：功能冗余与静默更替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物种交互P=0.024 vs 功能交互P=0.223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功能冗余</a:t>
            </a:r>
            <a:r>
              <a:rPr sz="1800">
                <a:solidFill>
                  <a:srgbClr val="333333"/>
                </a:solidFill>
              </a:rPr>
              <a:t>：物种变但功能稳定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静默更替(Silent Shift)</a:t>
            </a:r>
            <a:r>
              <a:rPr sz="1800">
                <a:solidFill>
                  <a:srgbClr val="333333"/>
                </a:solidFill>
              </a:rPr>
              <a:t>：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益生菌↓：L. johnsonii (-50%)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致病菌↑：M. schaedleri (+57%)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执行者从</a:t>
            </a:r>
            <a:r>
              <a:rPr sz="1800" b="1">
                <a:solidFill>
                  <a:srgbClr val="4CAF50"/>
                </a:solidFill>
              </a:rPr>
              <a:t>益生菌→致病菌</a:t>
            </a:r>
            <a:r>
              <a:rPr sz="1800">
                <a:solidFill>
                  <a:srgbClr val="333333"/>
                </a:solidFill>
              </a:rPr>
              <a:t/>
            </a:r>
          </a:p>
        </p:txBody>
      </p:sp>
      <p:pic>
        <p:nvPicPr>
          <p:cNvPr id="5" name="Picture 4" descr="91_part9_driver_species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结果3：噬菌体协同变化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噬菌体多样性</a:t>
            </a:r>
            <a:r>
              <a:rPr sz="1800" b="1">
                <a:solidFill>
                  <a:srgbClr val="4CAF50"/>
                </a:solidFill>
              </a:rPr>
              <a:t>显著降低</a:t>
            </a:r>
            <a:r>
              <a:rPr sz="1800">
                <a:solidFill>
                  <a:srgbClr val="333333"/>
                </a:solidFill>
              </a:rPr>
              <a:t> (P=0.032)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细菌-噬菌体</a:t>
            </a:r>
            <a:r>
              <a:rPr sz="1800" b="1">
                <a:solidFill>
                  <a:srgbClr val="4CAF50"/>
                </a:solidFill>
              </a:rPr>
              <a:t>高度协同</a:t>
            </a:r>
            <a:r>
              <a:rPr sz="1800">
                <a:solidFill>
                  <a:srgbClr val="333333"/>
                </a:solidFill>
              </a:rPr>
              <a:t>：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Mantel r=0.52, </a:t>
            </a:r>
            <a:r>
              <a:rPr sz="1800" b="1">
                <a:solidFill>
                  <a:srgbClr val="4CAF50"/>
                </a:solidFill>
              </a:rPr>
              <a:t>P=0.001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Procrustes </a:t>
            </a:r>
            <a:r>
              <a:rPr sz="1800" b="1">
                <a:solidFill>
                  <a:srgbClr val="4CAF50"/>
                </a:solidFill>
              </a:rPr>
              <a:t>P=0.002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三角网络：</a:t>
            </a:r>
            <a:r>
              <a:rPr sz="1800" b="1">
                <a:solidFill>
                  <a:srgbClr val="4CAF50"/>
                </a:solidFill>
              </a:rPr>
              <a:t>17,848条边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CagA通过三角网络传递效应</a:t>
            </a:r>
          </a:p>
        </p:txBody>
      </p:sp>
      <p:pic>
        <p:nvPicPr>
          <p:cNvPr id="5" name="Picture 4" descr="06_tripartit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370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核心结论与后续计划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G×E交互作用：CagA效应依赖Apc突变背景 (P=0.007 vs P=0.338)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功能冗余与静默更替：功能稳定但Driver从益生菌→致病菌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噬菌体协同：CagA降低噬菌体多样性，细菌-噬菌体P=0.001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后续：代谢组学验证 + 整合肿瘤/T细胞表型数据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