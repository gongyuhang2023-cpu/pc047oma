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background. (30s)</a:t>
            </a:r>
          </a:p>
          <a:p/>
          <a:p>
            <a:r>
              <a:t>CagA protein disrupts Wnt and NF-κB pathways, causes gut microbiota dysbiosis, promoting tumor development.</a:t>
            </a:r>
          </a:p>
          <a:p/>
          <a:p>
            <a:r>
              <a:t>Central question: What maintains CD8+ T-cell activation after CagA clearance?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Apc mutation and G×E interaction. (30s)</a:t>
            </a:r>
          </a:p>
          <a:p/>
          <a:p>
            <a:r>
              <a:t>CagA effect is highly dependent on host genetics. No effect in wild-type (P=0.387), but significant restructuring in Apc-mutant (P=0.039).</a:t>
            </a:r>
          </a:p>
          <a:p/>
          <a:p>
            <a:r>
              <a:t>Core comparison: CagA+ vs CagA- under Apc-mutant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 hypothesis - Functional Footprint. (30s)</a:t>
            </a:r>
          </a:p>
          <a:p/>
          <a:p>
            <a:r>
              <a:t>Logical chain: CagA restructures microbiota → produces specific molecules → persistent T-cell activation → tumor promotion.</a:t>
            </a:r>
          </a:p>
          <a:p/>
          <a:p>
            <a:r>
              <a:t>Verified: microbiota restructuring, G×E interaction, functional redundancy (GO/PFAM verified), network collapse (modularity -62%).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pipeline overview. (30s)</a:t>
            </a:r>
          </a:p>
          <a:p/>
          <a:p>
            <a:r>
              <a:t>Three modules: species composition (5/9 significant), functional potential (all levels redundant), network/phage (modularity -62%).</a:t>
            </a:r>
          </a:p>
          <a:p/>
          <a:p>
            <a:r>
              <a:t>Integration: CagA restructures bacteria, functional redundancy with network collapse, phage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CagA core effect on gut microbiota. (30s)</a:t>
            </a:r>
          </a:p>
          <a:p/>
          <a:p>
            <a:r>
              <a:t>CagA significantly alters community structure (Beta P=0.012), but does not change overall diversity (Alpha P=0.73). Selective regulation, not destruction. 29 species significantly associated.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CagA affect? (30s)</a:t>
            </a:r>
          </a:p>
          <a:p/>
          <a:p>
            <a:r>
              <a:t>Bacteria: 5/9 significant, core CagA effect P=0.039, G×E verified.</a:t>
            </a:r>
          </a:p>
          <a:p/>
          <a:p>
            <a:r>
              <a:t>Viruses: 0/9 significant, core comparison P=0.604.</a:t>
            </a:r>
          </a:p>
          <a:p/>
          <a:p>
            <a:r>
              <a:t>Conclusion: CagA reshapes gut environment mainly via bacteria.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Functional redundancy at all levels. (45s)</a:t>
            </a:r>
          </a:p>
          <a:p/>
          <a:p>
            <a:r>
              <a:t>From Pathway to KO to GO to PFAM — no FDR-significant differences at any level. Functional redundancy fully verified.</a:t>
            </a:r>
          </a:p>
          <a:p/>
          <a:p>
            <a:r>
              <a:t>But stratified analysis reveals "Silent Shift": total function unchanged, executors changed. L. johnsonii -50%, M. schaedleri +57%.</a:t>
            </a:r>
          </a:p>
          <a:p/>
          <a:p>
            <a:r>
              <a:t>This explains why species change but function remains stable — different species can perform the same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Co-occurrence network analysis — module collapse. (45s)</a:t>
            </a:r>
          </a:p>
          <a:p/>
          <a:p>
            <a:r>
              <a:t>Control HpKO: 80 nodes, 1,280 edges, modularity 0.468, clear functional modules.</a:t>
            </a:r>
          </a:p>
          <a:p/>
          <a:p>
            <a:r>
              <a:t>CagA+ HpWT: 100 nodes, 2,190 edges (+71%), modularity dropped to 0.177.</a:t>
            </a:r>
          </a:p>
          <a:p/>
          <a:p>
            <a:r>
              <a:t>62% modularity drop means blurred species boundaries, increased niche overlap. This explains functional redundancy at network level — species that used to specialize now have overlapping functions.</a:t>
            </a:r>
          </a:p>
          <a:p/>
          <a:p>
            <a:r>
              <a:t>Hub species are mainly SCFA producers; bridge species P. distasonis may be key immune modulation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Bacteria-phage coordination. (30s)</a:t>
            </a:r>
          </a:p>
          <a:p/>
          <a:p>
            <a:r>
              <a:t>Although CagA doesn't directly affect viruses, bacterial changes drive phage changes. Phage diversity decreased (P=0.032), bacteria-phage highly coordinated (Mantel P=0.001).</a:t>
            </a:r>
          </a:p>
          <a:p/>
          <a:p>
            <a:r>
              <a:t>Cascade effect: CagA → bacteria → phage.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conclusions. (45s)</a:t>
            </a:r>
          </a:p>
          <a:p/>
          <a:p>
            <a:r>
              <a:t>First, CagA restructures microbiota through selective regulation.</a:t>
            </a:r>
          </a:p>
          <a:p/>
          <a:p>
            <a:r>
              <a:t>Second, functional redundancy verified at all levels — Pathway to PFAM.</a:t>
            </a:r>
          </a:p>
          <a:p/>
          <a:p>
            <a:r>
              <a:t>Third, network module collapse, modularity -62%, explaining functional redundancy.</a:t>
            </a:r>
          </a:p>
          <a:p/>
          <a:p>
            <a:r>
              <a:t>Fourth, Driver species silently shifted from probiotics to pathobionts.</a:t>
            </a:r>
          </a:p>
          <a:p/>
          <a:p>
            <a:r>
              <a:t>Fifth, bacteria-phage highly coordinated with cascade effect.</a:t>
            </a:r>
          </a:p>
          <a:p/>
          <a:p>
            <a:r>
              <a:t>Next steps: metabolomics validation, tumor/T-cell phenotype integration.</a:t>
            </a:r>
          </a:p>
          <a:p/>
          <a:p>
            <a:r>
              <a:t>Thank you for your attention!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CagA-Dependent Gut Microbiome Restructuring</a:t>
            </a:r>
            <a:br/>
            <a:r>
              <a:t>and Functional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Microbiome Analysis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Presenter: Yuhang Gong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CagA and Intestinal Tumors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Pathogenesis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Infection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 Injection</a:t>
            </a:r>
            <a:br/>
            <a:r>
              <a:t>into Host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Disrupt Wnt/</a:t>
            </a:r>
            <a:br/>
            <a:r>
              <a:t>NF-κB Pathways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Gut Microbiota</a:t>
            </a:r>
            <a:br/>
            <a:r>
              <a:t>Dysbiosis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Tumor Promotion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Key Literature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Drosophila: CagA alone induces</a:t>
            </a:r>
            <a:br/>
            <a:r>
              <a:t>dysbiosis and epithelial proliferation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Clinical: CagA+ strains affect</a:t>
            </a:r>
            <a:br/>
            <a:r>
              <a:t>colorectal lesions via gut microbiota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Phage can eliminate tumor-</a:t>
            </a:r>
            <a:br/>
            <a:r>
              <a:t>promoting bacteria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Central Question: What maintains CD8+ T-cell activation after CagA clearance?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Apc Mutation and Genetic Susceptibility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 Mutation → Constitutive Wnt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Degradation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Homeostasis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 Mutant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Accumulation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Tumor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Interaction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Normal</a:t>
            </a:r>
            <a:br/>
            <a:r>
              <a:t>Microbiota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Mild</a:t>
            </a:r>
            <a:br/>
            <a:r>
              <a:t>Dysbiosis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No Effect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Significant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 effect requires Apc-mutant susceptible 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Experimental Design: 2×3 Factorial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 Hypothesis: 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 Infection</a:t>
            </a:r>
            <a:br/>
            <a:r>
              <a:t>Restructures Microbiota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Microbiota Produces</a:t>
            </a:r>
            <a:br/>
            <a:r>
              <a:t>Specific Molecules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Persistent CD8+</a:t>
            </a:r>
            <a:br/>
            <a:r>
              <a:t>T-cell Activation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Tumor</a:t>
            </a:r>
            <a:br/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Scope of This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Microbiota restructured (P=0.012)</a:t>
            </a:r>
            <a:br/>
            <a:r>
              <a:t>• G×E interaction confirmed (9/9 verified)</a:t>
            </a:r>
            <a:br/>
            <a:r>
              <a:t>• Functional redundancy (GO/PFAM verified)</a:t>
            </a:r>
            <a:br/>
            <a:r>
              <a:t>• Network collapse (Modularity -62%)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Metabolomics: Specific metabolite ID</a:t>
            </a:r>
            <a:br/>
            <a:r>
              <a:t>• Transcriptomics: Gene expression validation</a:t>
            </a:r>
            <a:br/>
            <a:r>
              <a:t>• Integration with tumor/T-cell phenotypes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Cecum Samples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Species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Community</a:t>
            </a:r>
            <a:br/>
            <a:r>
              <a:t>G×E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 Sig.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Functional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Pathway→KO</a:t>
            </a:r>
            <a:br/>
            <a:r>
              <a:t>→GO→PFAM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Redundancy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Network/Phage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igraph/Lyrebird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Co-occurrence</a:t>
            </a:r>
            <a:br/>
            <a:r>
              <a:t>Bacteria-Phage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 -62%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Integration: CagA restructures bacteria → Functional redundancy (all levels) → Network collapse → Phage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1: CagA Restructures Gut Microbiota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Beta diversity: 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Alpha diversity: P=0.73 (no change)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→ </a:t>
            </a:r>
            <a:r>
              <a:rPr sz="1800" b="1">
                <a:solidFill>
                  <a:srgbClr val="4CAF50"/>
                </a:solidFill>
              </a:rPr>
              <a:t>Selective restructuring</a:t>
            </a:r>
            <a:r>
              <a:rPr sz="1800">
                <a:solidFill>
                  <a:srgbClr val="333333"/>
                </a:solidFill>
              </a:rPr>
              <a:t>, not destruction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29 species significantly associated</a:t>
            </a:r>
          </a:p>
        </p:txBody>
      </p:sp>
      <p:pic>
        <p:nvPicPr>
          <p:cNvPr id="5" name="Picture 4" descr="52_part5_caga_effect_by_gen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2: CagA Targets Bacteria, Not Viruses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Q: What does CagA reshape? Bacteria or Viruses?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(Bacteria)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 Pairwise Comparisons: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 Significant: 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 Fully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(Viruses)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 Pairwise Comparisons: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 Significant: 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No Significant Effect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Conclusion: CagA reshapes gut environment mainly via bacteria, not directly via viruses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3: Functional Redundancy — All Levels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HUMAnN4 Functional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09728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0584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特征数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554480"/>
            <a:ext cx="82296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P&lt;0.05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91440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FDR&lt;0.05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822960" cy="365760"/>
          </a:xfrm>
          <a:prstGeom prst="rect">
            <a:avLst/>
          </a:prstGeom>
          <a:solidFill>
            <a:srgbClr val="1465C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276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933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Pathway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92024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99339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79" y="192024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79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多个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92024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993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92024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199339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86000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591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KO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286000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23591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~6,000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79" y="2286000"/>
            <a:ext cx="8229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79" y="23591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多个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286000"/>
            <a:ext cx="9144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3591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28600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3591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7249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6517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272491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~13,000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79" y="2651760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79" y="27249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1,577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265176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27249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65176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27249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17520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0906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PFAM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3017520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30906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~7,600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79" y="3017520"/>
            <a:ext cx="8229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79" y="30906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849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3017520"/>
            <a:ext cx="9144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30906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3017520"/>
            <a:ext cx="8229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30906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✓ 冗余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Silent Shift: Driver Species Change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0" y="1554480"/>
            <a:ext cx="3657600" cy="21031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Total function unchanged, executors changed: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Probiotics ↓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L. johnsonii: -50%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F. prausnitzii: ↓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E53935"/>
                </a:solidFill>
              </a:defRPr>
            </a:pPr>
            <a:r>
              <a:t>Inflammation-associated ↑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M. schaedleri: +57%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Enterocloster: 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3840480"/>
            <a:ext cx="822960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Conclusion: No FDR-significant differences at any level (Pathway→KO→GO→PFAM)</a:t>
            </a:r>
            <a:br/>
            <a:r>
              <a:t>Functional redundancy fully verified, but executors silently shifted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4: Co-occurrence Network — Module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Network Topology Change (Top 100 Species)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011680" cy="1463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HpKO (Control)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Nodes: 80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Edges: 1,280</a:t>
            </a:r>
          </a:p>
          <a:p>
            <a:pPr>
              <a:defRPr sz="1100" b="1">
                <a:solidFill>
                  <a:srgbClr val="4CAF50"/>
                </a:solidFill>
              </a:defRPr>
            </a:pPr>
            <a:r>
              <a:t>Modularity: 0.468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→ Clear modules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365760" cy="274320"/>
          </a:xfrm>
          <a:prstGeom prst="right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600200"/>
            <a:ext cx="2011680" cy="14630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HpWT (CagA+)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Nodes: 100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Edges: 2,190 (+71%)</a:t>
            </a:r>
          </a:p>
          <a:p>
            <a:pPr>
              <a:defRPr sz="1100" b="1">
                <a:solidFill>
                  <a:srgbClr val="E53935"/>
                </a:solidFill>
              </a:defRPr>
            </a:pPr>
            <a:r>
              <a:t>Modularity: 0.177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→ Module collapse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4572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Modularity: 0.468 → 0.177 (-62%)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Hub Species (Network Hubs)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554480"/>
            <a:ext cx="338328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16459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Top 5 Hub Species (by degree):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Blautia obeum (d=44)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Roseburia hominis (d=42)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Hungatella hathewayi (d=42)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7B1FA2"/>
                </a:solidFill>
              </a:defRPr>
            </a:pPr>
            <a:r>
              <a:t>Feature: Mainly anaerobic Clostridia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Function: SCFA producers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7B1FA2"/>
                </a:solidFill>
              </a:defRPr>
            </a:pPr>
            <a:r>
              <a:t>Bridge species: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P. distasonis (btw=402)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8229600" cy="77724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Conclusion: CagA causes 62% modularity drop, blurred species boundaries</a:t>
            </a:r>
            <a:br/>
            <a:r>
              <a:t>→ Increased niche overlap → Explains functional redundancy 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5: Bacteria-Phage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Phage diversity significantly decreased (P=0.032)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Bacteria-phage highly coordinated: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  • Mantel r=0.52, P=0.001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  • Procrustes P=0.002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Tripartite network: 17,848 edges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 b="1">
                <a:solidFill>
                  <a:srgbClr val="1465C0"/>
                </a:solidFill>
              </a:defRPr>
            </a:pPr>
            <a:r>
              <a:t>Cascade effect: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CagA → Bacteria → Phage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Cascade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7373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CagA</a:t>
            </a:r>
            <a:br/>
            <a:r>
              <a:t>Infection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263640" y="2331720"/>
            <a:ext cx="18288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26517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Bacteria</a:t>
            </a:r>
            <a:br/>
            <a:r>
              <a:t>Restructured</a:t>
            </a:r>
          </a:p>
        </p:txBody>
      </p:sp>
      <p:sp>
        <p:nvSpPr>
          <p:cNvPr id="9" name="Down Arrow 8"/>
          <p:cNvSpPr/>
          <p:nvPr/>
        </p:nvSpPr>
        <p:spPr>
          <a:xfrm>
            <a:off x="6263640" y="3246120"/>
            <a:ext cx="18288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0" y="35661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Phage</a:t>
            </a:r>
            <a:br/>
            <a:r>
              <a:t>Coordinated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333333"/>
                </a:solidFill>
              </a:defRPr>
            </a:pPr>
            <a:r>
              <a:t>CagA affects phage indirectly via bacteria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CagA restructures gut microbiota: Beta P=0.012, selective regulation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Functional redundancy at all levels: Pathway→KO→GO→PFAM, no FDR significance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Network module collapse: Modularity -62%, explains redundancy mechanism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Silent Driver shift: Probiotics↓ Pathobionts↑, altering immune stimulation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77639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Bacteria-phage coordination: Mantel P=0.001, cascade effect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Next: Metabolomics validation + Tumor/T-cell phenotype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